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1"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6f0a30138_2_92: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1100"/>
              <a:buFont typeface="Arial"/>
              <a:buNone/>
            </a:pPr>
            <a:r>
              <a:rPr lang="ja"/>
              <a:t>それでは研究発表の方に移らせていただきます。</a:t>
            </a:r>
            <a:endParaRPr/>
          </a:p>
          <a:p>
            <a:pPr indent="0" lvl="0" marL="0" rtl="0" algn="l">
              <a:lnSpc>
                <a:spcPct val="100000"/>
              </a:lnSpc>
              <a:spcBef>
                <a:spcPts val="0"/>
              </a:spcBef>
              <a:spcAft>
                <a:spcPts val="0"/>
              </a:spcAft>
              <a:buSzPts val="1100"/>
              <a:buFont typeface="Arial"/>
              <a:buNone/>
            </a:pPr>
            <a:r>
              <a:rPr lang="ja"/>
              <a:t>手描きスケッチからロボットモデルを</a:t>
            </a:r>
            <a:endParaRPr/>
          </a:p>
          <a:p>
            <a:pPr indent="0" lvl="0" marL="0" rtl="0" algn="l">
              <a:lnSpc>
                <a:spcPct val="100000"/>
              </a:lnSpc>
              <a:spcBef>
                <a:spcPts val="0"/>
              </a:spcBef>
              <a:spcAft>
                <a:spcPts val="0"/>
              </a:spcAft>
              <a:buSzPts val="1100"/>
              <a:buFont typeface="Arial"/>
              <a:buNone/>
            </a:pPr>
            <a:r>
              <a:rPr lang="ja"/>
              <a:t>生成するシステムの開発</a:t>
            </a:r>
            <a:r>
              <a:rPr lang="ja" sz="1100"/>
              <a:t>と題しまして豊橋技術科学大学　情報・ロボットシステム研究室の</a:t>
            </a:r>
            <a:r>
              <a:rPr lang="ja"/>
              <a:t>秋田</a:t>
            </a:r>
            <a:r>
              <a:rPr lang="ja" sz="1100"/>
              <a:t>が発表させていただきます。</a:t>
            </a:r>
            <a:endParaRPr sz="1100"/>
          </a:p>
          <a:p>
            <a:pPr indent="0" lvl="0" marL="0" rtl="0" algn="l">
              <a:lnSpc>
                <a:spcPct val="100000"/>
              </a:lnSpc>
              <a:spcBef>
                <a:spcPts val="0"/>
              </a:spcBef>
              <a:spcAft>
                <a:spcPts val="0"/>
              </a:spcAft>
              <a:buSzPts val="1100"/>
              <a:buFont typeface="Arial"/>
              <a:buNone/>
            </a:pPr>
            <a:r>
              <a:rPr lang="ja"/>
              <a:t>(12)</a:t>
            </a:r>
            <a:endParaRPr/>
          </a:p>
        </p:txBody>
      </p:sp>
      <p:sp>
        <p:nvSpPr>
          <p:cNvPr id="150" name="Google Shape;150;g3f6f0a30138_2_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6f0a30138_2_99: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1100"/>
              <a:buFont typeface="Arial"/>
              <a:buNone/>
            </a:pPr>
            <a:r>
              <a:rPr lang="ja"/>
              <a:t>研究背景です。</a:t>
            </a:r>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近年、生成AIやソフトウェア技術の発展により、ロボットのプログラム開発は以前よりも高速化しています。</a:t>
            </a:r>
            <a:br>
              <a:rPr lang="ja">
                <a:solidFill>
                  <a:schemeClr val="dk1"/>
                </a:solidFill>
              </a:rPr>
            </a:br>
            <a:r>
              <a:rPr lang="ja">
                <a:solidFill>
                  <a:schemeClr val="dk1"/>
                </a:solidFill>
              </a:rPr>
              <a:t> 例えば、制御プログラムや認識処理などは、既存のライブラリやAIを活用することで、短時間で実装・検証しやすくなっています。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そして、そのようなプログラムや思いついたアイデアの妥当性試すためには、ロボット本体のモデルが必要になります。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しかし、プログラムの一方でロボットの設計はソフトウェアほど高速化されていないのが現状です。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そのため、</a:t>
            </a:r>
            <a:br>
              <a:rPr lang="ja">
                <a:solidFill>
                  <a:schemeClr val="dk1"/>
                </a:solidFill>
              </a:rPr>
            </a:br>
            <a:r>
              <a:rPr lang="ja">
                <a:solidFill>
                  <a:schemeClr val="dk1"/>
                </a:solidFill>
              </a:rPr>
              <a:t> </a:t>
            </a:r>
            <a:r>
              <a:rPr b="1" lang="ja">
                <a:solidFill>
                  <a:schemeClr val="dk1"/>
                </a:solidFill>
              </a:rPr>
              <a:t>「ロボットでやりたいアイデアはあるが、それを試すための機体モデルをすぐに用意できない」</a:t>
            </a:r>
            <a:br>
              <a:rPr b="1" lang="ja">
                <a:solidFill>
                  <a:schemeClr val="dk1"/>
                </a:solidFill>
              </a:rPr>
            </a:br>
            <a:r>
              <a:rPr lang="ja">
                <a:solidFill>
                  <a:schemeClr val="dk1"/>
                </a:solidFill>
              </a:rPr>
              <a:t> という点が、ロボット開発の初期段階における課題になっています。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(40)</a:t>
            </a:r>
            <a:endParaRPr>
              <a:solidFill>
                <a:schemeClr val="dk1"/>
              </a:solidFill>
            </a:endParaRPr>
          </a:p>
          <a:p>
            <a:pPr indent="0" lvl="0" marL="0" rtl="0" algn="l">
              <a:lnSpc>
                <a:spcPct val="100000"/>
              </a:lnSpc>
              <a:spcBef>
                <a:spcPts val="1200"/>
              </a:spcBef>
              <a:spcAft>
                <a:spcPts val="0"/>
              </a:spcAft>
              <a:buSzPts val="1100"/>
              <a:buFont typeface="Arial"/>
              <a:buNone/>
            </a:pPr>
            <a:r>
              <a:t/>
            </a:r>
            <a:endParaRPr/>
          </a:p>
          <a:p>
            <a:pPr indent="0" lvl="0" marL="0" rtl="0" algn="l">
              <a:lnSpc>
                <a:spcPct val="100000"/>
              </a:lnSpc>
              <a:spcBef>
                <a:spcPts val="0"/>
              </a:spcBef>
              <a:spcAft>
                <a:spcPts val="0"/>
              </a:spcAft>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157" name="Google Shape;157;g3f6f0a30138_2_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6f0a30138_2_115: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1200"/>
              </a:spcBef>
              <a:spcAft>
                <a:spcPts val="0"/>
              </a:spcAft>
              <a:buClr>
                <a:schemeClr val="dk1"/>
              </a:buClr>
              <a:buSzPts val="1100"/>
              <a:buFont typeface="Arial"/>
              <a:buNone/>
            </a:pPr>
            <a:r>
              <a:rPr lang="ja">
                <a:solidFill>
                  <a:schemeClr val="dk1"/>
                </a:solidFill>
              </a:rPr>
              <a:t>現在、シミュレーション用のロボットモデルを作る場合、多くはCADなどを用いて機体モデルを設計します。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CADは、寸法や形状を正確に決められるため、実機製作や量産を見据えた設計には非常に有効です。</a:t>
            </a:r>
            <a:br>
              <a:rPr lang="ja">
                <a:solidFill>
                  <a:schemeClr val="dk1"/>
                </a:solidFill>
              </a:rPr>
            </a:br>
            <a:r>
              <a:rPr lang="ja">
                <a:solidFill>
                  <a:schemeClr val="dk1"/>
                </a:solidFill>
              </a:rPr>
              <a:t> しかし、アイデアをまず試したい段階では、関節の可動域、関節軸の方向、強度、質量など、多くの要素を考える必要があり、ユーザーへの負担が大きいという問題があります。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特に、ハードウェアを専門としていないソフトウェアエンジニアにとっては、</a:t>
            </a:r>
            <a:br>
              <a:rPr lang="ja">
                <a:solidFill>
                  <a:schemeClr val="dk1"/>
                </a:solidFill>
              </a:rPr>
            </a:br>
            <a:r>
              <a:rPr lang="ja">
                <a:solidFill>
                  <a:schemeClr val="dk1"/>
                </a:solidFill>
              </a:rPr>
              <a:t> </a:t>
            </a:r>
            <a:r>
              <a:rPr b="1" lang="ja">
                <a:solidFill>
                  <a:schemeClr val="dk1"/>
                </a:solidFill>
              </a:rPr>
              <a:t>「プログラムは作れるが、それを検証するためのロボットモデルを設計するのが難しい」</a:t>
            </a:r>
            <a:br>
              <a:rPr b="1" lang="ja">
                <a:solidFill>
                  <a:schemeClr val="dk1"/>
                </a:solidFill>
              </a:rPr>
            </a:br>
            <a:r>
              <a:rPr lang="ja">
                <a:solidFill>
                  <a:schemeClr val="dk1"/>
                </a:solidFill>
              </a:rPr>
              <a:t> という問題があり、プログラム開発側の「まずは試したい、アイデアの妥当性を見てみたい」という要求をすぐに満たすことができません。</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本研究では、ソフトウェアエンジニアにとっての、この初期検証段階の難易度を下げることを目指しています。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(40)</a:t>
            </a:r>
            <a:endParaRPr>
              <a:solidFill>
                <a:schemeClr val="dk1"/>
              </a:solidFill>
            </a:endParaRPr>
          </a:p>
          <a:p>
            <a:pPr indent="0" lvl="0" marL="0" rtl="0" algn="l">
              <a:lnSpc>
                <a:spcPct val="100000"/>
              </a:lnSpc>
              <a:spcBef>
                <a:spcPts val="1200"/>
              </a:spcBef>
              <a:spcAft>
                <a:spcPts val="0"/>
              </a:spcAft>
              <a:buSzPts val="1100"/>
              <a:buFont typeface="Arial"/>
              <a:buNone/>
            </a:pPr>
            <a:r>
              <a:t/>
            </a:r>
            <a:endParaRPr/>
          </a:p>
          <a:p>
            <a:pPr indent="0" lvl="0" marL="0" rtl="0" algn="l">
              <a:lnSpc>
                <a:spcPct val="100000"/>
              </a:lnSpc>
              <a:spcBef>
                <a:spcPts val="0"/>
              </a:spcBef>
              <a:spcAft>
                <a:spcPts val="0"/>
              </a:spcAft>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174" name="Google Shape;174;g3f6f0a30138_2_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6f0a30138_2_132: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1200"/>
              </a:spcBef>
              <a:spcAft>
                <a:spcPts val="0"/>
              </a:spcAft>
              <a:buClr>
                <a:schemeClr val="dk1"/>
              </a:buClr>
              <a:buSzPts val="1100"/>
              <a:buFont typeface="Arial"/>
              <a:buNone/>
            </a:pPr>
            <a:r>
              <a:rPr lang="ja"/>
              <a:t>ロボット設計の難易度を下げるための関連研究として、RobotSketchという研究があります。</a:t>
            </a:r>
            <a:br>
              <a:rPr lang="ja"/>
            </a:br>
            <a:r>
              <a:rPr lang="ja"/>
              <a:t> これは、VR空間上でロボットの形状を3次元的にスケッチし、そのロボットに対して強化学習を用いて歩行動作を獲得させる、という研究です。</a:t>
            </a:r>
            <a:endParaRPr/>
          </a:p>
          <a:p>
            <a:pPr indent="0" lvl="0" marL="0" rtl="0" algn="l">
              <a:lnSpc>
                <a:spcPct val="115000"/>
              </a:lnSpc>
              <a:spcBef>
                <a:spcPts val="1200"/>
              </a:spcBef>
              <a:spcAft>
                <a:spcPts val="0"/>
              </a:spcAft>
              <a:buClr>
                <a:schemeClr val="dk1"/>
              </a:buClr>
              <a:buSzPts val="1100"/>
              <a:buFont typeface="Arial"/>
              <a:buNone/>
            </a:pPr>
            <a:r>
              <a:rPr lang="ja"/>
              <a:t>この研究は、</a:t>
            </a:r>
            <a:r>
              <a:rPr b="1" lang="ja" sz="1400"/>
              <a:t>ロボット設計の初期段階を高速化する</a:t>
            </a:r>
            <a:r>
              <a:rPr lang="ja"/>
              <a:t>という点で、本研究と近い考え方を持っていますが、</a:t>
            </a:r>
            <a:endParaRPr/>
          </a:p>
          <a:p>
            <a:pPr indent="0" lvl="0" marL="0" rtl="0" algn="l">
              <a:lnSpc>
                <a:spcPct val="115000"/>
              </a:lnSpc>
              <a:spcBef>
                <a:spcPts val="1200"/>
              </a:spcBef>
              <a:spcAft>
                <a:spcPts val="0"/>
              </a:spcAft>
              <a:buClr>
                <a:schemeClr val="dk1"/>
              </a:buClr>
              <a:buSzPts val="1100"/>
              <a:buFont typeface="Arial"/>
              <a:buNone/>
            </a:pPr>
            <a:r>
              <a:rPr lang="ja"/>
              <a:t>一方で、VR空間上で3次元的にロボットを描く場合でも、</a:t>
            </a:r>
            <a:r>
              <a:rPr b="1" lang="ja" sz="1200"/>
              <a:t>関節配置や物理的に成立する構造</a:t>
            </a:r>
            <a:r>
              <a:rPr lang="ja"/>
              <a:t>については、ある程度ユーザが考える必要があり、これもやはり専門性が高いものとなっています。</a:t>
            </a:r>
            <a:endParaRPr/>
          </a:p>
          <a:p>
            <a:pPr indent="0" lvl="0" marL="0" rtl="0" algn="l">
              <a:lnSpc>
                <a:spcPct val="100000"/>
              </a:lnSpc>
              <a:spcBef>
                <a:spcPts val="1200"/>
              </a:spcBef>
              <a:spcAft>
                <a:spcPts val="0"/>
              </a:spcAft>
              <a:buSzPts val="1100"/>
              <a:buFont typeface="Arial"/>
              <a:buNone/>
            </a:pPr>
            <a:r>
              <a:rPr lang="ja"/>
              <a:t>(34)</a:t>
            </a:r>
            <a:endParaRPr/>
          </a:p>
        </p:txBody>
      </p:sp>
      <p:sp>
        <p:nvSpPr>
          <p:cNvPr id="192" name="Google Shape;192;g3f6f0a30138_2_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6f0a30138_2_142: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1200"/>
              </a:spcBef>
              <a:spcAft>
                <a:spcPts val="0"/>
              </a:spcAft>
              <a:buClr>
                <a:schemeClr val="dk1"/>
              </a:buClr>
              <a:buSzPts val="1100"/>
              <a:buFont typeface="Arial"/>
              <a:buNone/>
            </a:pPr>
            <a:r>
              <a:rPr lang="ja"/>
              <a:t>そこで本研究の目的は、ハードウェアの専門知識がない人でも、ロボットに対するアイデアを直感的に形にし、すぐにシミュレーション上で検証できる環境を構築することです。</a:t>
            </a:r>
            <a:endParaRPr/>
          </a:p>
          <a:p>
            <a:pPr indent="0" lvl="0" marL="0" rtl="0" algn="l">
              <a:lnSpc>
                <a:spcPct val="115000"/>
              </a:lnSpc>
              <a:spcBef>
                <a:spcPts val="1200"/>
              </a:spcBef>
              <a:spcAft>
                <a:spcPts val="0"/>
              </a:spcAft>
              <a:buClr>
                <a:schemeClr val="dk1"/>
              </a:buClr>
              <a:buSzPts val="1100"/>
              <a:buFont typeface="Arial"/>
              <a:buNone/>
            </a:pPr>
            <a:r>
              <a:rPr lang="ja"/>
              <a:t>そのための入力手段として、本研究では「手描きスケッチ」を提案します。</a:t>
            </a:r>
            <a:endParaRPr/>
          </a:p>
          <a:p>
            <a:pPr indent="0" lvl="0" marL="0" rtl="0" algn="l">
              <a:lnSpc>
                <a:spcPct val="115000"/>
              </a:lnSpc>
              <a:spcBef>
                <a:spcPts val="1200"/>
              </a:spcBef>
              <a:spcAft>
                <a:spcPts val="0"/>
              </a:spcAft>
              <a:buClr>
                <a:schemeClr val="dk1"/>
              </a:buClr>
              <a:buSzPts val="1100"/>
              <a:buFont typeface="Arial"/>
              <a:buNone/>
            </a:pPr>
            <a:r>
              <a:rPr lang="ja"/>
              <a:t>手描きであれば、CADのような専門的な操作を覚える必要がなく、大まかな形状や構造を直感的に表現できます。</a:t>
            </a:r>
            <a:endParaRPr/>
          </a:p>
          <a:p>
            <a:pPr indent="0" lvl="0" marL="0" rtl="0" algn="l">
              <a:lnSpc>
                <a:spcPct val="115000"/>
              </a:lnSpc>
              <a:spcBef>
                <a:spcPts val="1200"/>
              </a:spcBef>
              <a:spcAft>
                <a:spcPts val="0"/>
              </a:spcAft>
              <a:buClr>
                <a:schemeClr val="dk1"/>
              </a:buClr>
              <a:buSzPts val="1100"/>
              <a:buFont typeface="Arial"/>
              <a:buNone/>
            </a:pPr>
            <a:r>
              <a:rPr lang="ja"/>
              <a:t>最終的には、手描きスケッチを入力として、ロボットモデルを生成し、シミュレータ上で動作検証できるシステムを目指します。</a:t>
            </a:r>
            <a:endParaRPr/>
          </a:p>
          <a:p>
            <a:pPr indent="0" lvl="0" marL="0" rtl="0" algn="l">
              <a:lnSpc>
                <a:spcPct val="115000"/>
              </a:lnSpc>
              <a:spcBef>
                <a:spcPts val="1200"/>
              </a:spcBef>
              <a:spcAft>
                <a:spcPts val="0"/>
              </a:spcAft>
              <a:buClr>
                <a:schemeClr val="dk1"/>
              </a:buClr>
              <a:buSzPts val="1100"/>
              <a:buFont typeface="Arial"/>
              <a:buNone/>
            </a:pPr>
            <a:r>
              <a:rPr lang="ja"/>
              <a:t>(33)</a:t>
            </a:r>
            <a:endParaRPr/>
          </a:p>
          <a:p>
            <a:pPr indent="0" lvl="0" marL="0" rtl="0" algn="l">
              <a:lnSpc>
                <a:spcPct val="100000"/>
              </a:lnSpc>
              <a:spcBef>
                <a:spcPts val="1200"/>
              </a:spcBef>
              <a:spcAft>
                <a:spcPts val="0"/>
              </a:spcAft>
              <a:buSzPts val="1100"/>
              <a:buFont typeface="Arial"/>
              <a:buNone/>
            </a:pPr>
            <a:r>
              <a:t/>
            </a:r>
            <a:endParaRPr/>
          </a:p>
          <a:p>
            <a:pPr indent="0" lvl="0" marL="0" rtl="0" algn="l">
              <a:lnSpc>
                <a:spcPct val="100000"/>
              </a:lnSpc>
              <a:spcBef>
                <a:spcPts val="0"/>
              </a:spcBef>
              <a:spcAft>
                <a:spcPts val="0"/>
              </a:spcAft>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203" name="Google Shape;203;g3f6f0a30138_2_1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f6f0a30138_2_158: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lang="ja">
                <a:solidFill>
                  <a:schemeClr val="dk1"/>
                </a:solidFill>
              </a:rPr>
              <a:t>次に、本研究が目指すロボット設計における立ち位置について説明します。このグラフの縦軸は設計の緻密さ・専門性、そして横軸は『検証速度』を表しています。従来のCADを用いた設計は、グラフの左上に位置します。緻密な設計が可能ですが、専門外の人間では検証速度が遅いのが現状です。また、関連研究で紹介したVRロボットスケッチは中央に位置し、直感的ではありますが、物理整合性を人間が考える手間があり、速度には限界があります。</a:t>
            </a:r>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一方で、本研究が対象とするのは、</a:t>
            </a:r>
            <a:r>
              <a:rPr b="1" lang="ja">
                <a:solidFill>
                  <a:schemeClr val="dk1"/>
                </a:solidFill>
              </a:rPr>
              <a:t>「このロボットの形なら、このタスクができそうか」</a:t>
            </a:r>
            <a:br>
              <a:rPr b="1" lang="ja">
                <a:solidFill>
                  <a:schemeClr val="dk1"/>
                </a:solidFill>
              </a:rPr>
            </a:br>
            <a:r>
              <a:rPr lang="ja">
                <a:solidFill>
                  <a:schemeClr val="dk1"/>
                </a:solidFill>
              </a:rPr>
              <a:t> を短時間で確認する、アイデア検証のフェーズです。</a:t>
            </a:r>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そのため、本研究の位置づけは、量産を見据えた精密な設計を代替するものではなく、</a:t>
            </a:r>
            <a:br>
              <a:rPr lang="ja">
                <a:solidFill>
                  <a:schemeClr val="dk1"/>
                </a:solidFill>
              </a:rPr>
            </a:br>
            <a:r>
              <a:rPr lang="ja">
                <a:solidFill>
                  <a:schemeClr val="dk1"/>
                </a:solidFill>
              </a:rPr>
              <a:t> </a:t>
            </a:r>
            <a:r>
              <a:rPr b="1" lang="ja">
                <a:solidFill>
                  <a:schemeClr val="dk1"/>
                </a:solidFill>
              </a:rPr>
              <a:t>設計の0段階目である、頭の中のアイデアを数分で形にし、検証の入口に乗せるための設計支援となります。</a:t>
            </a:r>
            <a:br>
              <a:rPr b="1" lang="ja">
                <a:solidFill>
                  <a:schemeClr val="dk1"/>
                </a:solidFill>
              </a:rPr>
            </a:br>
            <a:r>
              <a:rPr lang="ja">
                <a:solidFill>
                  <a:schemeClr val="dk1"/>
                </a:solidFill>
              </a:rPr>
              <a:t>(46)</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220" name="Google Shape;220;g3f6f0a30138_2_1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f6f0a30138_0_0: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lang="ja">
                <a:solidFill>
                  <a:schemeClr val="dk1"/>
                </a:solidFill>
              </a:rPr>
              <a:t>次に、本研究が目指すロボット設計における立ち位置について説明します。このグラフの縦軸は設計の緻密さ・専門性、そして横軸は『検証速度』を表しています。従来のCADを用いた設計は、グラフの左上に位置します。緻密な設計が可能ですが、専門外の人間では検証速度が遅いのが現状です。また、関連研究で紹介したVRロボットスケッチは中央に位置し、直感的ではありますが、物理整合性を人間が考える手間があり、速度には限界があります。</a:t>
            </a:r>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一方で、本研究が対象とするのは、</a:t>
            </a:r>
            <a:r>
              <a:rPr b="1" lang="ja">
                <a:solidFill>
                  <a:schemeClr val="dk1"/>
                </a:solidFill>
              </a:rPr>
              <a:t>「このロボットの形なら、このタスクができそうか」</a:t>
            </a:r>
            <a:br>
              <a:rPr b="1" lang="ja">
                <a:solidFill>
                  <a:schemeClr val="dk1"/>
                </a:solidFill>
              </a:rPr>
            </a:br>
            <a:r>
              <a:rPr lang="ja">
                <a:solidFill>
                  <a:schemeClr val="dk1"/>
                </a:solidFill>
              </a:rPr>
              <a:t> を短時間で確認する、アイデア検証のフェーズです。</a:t>
            </a:r>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そのため、本研究の位置づけは、量産を見据えた精密な設計を代替するものではなく、</a:t>
            </a:r>
            <a:br>
              <a:rPr lang="ja">
                <a:solidFill>
                  <a:schemeClr val="dk1"/>
                </a:solidFill>
              </a:rPr>
            </a:br>
            <a:r>
              <a:rPr lang="ja">
                <a:solidFill>
                  <a:schemeClr val="dk1"/>
                </a:solidFill>
              </a:rPr>
              <a:t> </a:t>
            </a:r>
            <a:r>
              <a:rPr b="1" lang="ja">
                <a:solidFill>
                  <a:schemeClr val="dk1"/>
                </a:solidFill>
              </a:rPr>
              <a:t>設計の0段階目である、頭の中のアイデアを数分で形にし、検証の入口に乗せるための設計支援となります。</a:t>
            </a:r>
            <a:br>
              <a:rPr b="1" lang="ja">
                <a:solidFill>
                  <a:schemeClr val="dk1"/>
                </a:solidFill>
              </a:rPr>
            </a:br>
            <a:r>
              <a:rPr lang="ja">
                <a:solidFill>
                  <a:schemeClr val="dk1"/>
                </a:solidFill>
              </a:rPr>
              <a:t>(46)</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230" name="Google Shape;230;g3f6f0a3013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f6f0a30138_0_29: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lang="ja">
                <a:solidFill>
                  <a:schemeClr val="dk1"/>
                </a:solidFill>
              </a:rPr>
              <a:t>次に、本研究が目指すロボット設計における立ち位置について説明します。このグラフの縦軸は設計の緻密さ・専門性、そして横軸は『検証速度』を表しています。従来のCADを用いた設計は、グラフの左上に位置します。緻密な設計が可能ですが、専門外の人間では検証速度が遅いのが現状です。また、関連研究で紹介したVRロボットスケッチは中央に位置し、直感的ではありますが、物理整合性を人間が考える手間があり、速度には限界があります。</a:t>
            </a:r>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一方で、本研究が対象とするのは、</a:t>
            </a:r>
            <a:r>
              <a:rPr b="1" lang="ja">
                <a:solidFill>
                  <a:schemeClr val="dk1"/>
                </a:solidFill>
              </a:rPr>
              <a:t>「このロボットの形なら、このタスクができそうか」</a:t>
            </a:r>
            <a:br>
              <a:rPr b="1" lang="ja">
                <a:solidFill>
                  <a:schemeClr val="dk1"/>
                </a:solidFill>
              </a:rPr>
            </a:br>
            <a:r>
              <a:rPr lang="ja">
                <a:solidFill>
                  <a:schemeClr val="dk1"/>
                </a:solidFill>
              </a:rPr>
              <a:t> を短時間で確認する、アイデア検証のフェーズです。</a:t>
            </a:r>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そのため、本研究の位置づけは、量産を見据えた精密な設計を代替するものではなく、</a:t>
            </a:r>
            <a:br>
              <a:rPr lang="ja">
                <a:solidFill>
                  <a:schemeClr val="dk1"/>
                </a:solidFill>
              </a:rPr>
            </a:br>
            <a:r>
              <a:rPr lang="ja">
                <a:solidFill>
                  <a:schemeClr val="dk1"/>
                </a:solidFill>
              </a:rPr>
              <a:t> </a:t>
            </a:r>
            <a:r>
              <a:rPr b="1" lang="ja">
                <a:solidFill>
                  <a:schemeClr val="dk1"/>
                </a:solidFill>
              </a:rPr>
              <a:t>設計の0段階目である、頭の中のアイデアを数分で形にし、検証の入口に乗せるための設計支援となります。</a:t>
            </a:r>
            <a:br>
              <a:rPr b="1" lang="ja">
                <a:solidFill>
                  <a:schemeClr val="dk1"/>
                </a:solidFill>
              </a:rPr>
            </a:br>
            <a:r>
              <a:rPr lang="ja">
                <a:solidFill>
                  <a:schemeClr val="dk1"/>
                </a:solidFill>
              </a:rPr>
              <a:t>(46)</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242" name="Google Shape;242;g3f6f0a30138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f6f0a30138_0_35: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lang="ja">
                <a:solidFill>
                  <a:schemeClr val="dk1"/>
                </a:solidFill>
              </a:rPr>
              <a:t>次に、本研究が目指すロボット設計における立ち位置について説明します。このグラフの縦軸は設計の緻密さ・専門性、そして横軸は『検証速度』を表しています。従来のCADを用いた設計は、グラフの左上に位置します。緻密な設計が可能ですが、専門外の人間では検証速度が遅いのが現状です。また、関連研究で紹介したVRロボットスケッチは中央に位置し、直感的ではありますが、物理整合性を人間が考える手間があり、速度には限界があります。</a:t>
            </a:r>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一方で、本研究が対象とするのは、</a:t>
            </a:r>
            <a:r>
              <a:rPr b="1" lang="ja">
                <a:solidFill>
                  <a:schemeClr val="dk1"/>
                </a:solidFill>
              </a:rPr>
              <a:t>「このロボットの形なら、このタスクができそうか」</a:t>
            </a:r>
            <a:br>
              <a:rPr b="1" lang="ja">
                <a:solidFill>
                  <a:schemeClr val="dk1"/>
                </a:solidFill>
              </a:rPr>
            </a:br>
            <a:r>
              <a:rPr lang="ja">
                <a:solidFill>
                  <a:schemeClr val="dk1"/>
                </a:solidFill>
              </a:rPr>
              <a:t> を短時間で確認する、アイデア検証のフェーズです。</a:t>
            </a:r>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そのため、本研究の位置づけは、量産を見据えた精密な設計を代替するものではなく、</a:t>
            </a:r>
            <a:br>
              <a:rPr lang="ja">
                <a:solidFill>
                  <a:schemeClr val="dk1"/>
                </a:solidFill>
              </a:rPr>
            </a:br>
            <a:r>
              <a:rPr lang="ja">
                <a:solidFill>
                  <a:schemeClr val="dk1"/>
                </a:solidFill>
              </a:rPr>
              <a:t> </a:t>
            </a:r>
            <a:r>
              <a:rPr b="1" lang="ja">
                <a:solidFill>
                  <a:schemeClr val="dk1"/>
                </a:solidFill>
              </a:rPr>
              <a:t>設計の0段階目である、頭の中のアイデアを数分で形にし、検証の入口に乗せるための設計支援となります。</a:t>
            </a:r>
            <a:br>
              <a:rPr b="1" lang="ja">
                <a:solidFill>
                  <a:schemeClr val="dk1"/>
                </a:solidFill>
              </a:rPr>
            </a:br>
            <a:r>
              <a:rPr lang="ja">
                <a:solidFill>
                  <a:schemeClr val="dk1"/>
                </a:solidFill>
              </a:rPr>
              <a:t>(46)</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249" name="Google Shape;249;g3f6f0a30138_0_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f6f0a30138_0_9: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lang="ja">
                <a:solidFill>
                  <a:schemeClr val="dk1"/>
                </a:solidFill>
              </a:rPr>
              <a:t>次に、本研究が目指すロボット設計における立ち位置について説明します。このグラフの縦軸は設計の緻密さ・専門性、そして横軸は『検証速度』を表しています。従来のCADを用いた設計は、グラフの左上に位置します。緻密な設計が可能ですが、専門外の人間では検証速度が遅いのが現状です。また、関連研究で紹介したVRロボットスケッチは中央に位置し、直感的ではありますが、物理整合性を人間が考える手間があり、速度には限界があります。</a:t>
            </a:r>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一方で、本研究が対象とするのは、</a:t>
            </a:r>
            <a:r>
              <a:rPr b="1" lang="ja">
                <a:solidFill>
                  <a:schemeClr val="dk1"/>
                </a:solidFill>
              </a:rPr>
              <a:t>「このロボットの形なら、このタスクができそうか」</a:t>
            </a:r>
            <a:br>
              <a:rPr b="1" lang="ja">
                <a:solidFill>
                  <a:schemeClr val="dk1"/>
                </a:solidFill>
              </a:rPr>
            </a:br>
            <a:r>
              <a:rPr lang="ja">
                <a:solidFill>
                  <a:schemeClr val="dk1"/>
                </a:solidFill>
              </a:rPr>
              <a:t> を短時間で確認する、アイデア検証のフェーズです。</a:t>
            </a:r>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そのため、本研究の位置づけは、量産を見据えた精密な設計を代替するものではなく、</a:t>
            </a:r>
            <a:br>
              <a:rPr lang="ja">
                <a:solidFill>
                  <a:schemeClr val="dk1"/>
                </a:solidFill>
              </a:rPr>
            </a:br>
            <a:r>
              <a:rPr lang="ja">
                <a:solidFill>
                  <a:schemeClr val="dk1"/>
                </a:solidFill>
              </a:rPr>
              <a:t> </a:t>
            </a:r>
            <a:r>
              <a:rPr b="1" lang="ja">
                <a:solidFill>
                  <a:schemeClr val="dk1"/>
                </a:solidFill>
              </a:rPr>
              <a:t>設計の0段階目である、頭の中のアイデアを数分で形にし、検証の入口に乗せるための設計支援となります。</a:t>
            </a:r>
            <a:br>
              <a:rPr b="1" lang="ja">
                <a:solidFill>
                  <a:schemeClr val="dk1"/>
                </a:solidFill>
              </a:rPr>
            </a:br>
            <a:r>
              <a:rPr lang="ja">
                <a:solidFill>
                  <a:schemeClr val="dk1"/>
                </a:solidFill>
              </a:rPr>
              <a:t>(46)</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256" name="Google Shape;256;g3f6f0a30138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f6f0a30138_2_167: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そこで物理的な検証と補正を行う仕組みとして、以下の検証サイクルを考えています。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この検証サイクルはシステム概要で説明した、3つめの「</a:t>
            </a:r>
            <a:r>
              <a:rPr b="1" lang="ja" sz="1100">
                <a:solidFill>
                  <a:srgbClr val="FF0000"/>
                </a:solidFill>
              </a:rPr>
              <a:t>ロボットの動作検証</a:t>
            </a:r>
            <a:r>
              <a:rPr lang="ja">
                <a:solidFill>
                  <a:schemeClr val="dk1"/>
                </a:solidFill>
              </a:rPr>
              <a:t>」に該当します。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ここではそのサイクルについてアームロボットを例に説明します。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検証システムでは、まず、生成されたロボットモデルが目的のタスクを実行できるかを評価し、必要に応じてモデルを修正します。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ロボットアームの場合は、まず逆運動学という、そのロボットが目標とする位置に手が届くかを01で判定する計算を用いて、手先が目標位置に届くかを確認します。</a:t>
            </a:r>
            <a:br>
              <a:rPr lang="ja">
                <a:solidFill>
                  <a:schemeClr val="dk1"/>
                </a:solidFill>
              </a:rPr>
            </a:br>
            <a:r>
              <a:rPr lang="ja">
                <a:solidFill>
                  <a:schemeClr val="dk1"/>
                </a:solidFill>
              </a:rPr>
              <a:t> これにより、明らかにタスク達成が不可能なモデルを、シミュレーション前に判定できます。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その後、モデルの構造修正を行い、シミュレータ上で実際に物を掴めるようになれば、その達成度をスコア化します。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そのスコアをもとに最適化アルゴリズムを用いてロボットモデルにおける様々な物理パラメータを更新します。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最終的には、</a:t>
            </a:r>
            <a:br>
              <a:rPr lang="ja">
                <a:solidFill>
                  <a:schemeClr val="dk1"/>
                </a:solidFill>
              </a:rPr>
            </a:br>
            <a:r>
              <a:rPr lang="ja">
                <a:solidFill>
                  <a:schemeClr val="dk1"/>
                </a:solidFill>
              </a:rPr>
              <a:t> </a:t>
            </a:r>
            <a:r>
              <a:rPr b="1" lang="ja">
                <a:solidFill>
                  <a:schemeClr val="dk1"/>
                </a:solidFill>
              </a:rPr>
              <a:t>生成 → 評価 → 修正 → 再評価</a:t>
            </a:r>
            <a:br>
              <a:rPr b="1" lang="ja">
                <a:solidFill>
                  <a:schemeClr val="dk1"/>
                </a:solidFill>
              </a:rPr>
            </a:br>
            <a:r>
              <a:rPr lang="ja">
                <a:solidFill>
                  <a:schemeClr val="dk1"/>
                </a:solidFill>
              </a:rPr>
              <a:t> というサイクルを回すことで、AIが生成した不完全なモデルを、シミュレーションで扱えるモデルに近づけることを目指します。</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263" name="Google Shape;263;g3f6f0a30138_2_1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58" name="Shape 58"/>
        <p:cNvGrpSpPr/>
        <p:nvPr/>
      </p:nvGrpSpPr>
      <p:grpSpPr>
        <a:xfrm>
          <a:off x="0" y="0"/>
          <a:ext cx="0" cy="0"/>
          <a:chOff x="0" y="0"/>
          <a:chExt cx="0" cy="0"/>
        </a:xfrm>
      </p:grpSpPr>
      <p:sp>
        <p:nvSpPr>
          <p:cNvPr id="59" name="Google Shape;59;p14"/>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14"/>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61" name="Google Shape;61;p14"/>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2" name="Shape 62"/>
        <p:cNvGrpSpPr/>
        <p:nvPr/>
      </p:nvGrpSpPr>
      <p:grpSpPr>
        <a:xfrm>
          <a:off x="0" y="0"/>
          <a:ext cx="0" cy="0"/>
          <a:chOff x="0" y="0"/>
          <a:chExt cx="0" cy="0"/>
        </a:xfrm>
      </p:grpSpPr>
      <p:sp>
        <p:nvSpPr>
          <p:cNvPr id="63" name="Google Shape;63;p15"/>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 name="Google Shape;64;p15"/>
          <p:cNvSpPr txBox="1"/>
          <p:nvPr>
            <p:ph idx="1" type="subTitle"/>
          </p:nvPr>
        </p:nvSpPr>
        <p:spPr>
          <a:xfrm>
            <a:off x="685800" y="1275210"/>
            <a:ext cx="7772100" cy="3085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5" name="Google Shape;65;p15"/>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15"/>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67" name="Google Shape;67;p15"/>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68" name="Shape 68"/>
        <p:cNvGrpSpPr/>
        <p:nvPr/>
      </p:nvGrpSpPr>
      <p:grpSpPr>
        <a:xfrm>
          <a:off x="0" y="0"/>
          <a:ext cx="0" cy="0"/>
          <a:chOff x="0" y="0"/>
          <a:chExt cx="0" cy="0"/>
        </a:xfrm>
      </p:grpSpPr>
      <p:sp>
        <p:nvSpPr>
          <p:cNvPr id="69" name="Google Shape;69;p16"/>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16"/>
          <p:cNvSpPr txBox="1"/>
          <p:nvPr>
            <p:ph idx="1" type="body"/>
          </p:nvPr>
        </p:nvSpPr>
        <p:spPr>
          <a:xfrm>
            <a:off x="685800" y="1275210"/>
            <a:ext cx="7772100" cy="3085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71" name="Google Shape;71;p16"/>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16"/>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73" name="Google Shape;73;p16"/>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17"/>
          <p:cNvSpPr txBox="1"/>
          <p:nvPr>
            <p:ph idx="1" type="body"/>
          </p:nvPr>
        </p:nvSpPr>
        <p:spPr>
          <a:xfrm>
            <a:off x="685800" y="1275210"/>
            <a:ext cx="3792600" cy="3085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77" name="Google Shape;77;p17"/>
          <p:cNvSpPr txBox="1"/>
          <p:nvPr>
            <p:ph idx="2" type="body"/>
          </p:nvPr>
        </p:nvSpPr>
        <p:spPr>
          <a:xfrm>
            <a:off x="4668300" y="1275210"/>
            <a:ext cx="3792600" cy="3085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78" name="Google Shape;78;p17"/>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17"/>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80" name="Google Shape;80;p17"/>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8"/>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 name="Google Shape;83;p18"/>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18"/>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85" name="Google Shape;85;p18"/>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6" name="Shape 86"/>
        <p:cNvGrpSpPr/>
        <p:nvPr/>
      </p:nvGrpSpPr>
      <p:grpSpPr>
        <a:xfrm>
          <a:off x="0" y="0"/>
          <a:ext cx="0" cy="0"/>
          <a:chOff x="0" y="0"/>
          <a:chExt cx="0" cy="0"/>
        </a:xfrm>
      </p:grpSpPr>
      <p:sp>
        <p:nvSpPr>
          <p:cNvPr id="87" name="Google Shape;87;p19"/>
          <p:cNvSpPr txBox="1"/>
          <p:nvPr>
            <p:ph idx="1" type="subTitle"/>
          </p:nvPr>
        </p:nvSpPr>
        <p:spPr>
          <a:xfrm>
            <a:off x="468180" y="33210"/>
            <a:ext cx="7272000" cy="311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 name="Google Shape;88;p19"/>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9" name="Google Shape;89;p19"/>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90" name="Google Shape;90;p19"/>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91" name="Shape 91"/>
        <p:cNvGrpSpPr/>
        <p:nvPr/>
      </p:nvGrpSpPr>
      <p:grpSpPr>
        <a:xfrm>
          <a:off x="0" y="0"/>
          <a:ext cx="0" cy="0"/>
          <a:chOff x="0" y="0"/>
          <a:chExt cx="0" cy="0"/>
        </a:xfrm>
      </p:grpSpPr>
      <p:sp>
        <p:nvSpPr>
          <p:cNvPr id="92" name="Google Shape;92;p20"/>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3" name="Google Shape;93;p20"/>
          <p:cNvSpPr txBox="1"/>
          <p:nvPr>
            <p:ph idx="1" type="body"/>
          </p:nvPr>
        </p:nvSpPr>
        <p:spPr>
          <a:xfrm>
            <a:off x="685800" y="12752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94" name="Google Shape;94;p20"/>
          <p:cNvSpPr txBox="1"/>
          <p:nvPr>
            <p:ph idx="2" type="body"/>
          </p:nvPr>
        </p:nvSpPr>
        <p:spPr>
          <a:xfrm>
            <a:off x="4668300" y="1275210"/>
            <a:ext cx="3792600" cy="3085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95" name="Google Shape;95;p20"/>
          <p:cNvSpPr txBox="1"/>
          <p:nvPr>
            <p:ph idx="3" type="body"/>
          </p:nvPr>
        </p:nvSpPr>
        <p:spPr>
          <a:xfrm>
            <a:off x="685800" y="28871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96" name="Google Shape;96;p20"/>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7" name="Google Shape;97;p20"/>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98" name="Google Shape;98;p20"/>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99" name="Shape 99"/>
        <p:cNvGrpSpPr/>
        <p:nvPr/>
      </p:nvGrpSpPr>
      <p:grpSpPr>
        <a:xfrm>
          <a:off x="0" y="0"/>
          <a:ext cx="0" cy="0"/>
          <a:chOff x="0" y="0"/>
          <a:chExt cx="0" cy="0"/>
        </a:xfrm>
      </p:grpSpPr>
      <p:sp>
        <p:nvSpPr>
          <p:cNvPr id="100" name="Google Shape;100;p21"/>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21"/>
          <p:cNvSpPr txBox="1"/>
          <p:nvPr>
            <p:ph idx="1" type="body"/>
          </p:nvPr>
        </p:nvSpPr>
        <p:spPr>
          <a:xfrm>
            <a:off x="685800" y="1275210"/>
            <a:ext cx="3792600" cy="3085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02" name="Google Shape;102;p21"/>
          <p:cNvSpPr txBox="1"/>
          <p:nvPr>
            <p:ph idx="2" type="body"/>
          </p:nvPr>
        </p:nvSpPr>
        <p:spPr>
          <a:xfrm>
            <a:off x="4668300" y="12752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03" name="Google Shape;103;p21"/>
          <p:cNvSpPr txBox="1"/>
          <p:nvPr>
            <p:ph idx="3" type="body"/>
          </p:nvPr>
        </p:nvSpPr>
        <p:spPr>
          <a:xfrm>
            <a:off x="4668300" y="28871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04" name="Google Shape;104;p21"/>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5" name="Google Shape;105;p21"/>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106" name="Google Shape;106;p21"/>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07" name="Shape 107"/>
        <p:cNvGrpSpPr/>
        <p:nvPr/>
      </p:nvGrpSpPr>
      <p:grpSpPr>
        <a:xfrm>
          <a:off x="0" y="0"/>
          <a:ext cx="0" cy="0"/>
          <a:chOff x="0" y="0"/>
          <a:chExt cx="0" cy="0"/>
        </a:xfrm>
      </p:grpSpPr>
      <p:sp>
        <p:nvSpPr>
          <p:cNvPr id="108" name="Google Shape;108;p22"/>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9" name="Google Shape;109;p22"/>
          <p:cNvSpPr txBox="1"/>
          <p:nvPr>
            <p:ph idx="1" type="body"/>
          </p:nvPr>
        </p:nvSpPr>
        <p:spPr>
          <a:xfrm>
            <a:off x="685800" y="12752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10" name="Google Shape;110;p22"/>
          <p:cNvSpPr txBox="1"/>
          <p:nvPr>
            <p:ph idx="2" type="body"/>
          </p:nvPr>
        </p:nvSpPr>
        <p:spPr>
          <a:xfrm>
            <a:off x="4668300" y="12752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11" name="Google Shape;111;p22"/>
          <p:cNvSpPr txBox="1"/>
          <p:nvPr>
            <p:ph idx="3" type="body"/>
          </p:nvPr>
        </p:nvSpPr>
        <p:spPr>
          <a:xfrm>
            <a:off x="685800" y="2887110"/>
            <a:ext cx="77721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12" name="Google Shape;112;p22"/>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3" name="Google Shape;113;p22"/>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114" name="Google Shape;114;p22"/>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15" name="Shape 115"/>
        <p:cNvGrpSpPr/>
        <p:nvPr/>
      </p:nvGrpSpPr>
      <p:grpSpPr>
        <a:xfrm>
          <a:off x="0" y="0"/>
          <a:ext cx="0" cy="0"/>
          <a:chOff x="0" y="0"/>
          <a:chExt cx="0" cy="0"/>
        </a:xfrm>
      </p:grpSpPr>
      <p:sp>
        <p:nvSpPr>
          <p:cNvPr id="116" name="Google Shape;116;p23"/>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p23"/>
          <p:cNvSpPr txBox="1"/>
          <p:nvPr>
            <p:ph idx="1" type="body"/>
          </p:nvPr>
        </p:nvSpPr>
        <p:spPr>
          <a:xfrm>
            <a:off x="685800" y="1275210"/>
            <a:ext cx="77721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18" name="Google Shape;118;p23"/>
          <p:cNvSpPr txBox="1"/>
          <p:nvPr>
            <p:ph idx="2" type="body"/>
          </p:nvPr>
        </p:nvSpPr>
        <p:spPr>
          <a:xfrm>
            <a:off x="685800" y="2887110"/>
            <a:ext cx="77721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19" name="Google Shape;119;p23"/>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0" name="Google Shape;120;p23"/>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121" name="Google Shape;121;p23"/>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22" name="Shape 122"/>
        <p:cNvGrpSpPr/>
        <p:nvPr/>
      </p:nvGrpSpPr>
      <p:grpSpPr>
        <a:xfrm>
          <a:off x="0" y="0"/>
          <a:ext cx="0" cy="0"/>
          <a:chOff x="0" y="0"/>
          <a:chExt cx="0" cy="0"/>
        </a:xfrm>
      </p:grpSpPr>
      <p:sp>
        <p:nvSpPr>
          <p:cNvPr id="123" name="Google Shape;123;p24"/>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24"/>
          <p:cNvSpPr txBox="1"/>
          <p:nvPr>
            <p:ph idx="1" type="body"/>
          </p:nvPr>
        </p:nvSpPr>
        <p:spPr>
          <a:xfrm>
            <a:off x="685800" y="12752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25" name="Google Shape;125;p24"/>
          <p:cNvSpPr txBox="1"/>
          <p:nvPr>
            <p:ph idx="2" type="body"/>
          </p:nvPr>
        </p:nvSpPr>
        <p:spPr>
          <a:xfrm>
            <a:off x="4668300" y="12752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26" name="Google Shape;126;p24"/>
          <p:cNvSpPr txBox="1"/>
          <p:nvPr>
            <p:ph idx="3" type="body"/>
          </p:nvPr>
        </p:nvSpPr>
        <p:spPr>
          <a:xfrm>
            <a:off x="685800" y="28871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27" name="Google Shape;127;p24"/>
          <p:cNvSpPr txBox="1"/>
          <p:nvPr>
            <p:ph idx="4" type="body"/>
          </p:nvPr>
        </p:nvSpPr>
        <p:spPr>
          <a:xfrm>
            <a:off x="4668300" y="28871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28" name="Google Shape;128;p24"/>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9" name="Google Shape;129;p24"/>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130" name="Google Shape;130;p24"/>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31" name="Shape 131"/>
        <p:cNvGrpSpPr/>
        <p:nvPr/>
      </p:nvGrpSpPr>
      <p:grpSpPr>
        <a:xfrm>
          <a:off x="0" y="0"/>
          <a:ext cx="0" cy="0"/>
          <a:chOff x="0" y="0"/>
          <a:chExt cx="0" cy="0"/>
        </a:xfrm>
      </p:grpSpPr>
      <p:sp>
        <p:nvSpPr>
          <p:cNvPr id="132" name="Google Shape;132;p25"/>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3" name="Google Shape;133;p25"/>
          <p:cNvSpPr txBox="1"/>
          <p:nvPr>
            <p:ph idx="1" type="body"/>
          </p:nvPr>
        </p:nvSpPr>
        <p:spPr>
          <a:xfrm>
            <a:off x="685800" y="1275210"/>
            <a:ext cx="250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34" name="Google Shape;134;p25"/>
          <p:cNvSpPr txBox="1"/>
          <p:nvPr>
            <p:ph idx="2" type="body"/>
          </p:nvPr>
        </p:nvSpPr>
        <p:spPr>
          <a:xfrm>
            <a:off x="3313440" y="1275210"/>
            <a:ext cx="250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35" name="Google Shape;135;p25"/>
          <p:cNvSpPr txBox="1"/>
          <p:nvPr>
            <p:ph idx="3" type="body"/>
          </p:nvPr>
        </p:nvSpPr>
        <p:spPr>
          <a:xfrm>
            <a:off x="5941350" y="1275210"/>
            <a:ext cx="250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36" name="Google Shape;136;p25"/>
          <p:cNvSpPr txBox="1"/>
          <p:nvPr>
            <p:ph idx="4" type="body"/>
          </p:nvPr>
        </p:nvSpPr>
        <p:spPr>
          <a:xfrm>
            <a:off x="685800" y="2887110"/>
            <a:ext cx="250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37" name="Google Shape;137;p25"/>
          <p:cNvSpPr txBox="1"/>
          <p:nvPr>
            <p:ph idx="5" type="body"/>
          </p:nvPr>
        </p:nvSpPr>
        <p:spPr>
          <a:xfrm>
            <a:off x="3313440" y="2887110"/>
            <a:ext cx="250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38" name="Google Shape;138;p25"/>
          <p:cNvSpPr txBox="1"/>
          <p:nvPr>
            <p:ph idx="6" type="body"/>
          </p:nvPr>
        </p:nvSpPr>
        <p:spPr>
          <a:xfrm>
            <a:off x="5941350" y="2887110"/>
            <a:ext cx="250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39" name="Google Shape;139;p25"/>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0" name="Google Shape;140;p25"/>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141" name="Google Shape;141;p25"/>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 Type="http://schemas.openxmlformats.org/officeDocument/2006/relationships/image" Target="../media/image12.png"/><Relationship Id="rId2" Type="http://schemas.openxmlformats.org/officeDocument/2006/relationships/image" Target="../media/image4.png"/><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5" Type="http://schemas.openxmlformats.org/officeDocument/2006/relationships/theme" Target="../theme/theme2.xml"/><Relationship Id="rId14" Type="http://schemas.openxmlformats.org/officeDocument/2006/relationships/slideLayout" Target="../slideLayouts/slideLayout2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1">
            <a:alphaModFix/>
          </a:blip>
          <a:srcRect b="0" l="0" r="0" t="0"/>
          <a:stretch/>
        </p:blipFill>
        <p:spPr>
          <a:xfrm>
            <a:off x="1620" y="1080"/>
            <a:ext cx="6856650" cy="748710"/>
          </a:xfrm>
          <a:prstGeom prst="rect">
            <a:avLst/>
          </a:prstGeom>
          <a:noFill/>
          <a:ln>
            <a:noFill/>
          </a:ln>
        </p:spPr>
      </p:pic>
      <p:pic>
        <p:nvPicPr>
          <p:cNvPr id="52" name="Google Shape;52;p13"/>
          <p:cNvPicPr preferRelativeResize="0"/>
          <p:nvPr/>
        </p:nvPicPr>
        <p:blipFill rotWithShape="1">
          <a:blip r:embed="rId2">
            <a:alphaModFix/>
          </a:blip>
          <a:srcRect b="0" l="0" r="0" t="0"/>
          <a:stretch/>
        </p:blipFill>
        <p:spPr>
          <a:xfrm>
            <a:off x="7362090" y="443880"/>
            <a:ext cx="1241459" cy="303210"/>
          </a:xfrm>
          <a:prstGeom prst="rect">
            <a:avLst/>
          </a:prstGeom>
          <a:noFill/>
          <a:ln>
            <a:noFill/>
          </a:ln>
        </p:spPr>
      </p:pic>
      <p:sp>
        <p:nvSpPr>
          <p:cNvPr id="53" name="Google Shape;53;p13"/>
          <p:cNvSpPr txBox="1"/>
          <p:nvPr>
            <p:ph type="title"/>
          </p:nvPr>
        </p:nvSpPr>
        <p:spPr>
          <a:xfrm>
            <a:off x="1142910" y="841860"/>
            <a:ext cx="6857700" cy="1790700"/>
          </a:xfrm>
          <a:prstGeom prst="rect">
            <a:avLst/>
          </a:prstGeom>
          <a:noFill/>
          <a:ln>
            <a:noFill/>
          </a:ln>
        </p:spPr>
        <p:txBody>
          <a:bodyPr anchorCtr="0" anchor="b"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4" name="Google Shape;54;p13"/>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5" name="Google Shape;55;p13"/>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6" name="Google Shape;56;p13"/>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57" name="Google Shape;57;p13"/>
          <p:cNvSpPr txBox="1"/>
          <p:nvPr>
            <p:ph idx="1" type="body"/>
          </p:nvPr>
        </p:nvSpPr>
        <p:spPr>
          <a:xfrm>
            <a:off x="457110" y="1203390"/>
            <a:ext cx="8229300" cy="2983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0.png"/><Relationship Id="rId4" Type="http://schemas.openxmlformats.org/officeDocument/2006/relationships/image" Target="../media/image14.png"/><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1.png"/><Relationship Id="rId6"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9.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image" Target="../media/image16.png"/><Relationship Id="rId5" Type="http://schemas.openxmlformats.org/officeDocument/2006/relationships/image" Target="../media/image19.png"/><Relationship Id="rId6" Type="http://schemas.openxmlformats.org/officeDocument/2006/relationships/image" Target="../media/image15.png"/><Relationship Id="rId7" Type="http://schemas.openxmlformats.org/officeDocument/2006/relationships/image" Target="../media/image5.png"/><Relationship Id="rId8"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ja"/>
              <a:t>増沢さんラストゼミ_0911</a:t>
            </a:r>
            <a:endParaRPr/>
          </a:p>
        </p:txBody>
      </p:sp>
      <p:sp>
        <p:nvSpPr>
          <p:cNvPr id="147" name="Google Shape;147;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ja"/>
              <a:t>秋田光志朗</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134156" y="168557"/>
            <a:ext cx="8924100" cy="2670600"/>
          </a:xfrm>
          <a:prstGeom prst="rect">
            <a:avLst/>
          </a:prstGeom>
          <a:noFill/>
          <a:ln>
            <a:noFill/>
          </a:ln>
        </p:spPr>
        <p:txBody>
          <a:bodyPr anchorCtr="0" anchor="b" bIns="0" lIns="0" spcFirstLastPara="1" rIns="0" wrap="square" tIns="0">
            <a:normAutofit/>
          </a:bodyPr>
          <a:lstStyle/>
          <a:p>
            <a:pPr indent="0" lvl="0" marL="0" rtl="0" algn="ctr">
              <a:lnSpc>
                <a:spcPct val="90000"/>
              </a:lnSpc>
              <a:spcBef>
                <a:spcPts val="0"/>
              </a:spcBef>
              <a:spcAft>
                <a:spcPts val="0"/>
              </a:spcAft>
              <a:buClr>
                <a:srgbClr val="000000"/>
              </a:buClr>
              <a:buSzPts val="4100"/>
              <a:buFont typeface="Arial"/>
              <a:buNone/>
            </a:pPr>
            <a:r>
              <a:rPr lang="ja" sz="3200"/>
              <a:t>手描きスケッチからロボットモデルを</a:t>
            </a:r>
            <a:br>
              <a:rPr lang="ja" sz="3200"/>
            </a:br>
            <a:r>
              <a:rPr lang="ja" sz="3200"/>
              <a:t>生成するシステムの開発</a:t>
            </a:r>
            <a:endParaRPr sz="3200"/>
          </a:p>
        </p:txBody>
      </p:sp>
      <p:sp>
        <p:nvSpPr>
          <p:cNvPr id="153" name="Google Shape;153;p27"/>
          <p:cNvSpPr txBox="1"/>
          <p:nvPr>
            <p:ph idx="1" type="subTitle"/>
          </p:nvPr>
        </p:nvSpPr>
        <p:spPr>
          <a:xfrm>
            <a:off x="2125350" y="3902569"/>
            <a:ext cx="6944100" cy="1957200"/>
          </a:xfrm>
          <a:prstGeom prst="rect">
            <a:avLst/>
          </a:prstGeom>
          <a:noFill/>
          <a:ln>
            <a:noFill/>
          </a:ln>
        </p:spPr>
        <p:txBody>
          <a:bodyPr anchorCtr="0" anchor="t" bIns="0" lIns="0" spcFirstLastPara="1" rIns="0" wrap="square" tIns="0">
            <a:normAutofit/>
          </a:bodyPr>
          <a:lstStyle/>
          <a:p>
            <a:pPr indent="0" lvl="0" marL="0" marR="0" rtl="0" algn="r">
              <a:lnSpc>
                <a:spcPct val="90000"/>
              </a:lnSpc>
              <a:spcBef>
                <a:spcPts val="0"/>
              </a:spcBef>
              <a:spcAft>
                <a:spcPts val="0"/>
              </a:spcAft>
              <a:buClr>
                <a:srgbClr val="000000"/>
              </a:buClr>
              <a:buSzPts val="1800"/>
              <a:buFont typeface="Arial"/>
              <a:buNone/>
            </a:pPr>
            <a:r>
              <a:rPr lang="ja" sz="1800"/>
              <a:t>豊橋技術科学大学</a:t>
            </a:r>
            <a:endParaRPr sz="1800"/>
          </a:p>
          <a:p>
            <a:pPr indent="0" lvl="0" marL="0" marR="0" rtl="0" algn="r">
              <a:lnSpc>
                <a:spcPct val="90000"/>
              </a:lnSpc>
              <a:spcBef>
                <a:spcPts val="0"/>
              </a:spcBef>
              <a:spcAft>
                <a:spcPts val="0"/>
              </a:spcAft>
              <a:buClr>
                <a:srgbClr val="000000"/>
              </a:buClr>
              <a:buSzPts val="1800"/>
              <a:buFont typeface="Arial"/>
              <a:buNone/>
            </a:pPr>
            <a:r>
              <a:rPr b="0" i="0" lang="ja" sz="1800" u="none" cap="none" strike="noStrike">
                <a:solidFill>
                  <a:srgbClr val="000000"/>
                </a:solidFill>
                <a:latin typeface="Arial"/>
                <a:ea typeface="Arial"/>
                <a:cs typeface="Arial"/>
                <a:sym typeface="Arial"/>
              </a:rPr>
              <a:t>情報・ロボットシステム研究室</a:t>
            </a:r>
            <a:endParaRPr sz="1800"/>
          </a:p>
          <a:p>
            <a:pPr indent="0" lvl="0" marL="0" marR="0" rtl="0" algn="r">
              <a:lnSpc>
                <a:spcPct val="90000"/>
              </a:lnSpc>
              <a:spcBef>
                <a:spcPts val="0"/>
              </a:spcBef>
              <a:spcAft>
                <a:spcPts val="0"/>
              </a:spcAft>
              <a:buClr>
                <a:srgbClr val="000000"/>
              </a:buClr>
              <a:buSzPts val="1800"/>
              <a:buFont typeface="Arial"/>
              <a:buNone/>
            </a:pPr>
            <a:r>
              <a:rPr lang="ja" sz="1800"/>
              <a:t>秋田光志朗,</a:t>
            </a:r>
            <a:r>
              <a:rPr b="0" i="0" lang="ja" sz="1800" u="none" cap="none" strike="noStrike">
                <a:solidFill>
                  <a:srgbClr val="000000"/>
                </a:solidFill>
                <a:latin typeface="Arial"/>
                <a:ea typeface="Arial"/>
                <a:cs typeface="Arial"/>
                <a:sym typeface="Arial"/>
              </a:rPr>
              <a:t>垣内洋平</a:t>
            </a:r>
            <a:endParaRPr sz="1800"/>
          </a:p>
          <a:p>
            <a:pPr indent="0" lvl="0" marL="0" marR="0" rtl="0" algn="r">
              <a:lnSpc>
                <a:spcPct val="90000"/>
              </a:lnSpc>
              <a:spcBef>
                <a:spcPts val="800"/>
              </a:spcBef>
              <a:spcAft>
                <a:spcPts val="0"/>
              </a:spcAft>
              <a:buClr>
                <a:srgbClr val="000000"/>
              </a:buClr>
              <a:buSzPts val="1800"/>
              <a:buFont typeface="Arial"/>
              <a:buNone/>
            </a:pPr>
            <a:r>
              <a:t/>
            </a:r>
            <a:endParaRPr sz="1800"/>
          </a:p>
        </p:txBody>
      </p:sp>
      <p:sp>
        <p:nvSpPr>
          <p:cNvPr id="154" name="Google Shape;154;p27"/>
          <p:cNvSpPr txBox="1"/>
          <p:nvPr>
            <p:ph idx="12" type="sldNum"/>
          </p:nvPr>
        </p:nvSpPr>
        <p:spPr>
          <a:xfrm>
            <a:off x="8680579" y="4943423"/>
            <a:ext cx="402300" cy="1320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28"/>
          <p:cNvPicPr preferRelativeResize="0"/>
          <p:nvPr/>
        </p:nvPicPr>
        <p:blipFill rotWithShape="1">
          <a:blip r:embed="rId3">
            <a:alphaModFix/>
          </a:blip>
          <a:srcRect b="0" l="0" r="0" t="0"/>
          <a:stretch/>
        </p:blipFill>
        <p:spPr>
          <a:xfrm>
            <a:off x="911450" y="2571748"/>
            <a:ext cx="1600599" cy="1597875"/>
          </a:xfrm>
          <a:prstGeom prst="rect">
            <a:avLst/>
          </a:prstGeom>
          <a:noFill/>
          <a:ln>
            <a:noFill/>
          </a:ln>
        </p:spPr>
      </p:pic>
      <p:sp>
        <p:nvSpPr>
          <p:cNvPr id="160" name="Google Shape;160;p28"/>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b="0" i="0" lang="ja" sz="3000" u="none" cap="none" strike="noStrike">
                <a:solidFill>
                  <a:srgbClr val="000000"/>
                </a:solidFill>
                <a:latin typeface="Arial"/>
                <a:ea typeface="Arial"/>
                <a:cs typeface="Arial"/>
                <a:sym typeface="Arial"/>
              </a:rPr>
              <a:t>研究背景</a:t>
            </a:r>
            <a:endParaRPr b="0" i="0" sz="3000" u="none" cap="none" strike="noStrike">
              <a:solidFill>
                <a:srgbClr val="000000"/>
              </a:solidFill>
              <a:latin typeface="Arial"/>
              <a:ea typeface="Arial"/>
              <a:cs typeface="Arial"/>
              <a:sym typeface="Arial"/>
            </a:endParaRPr>
          </a:p>
        </p:txBody>
      </p:sp>
      <p:sp>
        <p:nvSpPr>
          <p:cNvPr id="161" name="Google Shape;161;p28"/>
          <p:cNvSpPr txBox="1"/>
          <p:nvPr>
            <p:ph idx="4294967295" type="body"/>
          </p:nvPr>
        </p:nvSpPr>
        <p:spPr>
          <a:xfrm>
            <a:off x="164767" y="813845"/>
            <a:ext cx="8786700" cy="1539000"/>
          </a:xfrm>
          <a:prstGeom prst="rect">
            <a:avLst/>
          </a:prstGeom>
          <a:noFill/>
          <a:ln>
            <a:noFill/>
          </a:ln>
        </p:spPr>
        <p:txBody>
          <a:bodyPr anchorCtr="0" anchor="t" bIns="34275" lIns="68575" spcFirstLastPara="1" rIns="68575" wrap="square" tIns="34275">
            <a:normAutofit/>
          </a:bodyPr>
          <a:lstStyle/>
          <a:p>
            <a:pPr indent="0" lvl="0" marL="0" marR="0" rtl="0" algn="l">
              <a:lnSpc>
                <a:spcPct val="115000"/>
              </a:lnSpc>
              <a:spcBef>
                <a:spcPts val="800"/>
              </a:spcBef>
              <a:spcAft>
                <a:spcPts val="0"/>
              </a:spcAft>
              <a:buSzPts val="1100"/>
              <a:buNone/>
            </a:pPr>
            <a:r>
              <a:rPr lang="ja" sz="2100"/>
              <a:t>ロボティクスではAIによるプログラム開発の高速化が進む一方，検証に必要な機体モデル設計は依然として専門性が高い領域である</a:t>
            </a:r>
            <a:endParaRPr sz="1800"/>
          </a:p>
          <a:p>
            <a:pPr indent="0" lvl="0" marL="0" marR="0" rtl="0" algn="l">
              <a:lnSpc>
                <a:spcPct val="115000"/>
              </a:lnSpc>
              <a:spcBef>
                <a:spcPts val="800"/>
              </a:spcBef>
              <a:spcAft>
                <a:spcPts val="0"/>
              </a:spcAft>
              <a:buSzPts val="1100"/>
              <a:buNone/>
            </a:pPr>
            <a:r>
              <a:t/>
            </a:r>
            <a:endParaRPr sz="1800"/>
          </a:p>
        </p:txBody>
      </p:sp>
      <p:sp>
        <p:nvSpPr>
          <p:cNvPr id="162" name="Google Shape;162;p28"/>
          <p:cNvSpPr/>
          <p:nvPr/>
        </p:nvSpPr>
        <p:spPr>
          <a:xfrm>
            <a:off x="509900" y="1715350"/>
            <a:ext cx="2829900" cy="637500"/>
          </a:xfrm>
          <a:prstGeom prst="wedgeEllipseCallout">
            <a:avLst>
              <a:gd fmla="val -20833" name="adj1"/>
              <a:gd fmla="val 62500" name="adj2"/>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ロボットを使って</a:t>
            </a:r>
            <a:br>
              <a:rPr b="0" i="0" lang="ja" sz="1400" u="none" cap="none" strike="noStrike">
                <a:solidFill>
                  <a:srgbClr val="000000"/>
                </a:solidFill>
                <a:latin typeface="Arial"/>
                <a:ea typeface="Arial"/>
                <a:cs typeface="Arial"/>
                <a:sym typeface="Arial"/>
              </a:rPr>
            </a:br>
            <a:r>
              <a:rPr b="0" i="0" lang="ja" sz="1400" u="none" cap="none" strike="noStrike">
                <a:solidFill>
                  <a:srgbClr val="000000"/>
                </a:solidFill>
                <a:latin typeface="Arial"/>
                <a:ea typeface="Arial"/>
                <a:cs typeface="Arial"/>
                <a:sym typeface="Arial"/>
              </a:rPr>
              <a:t>やりたいアイデア</a:t>
            </a:r>
            <a:endParaRPr b="0" i="0" sz="1400" u="none" cap="none" strike="noStrike">
              <a:solidFill>
                <a:srgbClr val="000000"/>
              </a:solidFill>
              <a:latin typeface="Arial"/>
              <a:ea typeface="Arial"/>
              <a:cs typeface="Arial"/>
              <a:sym typeface="Arial"/>
            </a:endParaRPr>
          </a:p>
        </p:txBody>
      </p:sp>
      <p:sp>
        <p:nvSpPr>
          <p:cNvPr id="163" name="Google Shape;163;p28"/>
          <p:cNvSpPr/>
          <p:nvPr/>
        </p:nvSpPr>
        <p:spPr>
          <a:xfrm rot="-1459700">
            <a:off x="3185431" y="2367646"/>
            <a:ext cx="1168789" cy="484573"/>
          </a:xfrm>
          <a:prstGeom prst="rightArrow">
            <a:avLst>
              <a:gd fmla="val 50000" name="adj1"/>
              <a:gd fmla="val 50000" name="adj2"/>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8"/>
          <p:cNvSpPr/>
          <p:nvPr/>
        </p:nvSpPr>
        <p:spPr>
          <a:xfrm rot="1661850">
            <a:off x="3199483" y="3377452"/>
            <a:ext cx="1154036" cy="484563"/>
          </a:xfrm>
          <a:prstGeom prst="rightArrow">
            <a:avLst>
              <a:gd fmla="val 50000" name="adj1"/>
              <a:gd fmla="val 50000" name="adj2"/>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5" name="Google Shape;165;p28"/>
          <p:cNvPicPr preferRelativeResize="0"/>
          <p:nvPr/>
        </p:nvPicPr>
        <p:blipFill rotWithShape="1">
          <a:blip r:embed="rId4">
            <a:alphaModFix/>
          </a:blip>
          <a:srcRect b="0" l="0" r="0" t="0"/>
          <a:stretch/>
        </p:blipFill>
        <p:spPr>
          <a:xfrm>
            <a:off x="4794950" y="1643825"/>
            <a:ext cx="1251000" cy="1251000"/>
          </a:xfrm>
          <a:prstGeom prst="rect">
            <a:avLst/>
          </a:prstGeom>
          <a:noFill/>
          <a:ln>
            <a:noFill/>
          </a:ln>
        </p:spPr>
      </p:pic>
      <p:sp>
        <p:nvSpPr>
          <p:cNvPr id="166" name="Google Shape;166;p28"/>
          <p:cNvSpPr txBox="1"/>
          <p:nvPr/>
        </p:nvSpPr>
        <p:spPr>
          <a:xfrm>
            <a:off x="4321300" y="2894825"/>
            <a:ext cx="4334100" cy="31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AIにより高速化されたロボットプログラミング</a:t>
            </a:r>
            <a:endParaRPr b="0" i="0" sz="1400" u="none" cap="none" strike="noStrike">
              <a:solidFill>
                <a:srgbClr val="000000"/>
              </a:solidFill>
              <a:latin typeface="Arial"/>
              <a:ea typeface="Arial"/>
              <a:cs typeface="Arial"/>
              <a:sym typeface="Arial"/>
            </a:endParaRPr>
          </a:p>
        </p:txBody>
      </p:sp>
      <p:pic>
        <p:nvPicPr>
          <p:cNvPr id="167" name="Google Shape;167;p28"/>
          <p:cNvPicPr preferRelativeResize="0"/>
          <p:nvPr/>
        </p:nvPicPr>
        <p:blipFill rotWithShape="1">
          <a:blip r:embed="rId5">
            <a:alphaModFix/>
          </a:blip>
          <a:srcRect b="0" l="0" r="0" t="0"/>
          <a:stretch/>
        </p:blipFill>
        <p:spPr>
          <a:xfrm>
            <a:off x="4794950" y="3308475"/>
            <a:ext cx="1539000" cy="1539000"/>
          </a:xfrm>
          <a:prstGeom prst="rect">
            <a:avLst/>
          </a:prstGeom>
          <a:noFill/>
          <a:ln>
            <a:noFill/>
          </a:ln>
        </p:spPr>
      </p:pic>
      <p:sp>
        <p:nvSpPr>
          <p:cNvPr id="168" name="Google Shape;168;p28"/>
          <p:cNvSpPr txBox="1"/>
          <p:nvPr/>
        </p:nvSpPr>
        <p:spPr>
          <a:xfrm>
            <a:off x="4747750" y="4722550"/>
            <a:ext cx="3212400" cy="31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プログラムを試す機体モデルの設計</a:t>
            </a:r>
            <a:endParaRPr b="0" i="0" sz="1400" u="none" cap="none" strike="noStrike">
              <a:solidFill>
                <a:srgbClr val="000000"/>
              </a:solidFill>
              <a:latin typeface="Arial"/>
              <a:ea typeface="Arial"/>
              <a:cs typeface="Arial"/>
              <a:sym typeface="Arial"/>
            </a:endParaRPr>
          </a:p>
        </p:txBody>
      </p:sp>
      <p:sp>
        <p:nvSpPr>
          <p:cNvPr id="169" name="Google Shape;169;p28"/>
          <p:cNvSpPr/>
          <p:nvPr/>
        </p:nvSpPr>
        <p:spPr>
          <a:xfrm>
            <a:off x="6045950" y="1637116"/>
            <a:ext cx="2829900" cy="637500"/>
          </a:xfrm>
          <a:prstGeom prst="wedgeEllipseCallout">
            <a:avLst>
              <a:gd fmla="val -47650" name="adj1"/>
              <a:gd fmla="val 71180" name="adj2"/>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アイデアをすぐに</a:t>
            </a:r>
            <a:br>
              <a:rPr b="0" i="0" lang="ja" sz="1400" u="none" cap="none" strike="noStrike">
                <a:solidFill>
                  <a:srgbClr val="000000"/>
                </a:solidFill>
                <a:latin typeface="Arial"/>
                <a:ea typeface="Arial"/>
                <a:cs typeface="Arial"/>
                <a:sym typeface="Arial"/>
              </a:rPr>
            </a:br>
            <a:r>
              <a:rPr b="0" i="0" lang="ja" sz="1400" u="none" cap="none" strike="noStrike">
                <a:solidFill>
                  <a:srgbClr val="000000"/>
                </a:solidFill>
                <a:latin typeface="Arial"/>
                <a:ea typeface="Arial"/>
                <a:cs typeface="Arial"/>
                <a:sym typeface="Arial"/>
              </a:rPr>
              <a:t>形にできる！</a:t>
            </a:r>
            <a:endParaRPr b="0" i="0" sz="1400" u="none" cap="none" strike="noStrike">
              <a:solidFill>
                <a:srgbClr val="000000"/>
              </a:solidFill>
              <a:latin typeface="Arial"/>
              <a:ea typeface="Arial"/>
              <a:cs typeface="Arial"/>
              <a:sym typeface="Arial"/>
            </a:endParaRPr>
          </a:p>
        </p:txBody>
      </p:sp>
      <p:sp>
        <p:nvSpPr>
          <p:cNvPr id="170" name="Google Shape;170;p28"/>
          <p:cNvSpPr/>
          <p:nvPr/>
        </p:nvSpPr>
        <p:spPr>
          <a:xfrm>
            <a:off x="6218075" y="3319814"/>
            <a:ext cx="2829900" cy="637500"/>
          </a:xfrm>
          <a:prstGeom prst="wedgeEllipseCallout">
            <a:avLst>
              <a:gd fmla="val -47650" name="adj1"/>
              <a:gd fmla="val 71180" name="adj2"/>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でも、試すロボットのモデルが作れない…</a:t>
            </a:r>
            <a:endParaRPr b="0" i="0" sz="1400" u="none" cap="none" strike="noStrike">
              <a:solidFill>
                <a:srgbClr val="000000"/>
              </a:solidFill>
              <a:latin typeface="Arial"/>
              <a:ea typeface="Arial"/>
              <a:cs typeface="Arial"/>
              <a:sym typeface="Arial"/>
            </a:endParaRPr>
          </a:p>
        </p:txBody>
      </p:sp>
      <p:sp>
        <p:nvSpPr>
          <p:cNvPr id="171" name="Google Shape;171;p28"/>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現状の課題</a:t>
            </a:r>
            <a:endParaRPr b="0" i="0" sz="3000" u="none" cap="none" strike="noStrike">
              <a:solidFill>
                <a:srgbClr val="000000"/>
              </a:solidFill>
              <a:latin typeface="Arial"/>
              <a:ea typeface="Arial"/>
              <a:cs typeface="Arial"/>
              <a:sym typeface="Arial"/>
            </a:endParaRPr>
          </a:p>
        </p:txBody>
      </p:sp>
      <p:sp>
        <p:nvSpPr>
          <p:cNvPr id="177" name="Google Shape;177;p29"/>
          <p:cNvSpPr txBox="1"/>
          <p:nvPr>
            <p:ph idx="4294967295" type="body"/>
          </p:nvPr>
        </p:nvSpPr>
        <p:spPr>
          <a:xfrm>
            <a:off x="164775" y="813848"/>
            <a:ext cx="8786700" cy="952200"/>
          </a:xfrm>
          <a:prstGeom prst="rect">
            <a:avLst/>
          </a:prstGeom>
          <a:noFill/>
          <a:ln>
            <a:noFill/>
          </a:ln>
        </p:spPr>
        <p:txBody>
          <a:bodyPr anchorCtr="0" anchor="t" bIns="34275" lIns="68575" spcFirstLastPara="1" rIns="68575" wrap="square" tIns="34275">
            <a:normAutofit/>
          </a:bodyPr>
          <a:lstStyle/>
          <a:p>
            <a:pPr indent="0" lvl="0" marL="0" marR="0" rtl="0" algn="l">
              <a:lnSpc>
                <a:spcPct val="115000"/>
              </a:lnSpc>
              <a:spcBef>
                <a:spcPts val="800"/>
              </a:spcBef>
              <a:spcAft>
                <a:spcPts val="0"/>
              </a:spcAft>
              <a:buSzPts val="1100"/>
              <a:buNone/>
            </a:pPr>
            <a:r>
              <a:rPr lang="ja" sz="2000"/>
              <a:t>プログラム検証用の機体モデル作成(CAD)には機械工学の高度な専門知識が求められ、ハード非専門のソフトエンジニアにとって大きな壁となっている</a:t>
            </a:r>
            <a:endParaRPr sz="2000"/>
          </a:p>
        </p:txBody>
      </p:sp>
      <p:pic>
        <p:nvPicPr>
          <p:cNvPr id="178" name="Google Shape;178;p29"/>
          <p:cNvPicPr preferRelativeResize="0"/>
          <p:nvPr/>
        </p:nvPicPr>
        <p:blipFill rotWithShape="1">
          <a:blip r:embed="rId3">
            <a:alphaModFix/>
          </a:blip>
          <a:srcRect b="0" l="0" r="0" t="0"/>
          <a:stretch/>
        </p:blipFill>
        <p:spPr>
          <a:xfrm>
            <a:off x="961978" y="2844816"/>
            <a:ext cx="2466575" cy="1939375"/>
          </a:xfrm>
          <a:prstGeom prst="rect">
            <a:avLst/>
          </a:prstGeom>
          <a:noFill/>
          <a:ln cap="flat" cmpd="sng" w="28575">
            <a:solidFill>
              <a:srgbClr val="000000"/>
            </a:solidFill>
            <a:prstDash val="solid"/>
            <a:round/>
            <a:headEnd len="sm" w="sm" type="none"/>
            <a:tailEnd len="sm" w="sm" type="none"/>
          </a:ln>
        </p:spPr>
      </p:pic>
      <p:sp>
        <p:nvSpPr>
          <p:cNvPr id="179" name="Google Shape;179;p29"/>
          <p:cNvSpPr/>
          <p:nvPr/>
        </p:nvSpPr>
        <p:spPr>
          <a:xfrm>
            <a:off x="24103" y="2524666"/>
            <a:ext cx="1676400" cy="671100"/>
          </a:xfrm>
          <a:prstGeom prst="wedgeEllipseCallout">
            <a:avLst>
              <a:gd fmla="val 38587" name="adj1"/>
              <a:gd fmla="val 58076" name="adj2"/>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rgbClr val="000000"/>
                </a:solidFill>
                <a:latin typeface="Arial"/>
                <a:ea typeface="Arial"/>
                <a:cs typeface="Arial"/>
                <a:sym typeface="Arial"/>
              </a:rPr>
              <a:t>関節可動域?</a:t>
            </a:r>
            <a:endParaRPr b="1" i="0" sz="1400" u="none" cap="none" strike="noStrike">
              <a:solidFill>
                <a:srgbClr val="000000"/>
              </a:solidFill>
              <a:latin typeface="Arial"/>
              <a:ea typeface="Arial"/>
              <a:cs typeface="Arial"/>
              <a:sym typeface="Arial"/>
            </a:endParaRPr>
          </a:p>
        </p:txBody>
      </p:sp>
      <p:sp>
        <p:nvSpPr>
          <p:cNvPr id="180" name="Google Shape;180;p29"/>
          <p:cNvSpPr/>
          <p:nvPr/>
        </p:nvSpPr>
        <p:spPr>
          <a:xfrm>
            <a:off x="2754928" y="2482563"/>
            <a:ext cx="1676400" cy="671100"/>
          </a:xfrm>
          <a:prstGeom prst="wedgeEllipseCallout">
            <a:avLst>
              <a:gd fmla="val -44266" name="adj1"/>
              <a:gd fmla="val 52462" name="adj2"/>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rgbClr val="000000"/>
                </a:solidFill>
                <a:latin typeface="Arial"/>
                <a:ea typeface="Arial"/>
                <a:cs typeface="Arial"/>
                <a:sym typeface="Arial"/>
              </a:rPr>
              <a:t>関節軸方向?</a:t>
            </a:r>
            <a:endParaRPr b="1" i="0" sz="1400" u="none" cap="none" strike="noStrike">
              <a:solidFill>
                <a:srgbClr val="000000"/>
              </a:solidFill>
              <a:latin typeface="Arial"/>
              <a:ea typeface="Arial"/>
              <a:cs typeface="Arial"/>
              <a:sym typeface="Arial"/>
            </a:endParaRPr>
          </a:p>
        </p:txBody>
      </p:sp>
      <p:sp>
        <p:nvSpPr>
          <p:cNvPr id="181" name="Google Shape;181;p29"/>
          <p:cNvSpPr/>
          <p:nvPr/>
        </p:nvSpPr>
        <p:spPr>
          <a:xfrm>
            <a:off x="24103" y="3743916"/>
            <a:ext cx="1465850" cy="671100"/>
          </a:xfrm>
          <a:prstGeom prst="wedgeEllipseCallout">
            <a:avLst>
              <a:gd fmla="val 57285" name="adj1"/>
              <a:gd fmla="val -45641" name="adj2"/>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rgbClr val="000000"/>
                </a:solidFill>
                <a:latin typeface="Arial"/>
                <a:ea typeface="Arial"/>
                <a:cs typeface="Arial"/>
                <a:sym typeface="Arial"/>
              </a:rPr>
              <a:t>強度設計?</a:t>
            </a:r>
            <a:endParaRPr b="1" i="0" sz="1400" u="none" cap="none" strike="noStrike">
              <a:solidFill>
                <a:srgbClr val="000000"/>
              </a:solidFill>
              <a:latin typeface="Arial"/>
              <a:ea typeface="Arial"/>
              <a:cs typeface="Arial"/>
              <a:sym typeface="Arial"/>
            </a:endParaRPr>
          </a:p>
        </p:txBody>
      </p:sp>
      <p:sp>
        <p:nvSpPr>
          <p:cNvPr id="182" name="Google Shape;182;p29"/>
          <p:cNvSpPr txBox="1"/>
          <p:nvPr/>
        </p:nvSpPr>
        <p:spPr>
          <a:xfrm>
            <a:off x="777586" y="1876000"/>
            <a:ext cx="3276000" cy="42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ja" sz="1700" u="none" cap="none" strike="noStrike">
                <a:solidFill>
                  <a:srgbClr val="000000"/>
                </a:solidFill>
                <a:latin typeface="Arial"/>
                <a:ea typeface="Arial"/>
                <a:cs typeface="Arial"/>
                <a:sym typeface="Arial"/>
              </a:rPr>
              <a:t>CAD設計に求められる専門知識</a:t>
            </a:r>
            <a:endParaRPr b="0" i="0" sz="1700" u="none" cap="none" strike="noStrike">
              <a:solidFill>
                <a:srgbClr val="000000"/>
              </a:solidFill>
              <a:latin typeface="Arial"/>
              <a:ea typeface="Arial"/>
              <a:cs typeface="Arial"/>
              <a:sym typeface="Arial"/>
            </a:endParaRPr>
          </a:p>
        </p:txBody>
      </p:sp>
      <p:pic>
        <p:nvPicPr>
          <p:cNvPr id="183" name="Google Shape;183;p29"/>
          <p:cNvPicPr preferRelativeResize="0"/>
          <p:nvPr/>
        </p:nvPicPr>
        <p:blipFill rotWithShape="1">
          <a:blip r:embed="rId4">
            <a:alphaModFix/>
          </a:blip>
          <a:srcRect b="7042" l="4742" r="4597" t="8726"/>
          <a:stretch/>
        </p:blipFill>
        <p:spPr>
          <a:xfrm>
            <a:off x="4639538" y="2811758"/>
            <a:ext cx="3746952" cy="1968449"/>
          </a:xfrm>
          <a:prstGeom prst="rect">
            <a:avLst/>
          </a:prstGeom>
          <a:noFill/>
          <a:ln>
            <a:noFill/>
          </a:ln>
        </p:spPr>
      </p:pic>
      <p:sp>
        <p:nvSpPr>
          <p:cNvPr id="184" name="Google Shape;184;p29"/>
          <p:cNvSpPr/>
          <p:nvPr/>
        </p:nvSpPr>
        <p:spPr>
          <a:xfrm>
            <a:off x="4252130" y="2275378"/>
            <a:ext cx="2388600" cy="536400"/>
          </a:xfrm>
          <a:prstGeom prst="wedgeEllipseCallout">
            <a:avLst>
              <a:gd fmla="val 17184" name="adj1"/>
              <a:gd fmla="val 71696"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ja" sz="1400" u="none" cap="none" strike="noStrike">
                <a:solidFill>
                  <a:srgbClr val="000000"/>
                </a:solidFill>
                <a:latin typeface="Arial"/>
                <a:ea typeface="Arial"/>
                <a:cs typeface="Arial"/>
                <a:sym typeface="Arial"/>
              </a:rPr>
              <a:t>すぐ検証したい!</a:t>
            </a:r>
            <a:endParaRPr b="1" i="0" sz="1400" u="none" cap="none" strike="noStrike">
              <a:solidFill>
                <a:srgbClr val="000000"/>
              </a:solidFill>
              <a:latin typeface="Arial"/>
              <a:ea typeface="Arial"/>
              <a:cs typeface="Arial"/>
              <a:sym typeface="Arial"/>
            </a:endParaRPr>
          </a:p>
        </p:txBody>
      </p:sp>
      <p:sp>
        <p:nvSpPr>
          <p:cNvPr id="185" name="Google Shape;185;p29"/>
          <p:cNvSpPr/>
          <p:nvPr/>
        </p:nvSpPr>
        <p:spPr>
          <a:xfrm>
            <a:off x="6590680" y="2485552"/>
            <a:ext cx="2176800" cy="471900"/>
          </a:xfrm>
          <a:prstGeom prst="wedgeEllipseCallout">
            <a:avLst>
              <a:gd fmla="val -44266" name="adj1"/>
              <a:gd fmla="val 52462"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ja" sz="1400" u="none" cap="none" strike="noStrike">
                <a:solidFill>
                  <a:srgbClr val="000000"/>
                </a:solidFill>
                <a:latin typeface="Arial"/>
                <a:ea typeface="Arial"/>
                <a:cs typeface="Arial"/>
                <a:sym typeface="Arial"/>
              </a:rPr>
              <a:t>まずは試したい!</a:t>
            </a:r>
            <a:endParaRPr b="1" i="0" sz="1400" u="none" cap="none" strike="noStrike">
              <a:solidFill>
                <a:srgbClr val="000000"/>
              </a:solidFill>
              <a:latin typeface="Arial"/>
              <a:ea typeface="Arial"/>
              <a:cs typeface="Arial"/>
              <a:sym typeface="Arial"/>
            </a:endParaRPr>
          </a:p>
        </p:txBody>
      </p:sp>
      <p:sp>
        <p:nvSpPr>
          <p:cNvPr id="186" name="Google Shape;186;p29"/>
          <p:cNvSpPr txBox="1"/>
          <p:nvPr/>
        </p:nvSpPr>
        <p:spPr>
          <a:xfrm>
            <a:off x="5448900" y="1876000"/>
            <a:ext cx="2868600" cy="42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ja" sz="1700" u="none" cap="none" strike="noStrike">
                <a:solidFill>
                  <a:srgbClr val="000000"/>
                </a:solidFill>
                <a:latin typeface="Arial"/>
                <a:ea typeface="Arial"/>
                <a:cs typeface="Arial"/>
                <a:sym typeface="Arial"/>
              </a:rPr>
              <a:t>プログラム開発側のニーズ</a:t>
            </a:r>
            <a:endParaRPr b="0" i="0" sz="1700" u="none" cap="none" strike="noStrike">
              <a:solidFill>
                <a:srgbClr val="000000"/>
              </a:solidFill>
              <a:latin typeface="Arial"/>
              <a:ea typeface="Arial"/>
              <a:cs typeface="Arial"/>
              <a:sym typeface="Arial"/>
            </a:endParaRPr>
          </a:p>
        </p:txBody>
      </p:sp>
      <p:pic>
        <p:nvPicPr>
          <p:cNvPr id="187" name="Google Shape;187;p29"/>
          <p:cNvPicPr preferRelativeResize="0"/>
          <p:nvPr/>
        </p:nvPicPr>
        <p:blipFill rotWithShape="1">
          <a:blip r:embed="rId5">
            <a:alphaModFix/>
          </a:blip>
          <a:srcRect b="0" l="0" r="0" t="0"/>
          <a:stretch/>
        </p:blipFill>
        <p:spPr>
          <a:xfrm>
            <a:off x="3463353" y="3970750"/>
            <a:ext cx="641800" cy="851950"/>
          </a:xfrm>
          <a:prstGeom prst="rect">
            <a:avLst/>
          </a:prstGeom>
          <a:noFill/>
          <a:ln>
            <a:noFill/>
          </a:ln>
        </p:spPr>
      </p:pic>
      <p:pic>
        <p:nvPicPr>
          <p:cNvPr id="188" name="Google Shape;188;p29"/>
          <p:cNvPicPr preferRelativeResize="0"/>
          <p:nvPr/>
        </p:nvPicPr>
        <p:blipFill rotWithShape="1">
          <a:blip r:embed="rId6">
            <a:alphaModFix/>
          </a:blip>
          <a:srcRect b="0" l="0" r="0" t="0"/>
          <a:stretch/>
        </p:blipFill>
        <p:spPr>
          <a:xfrm>
            <a:off x="8386478" y="3898039"/>
            <a:ext cx="588100" cy="882161"/>
          </a:xfrm>
          <a:prstGeom prst="rect">
            <a:avLst/>
          </a:prstGeom>
          <a:noFill/>
          <a:ln>
            <a:noFill/>
          </a:ln>
        </p:spPr>
      </p:pic>
      <p:sp>
        <p:nvSpPr>
          <p:cNvPr id="189" name="Google Shape;189;p29"/>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000"/>
              <a:buFont typeface="Arial"/>
              <a:buNone/>
            </a:pPr>
            <a:r>
              <a:rPr lang="ja" sz="3000"/>
              <a:t>関連研究</a:t>
            </a:r>
            <a:endParaRPr sz="3000"/>
          </a:p>
        </p:txBody>
      </p:sp>
      <p:sp>
        <p:nvSpPr>
          <p:cNvPr id="195" name="Google Shape;195;p30"/>
          <p:cNvSpPr txBox="1"/>
          <p:nvPr>
            <p:ph idx="4294967295" type="body"/>
          </p:nvPr>
        </p:nvSpPr>
        <p:spPr>
          <a:xfrm>
            <a:off x="162244" y="812175"/>
            <a:ext cx="8902200" cy="795900"/>
          </a:xfrm>
          <a:prstGeom prst="rect">
            <a:avLst/>
          </a:prstGeom>
          <a:noFill/>
          <a:ln>
            <a:noFill/>
          </a:ln>
        </p:spPr>
        <p:txBody>
          <a:bodyPr anchorCtr="0" anchor="t" bIns="34275" lIns="68575" spcFirstLastPara="1" rIns="68575" wrap="square" tIns="34275">
            <a:noAutofit/>
          </a:bodyPr>
          <a:lstStyle/>
          <a:p>
            <a:pPr indent="0" lvl="0" marL="0" marR="0" rtl="0" algn="l">
              <a:lnSpc>
                <a:spcPct val="95000"/>
              </a:lnSpc>
              <a:spcBef>
                <a:spcPts val="800"/>
              </a:spcBef>
              <a:spcAft>
                <a:spcPts val="0"/>
              </a:spcAft>
              <a:buSzPts val="1100"/>
              <a:buNone/>
            </a:pPr>
            <a:r>
              <a:rPr lang="ja" sz="2100"/>
              <a:t>RobotSketch: </a:t>
            </a:r>
            <a:endParaRPr sz="2100"/>
          </a:p>
          <a:p>
            <a:pPr indent="0" lvl="0" marL="0" marR="0" rtl="0" algn="l">
              <a:lnSpc>
                <a:spcPct val="95000"/>
              </a:lnSpc>
              <a:spcBef>
                <a:spcPts val="800"/>
              </a:spcBef>
              <a:spcAft>
                <a:spcPts val="0"/>
              </a:spcAft>
              <a:buSzPts val="1100"/>
              <a:buNone/>
            </a:pPr>
            <a:r>
              <a:rPr lang="ja" sz="2100"/>
              <a:t>An Interactive Showcase of Superfast Design of Legged Robots</a:t>
            </a:r>
            <a:endParaRPr sz="2100"/>
          </a:p>
          <a:p>
            <a:pPr indent="0" lvl="0" marL="0" marR="0" rtl="0" algn="l">
              <a:lnSpc>
                <a:spcPct val="95000"/>
              </a:lnSpc>
              <a:spcBef>
                <a:spcPts val="800"/>
              </a:spcBef>
              <a:spcAft>
                <a:spcPts val="0"/>
              </a:spcAft>
              <a:buSzPts val="1100"/>
              <a:buNone/>
            </a:pPr>
            <a:r>
              <a:rPr lang="ja" sz="2100"/>
              <a:t>⇒VR(Virtual Reality)で3Dロボットスケッチを行い、ロボットは強化学習で最適な歩行動作を行う</a:t>
            </a:r>
            <a:endParaRPr sz="2100"/>
          </a:p>
        </p:txBody>
      </p:sp>
      <p:pic>
        <p:nvPicPr>
          <p:cNvPr id="196" name="Google Shape;196;p30"/>
          <p:cNvPicPr preferRelativeResize="0"/>
          <p:nvPr/>
        </p:nvPicPr>
        <p:blipFill rotWithShape="1">
          <a:blip r:embed="rId3">
            <a:alphaModFix/>
          </a:blip>
          <a:srcRect b="0" l="0" r="0" t="0"/>
          <a:stretch/>
        </p:blipFill>
        <p:spPr>
          <a:xfrm>
            <a:off x="162253" y="2387164"/>
            <a:ext cx="8756305" cy="1362949"/>
          </a:xfrm>
          <a:prstGeom prst="rect">
            <a:avLst/>
          </a:prstGeom>
          <a:noFill/>
          <a:ln>
            <a:noFill/>
          </a:ln>
        </p:spPr>
      </p:pic>
      <p:sp>
        <p:nvSpPr>
          <p:cNvPr id="197" name="Google Shape;197;p30"/>
          <p:cNvSpPr txBox="1"/>
          <p:nvPr/>
        </p:nvSpPr>
        <p:spPr>
          <a:xfrm>
            <a:off x="162244" y="3718736"/>
            <a:ext cx="8629500" cy="4581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chemeClr val="dk1"/>
              </a:buClr>
              <a:buSzPts val="800"/>
              <a:buFont typeface="Arial"/>
              <a:buNone/>
            </a:pPr>
            <a:r>
              <a:rPr b="0" i="0" lang="ja" sz="600" u="none" cap="none" strike="noStrike">
                <a:solidFill>
                  <a:srgbClr val="000000"/>
                </a:solidFill>
                <a:latin typeface="Arial"/>
                <a:ea typeface="Arial"/>
                <a:cs typeface="Arial"/>
                <a:sym typeface="Arial"/>
              </a:rPr>
              <a:t>RobotSketch: An Interactive Showcase of Superfast Design of Legged Robots　Joon Hyub Lee, Hyunsik Oh, Junwoo Yoon, Seung-Jun Lee, Taegyu Jin, Jemin Hwangbo, Seok-Hyung Bae　KAIST（韓国科学技術院）SIGGRAPH Emerging Technologies ’24, July 27–August 01, 2024, Denver, CO, USA　ACM ISBN: 979-8-4007-0524-3/24/07</a:t>
            </a:r>
            <a:endParaRPr b="0" i="0" sz="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198" name="Google Shape;198;p30"/>
          <p:cNvSpPr txBox="1"/>
          <p:nvPr>
            <p:ph idx="4294967295" type="body"/>
          </p:nvPr>
        </p:nvSpPr>
        <p:spPr>
          <a:xfrm>
            <a:off x="578282" y="4203853"/>
            <a:ext cx="8902200" cy="795900"/>
          </a:xfrm>
          <a:prstGeom prst="rect">
            <a:avLst/>
          </a:prstGeom>
          <a:noFill/>
          <a:ln>
            <a:noFill/>
          </a:ln>
        </p:spPr>
        <p:txBody>
          <a:bodyPr anchorCtr="0" anchor="t" bIns="34275" lIns="68575" spcFirstLastPara="1" rIns="68575" wrap="square" tIns="34275">
            <a:noAutofit/>
          </a:bodyPr>
          <a:lstStyle/>
          <a:p>
            <a:pPr indent="0" lvl="0" marL="0" marR="0" rtl="0" algn="l">
              <a:lnSpc>
                <a:spcPct val="95000"/>
              </a:lnSpc>
              <a:spcBef>
                <a:spcPts val="800"/>
              </a:spcBef>
              <a:spcAft>
                <a:spcPts val="0"/>
              </a:spcAft>
              <a:buSzPts val="1100"/>
              <a:buNone/>
            </a:pPr>
            <a:r>
              <a:rPr lang="ja" sz="2100"/>
              <a:t>関節配置など「物理的整合性」は人間が考える必要があり、</a:t>
            </a:r>
            <a:br>
              <a:rPr lang="ja" sz="2100"/>
            </a:br>
            <a:r>
              <a:rPr lang="ja" sz="2100"/>
              <a:t>依然としてハードウェアの専門知識が必須</a:t>
            </a:r>
            <a:endParaRPr sz="2100"/>
          </a:p>
        </p:txBody>
      </p:sp>
      <p:sp>
        <p:nvSpPr>
          <p:cNvPr id="199" name="Google Shape;199;p30"/>
          <p:cNvSpPr/>
          <p:nvPr/>
        </p:nvSpPr>
        <p:spPr>
          <a:xfrm>
            <a:off x="242584" y="4333370"/>
            <a:ext cx="335700" cy="283500"/>
          </a:xfrm>
          <a:prstGeom prst="rightArrow">
            <a:avLst>
              <a:gd fmla="val 50000" name="adj1"/>
              <a:gd fmla="val 50000" name="adj2"/>
            </a:avLst>
          </a:prstGeom>
          <a:solidFill>
            <a:srgbClr val="A4C2F4"/>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0" name="Google Shape;200;p30"/>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目的</a:t>
            </a:r>
            <a:endParaRPr b="0" i="0" sz="3000" u="none" cap="none" strike="noStrike">
              <a:solidFill>
                <a:srgbClr val="000000"/>
              </a:solidFill>
              <a:latin typeface="Arial"/>
              <a:ea typeface="Arial"/>
              <a:cs typeface="Arial"/>
              <a:sym typeface="Arial"/>
            </a:endParaRPr>
          </a:p>
        </p:txBody>
      </p:sp>
      <p:sp>
        <p:nvSpPr>
          <p:cNvPr id="206" name="Google Shape;206;p31"/>
          <p:cNvSpPr txBox="1"/>
          <p:nvPr>
            <p:ph idx="4294967295" type="body"/>
          </p:nvPr>
        </p:nvSpPr>
        <p:spPr>
          <a:xfrm>
            <a:off x="164775" y="813847"/>
            <a:ext cx="8786700" cy="830700"/>
          </a:xfrm>
          <a:prstGeom prst="rect">
            <a:avLst/>
          </a:prstGeom>
          <a:noFill/>
          <a:ln>
            <a:noFill/>
          </a:ln>
        </p:spPr>
        <p:txBody>
          <a:bodyPr anchorCtr="0" anchor="t" bIns="34275" lIns="68575" spcFirstLastPara="1" rIns="68575" wrap="square" tIns="34275">
            <a:normAutofit fontScale="92500" lnSpcReduction="10000"/>
          </a:bodyPr>
          <a:lstStyle/>
          <a:p>
            <a:pPr indent="0" lvl="0" marL="0" marR="0" rtl="0" algn="l">
              <a:lnSpc>
                <a:spcPct val="115000"/>
              </a:lnSpc>
              <a:spcBef>
                <a:spcPts val="800"/>
              </a:spcBef>
              <a:spcAft>
                <a:spcPts val="0"/>
              </a:spcAft>
              <a:buSzPct val="56628"/>
              <a:buNone/>
            </a:pPr>
            <a:r>
              <a:rPr lang="ja" sz="2100"/>
              <a:t>ハードウェアの知識がない人でも、直感的にロボットを設計し、</a:t>
            </a:r>
            <a:br>
              <a:rPr lang="ja" sz="2100"/>
            </a:br>
            <a:r>
              <a:rPr lang="ja" sz="2100"/>
              <a:t>即座にアイデアをシミュレーション検証できる環境を構築する</a:t>
            </a:r>
            <a:endParaRPr sz="1800"/>
          </a:p>
        </p:txBody>
      </p:sp>
      <p:sp>
        <p:nvSpPr>
          <p:cNvPr id="207" name="Google Shape;207;p31"/>
          <p:cNvSpPr/>
          <p:nvPr/>
        </p:nvSpPr>
        <p:spPr>
          <a:xfrm>
            <a:off x="209081" y="1797039"/>
            <a:ext cx="335700" cy="283500"/>
          </a:xfrm>
          <a:prstGeom prst="rightArrow">
            <a:avLst>
              <a:gd fmla="val 50000" name="adj1"/>
              <a:gd fmla="val 50000" name="adj2"/>
            </a:avLst>
          </a:prstGeom>
          <a:solidFill>
            <a:srgbClr val="A4C2F4"/>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8" name="Google Shape;208;p31"/>
          <p:cNvSpPr txBox="1"/>
          <p:nvPr>
            <p:ph idx="4294967295" type="body"/>
          </p:nvPr>
        </p:nvSpPr>
        <p:spPr>
          <a:xfrm>
            <a:off x="544767" y="1622746"/>
            <a:ext cx="8786700" cy="1539000"/>
          </a:xfrm>
          <a:prstGeom prst="rect">
            <a:avLst/>
          </a:prstGeom>
          <a:noFill/>
          <a:ln>
            <a:noFill/>
          </a:ln>
        </p:spPr>
        <p:txBody>
          <a:bodyPr anchorCtr="0" anchor="t" bIns="34275" lIns="68575" spcFirstLastPara="1" rIns="68575" wrap="square" tIns="34275">
            <a:normAutofit/>
          </a:bodyPr>
          <a:lstStyle/>
          <a:p>
            <a:pPr indent="0" lvl="0" marL="0" marR="0" rtl="0" algn="l">
              <a:lnSpc>
                <a:spcPct val="115000"/>
              </a:lnSpc>
              <a:spcBef>
                <a:spcPts val="800"/>
              </a:spcBef>
              <a:spcAft>
                <a:spcPts val="0"/>
              </a:spcAft>
              <a:buSzPts val="1100"/>
              <a:buNone/>
            </a:pPr>
            <a:r>
              <a:rPr lang="ja" sz="2100"/>
              <a:t>本研究では直感的なロボット設計の手法として</a:t>
            </a:r>
            <a:r>
              <a:rPr b="1" lang="ja" sz="2100">
                <a:solidFill>
                  <a:srgbClr val="FF0000"/>
                </a:solidFill>
              </a:rPr>
              <a:t>「手描き」</a:t>
            </a:r>
            <a:r>
              <a:rPr lang="ja" sz="2100"/>
              <a:t>を提案</a:t>
            </a:r>
            <a:endParaRPr sz="1800"/>
          </a:p>
          <a:p>
            <a:pPr indent="0" lvl="0" marL="0" marR="0" rtl="0" algn="l">
              <a:lnSpc>
                <a:spcPct val="115000"/>
              </a:lnSpc>
              <a:spcBef>
                <a:spcPts val="800"/>
              </a:spcBef>
              <a:spcAft>
                <a:spcPts val="0"/>
              </a:spcAft>
              <a:buSzPts val="1100"/>
              <a:buNone/>
            </a:pPr>
            <a:r>
              <a:t/>
            </a:r>
            <a:endParaRPr sz="1800"/>
          </a:p>
        </p:txBody>
      </p:sp>
      <p:pic>
        <p:nvPicPr>
          <p:cNvPr id="209" name="Google Shape;209;p31" title="IMG_5367.jpg"/>
          <p:cNvPicPr preferRelativeResize="0"/>
          <p:nvPr/>
        </p:nvPicPr>
        <p:blipFill rotWithShape="1">
          <a:blip r:embed="rId3">
            <a:alphaModFix/>
          </a:blip>
          <a:srcRect b="30192" l="19616" r="33790" t="33171"/>
          <a:stretch/>
        </p:blipFill>
        <p:spPr>
          <a:xfrm>
            <a:off x="387925" y="2529300"/>
            <a:ext cx="1813375" cy="1900974"/>
          </a:xfrm>
          <a:prstGeom prst="rect">
            <a:avLst/>
          </a:prstGeom>
          <a:noFill/>
          <a:ln>
            <a:noFill/>
          </a:ln>
        </p:spPr>
      </p:pic>
      <p:pic>
        <p:nvPicPr>
          <p:cNvPr id="210" name="Google Shape;210;p31" title="修士システム図_粒度2.drawio.png"/>
          <p:cNvPicPr preferRelativeResize="0"/>
          <p:nvPr/>
        </p:nvPicPr>
        <p:blipFill rotWithShape="1">
          <a:blip r:embed="rId4">
            <a:alphaModFix/>
          </a:blip>
          <a:srcRect b="0" l="0" r="0" t="0"/>
          <a:stretch/>
        </p:blipFill>
        <p:spPr>
          <a:xfrm>
            <a:off x="2891570" y="2558677"/>
            <a:ext cx="3021785" cy="1842225"/>
          </a:xfrm>
          <a:prstGeom prst="rect">
            <a:avLst/>
          </a:prstGeom>
          <a:noFill/>
          <a:ln cap="flat" cmpd="sng" w="28575">
            <a:solidFill>
              <a:srgbClr val="000000"/>
            </a:solidFill>
            <a:prstDash val="solid"/>
            <a:round/>
            <a:headEnd len="sm" w="sm" type="none"/>
            <a:tailEnd len="sm" w="sm" type="none"/>
          </a:ln>
        </p:spPr>
      </p:pic>
      <p:pic>
        <p:nvPicPr>
          <p:cNvPr id="211" name="Google Shape;211;p31"/>
          <p:cNvPicPr preferRelativeResize="0"/>
          <p:nvPr/>
        </p:nvPicPr>
        <p:blipFill rotWithShape="1">
          <a:blip r:embed="rId5">
            <a:alphaModFix/>
          </a:blip>
          <a:srcRect b="0" l="0" r="0" t="0"/>
          <a:stretch/>
        </p:blipFill>
        <p:spPr>
          <a:xfrm>
            <a:off x="6678655" y="2558674"/>
            <a:ext cx="2156370" cy="1842225"/>
          </a:xfrm>
          <a:prstGeom prst="rect">
            <a:avLst/>
          </a:prstGeom>
          <a:noFill/>
          <a:ln>
            <a:noFill/>
          </a:ln>
        </p:spPr>
      </p:pic>
      <p:cxnSp>
        <p:nvCxnSpPr>
          <p:cNvPr id="212" name="Google Shape;212;p31"/>
          <p:cNvCxnSpPr>
            <a:stCxn id="209" idx="3"/>
            <a:endCxn id="210" idx="1"/>
          </p:cNvCxnSpPr>
          <p:nvPr/>
        </p:nvCxnSpPr>
        <p:spPr>
          <a:xfrm>
            <a:off x="2201300" y="3479787"/>
            <a:ext cx="690300" cy="0"/>
          </a:xfrm>
          <a:prstGeom prst="straightConnector1">
            <a:avLst/>
          </a:prstGeom>
          <a:noFill/>
          <a:ln cap="flat" cmpd="sng" w="28575">
            <a:solidFill>
              <a:srgbClr val="000000"/>
            </a:solidFill>
            <a:prstDash val="solid"/>
            <a:round/>
            <a:headEnd len="sm" w="sm" type="none"/>
            <a:tailEnd len="med" w="med" type="triangle"/>
          </a:ln>
        </p:spPr>
      </p:cxnSp>
      <p:cxnSp>
        <p:nvCxnSpPr>
          <p:cNvPr id="213" name="Google Shape;213;p31"/>
          <p:cNvCxnSpPr>
            <a:stCxn id="210" idx="3"/>
            <a:endCxn id="211" idx="1"/>
          </p:cNvCxnSpPr>
          <p:nvPr/>
        </p:nvCxnSpPr>
        <p:spPr>
          <a:xfrm>
            <a:off x="5913355" y="3479789"/>
            <a:ext cx="765300" cy="0"/>
          </a:xfrm>
          <a:prstGeom prst="straightConnector1">
            <a:avLst/>
          </a:prstGeom>
          <a:noFill/>
          <a:ln cap="flat" cmpd="sng" w="28575">
            <a:solidFill>
              <a:srgbClr val="000000"/>
            </a:solidFill>
            <a:prstDash val="solid"/>
            <a:round/>
            <a:headEnd len="sm" w="sm" type="none"/>
            <a:tailEnd len="med" w="med" type="triangle"/>
          </a:ln>
        </p:spPr>
      </p:cxnSp>
      <p:sp>
        <p:nvSpPr>
          <p:cNvPr id="214" name="Google Shape;214;p31"/>
          <p:cNvSpPr txBox="1"/>
          <p:nvPr/>
        </p:nvSpPr>
        <p:spPr>
          <a:xfrm>
            <a:off x="2861750" y="2529950"/>
            <a:ext cx="3091200" cy="1901100"/>
          </a:xfrm>
          <a:prstGeom prst="rect">
            <a:avLst/>
          </a:prstGeom>
          <a:solidFill>
            <a:schemeClr val="lt1"/>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rPr b="0" i="0" lang="ja" sz="3200" u="none" cap="none" strike="noStrike">
                <a:solidFill>
                  <a:srgbClr val="000000"/>
                </a:solidFill>
                <a:latin typeface="Arial"/>
                <a:ea typeface="Arial"/>
                <a:cs typeface="Arial"/>
                <a:sym typeface="Arial"/>
              </a:rPr>
              <a:t>提案システム</a:t>
            </a:r>
            <a:endParaRPr b="0" i="0" sz="3200" u="none" cap="none" strike="noStrike">
              <a:solidFill>
                <a:srgbClr val="000000"/>
              </a:solidFill>
              <a:latin typeface="Arial"/>
              <a:ea typeface="Arial"/>
              <a:cs typeface="Arial"/>
              <a:sym typeface="Arial"/>
            </a:endParaRPr>
          </a:p>
        </p:txBody>
      </p:sp>
      <p:sp>
        <p:nvSpPr>
          <p:cNvPr id="215" name="Google Shape;215;p31"/>
          <p:cNvSpPr txBox="1"/>
          <p:nvPr/>
        </p:nvSpPr>
        <p:spPr>
          <a:xfrm>
            <a:off x="474413" y="4431050"/>
            <a:ext cx="1640400" cy="28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手描きのスケッチ</a:t>
            </a:r>
            <a:endParaRPr b="0" i="0" sz="1400" u="none" cap="none" strike="noStrike">
              <a:solidFill>
                <a:srgbClr val="000000"/>
              </a:solidFill>
              <a:latin typeface="Arial"/>
              <a:ea typeface="Arial"/>
              <a:cs typeface="Arial"/>
              <a:sym typeface="Arial"/>
            </a:endParaRPr>
          </a:p>
        </p:txBody>
      </p:sp>
      <p:sp>
        <p:nvSpPr>
          <p:cNvPr id="216" name="Google Shape;216;p31"/>
          <p:cNvSpPr txBox="1"/>
          <p:nvPr/>
        </p:nvSpPr>
        <p:spPr>
          <a:xfrm>
            <a:off x="6905738" y="4431050"/>
            <a:ext cx="1702200" cy="283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シミュレーション</a:t>
            </a:r>
            <a:br>
              <a:rPr b="0" i="0" lang="ja" sz="1400" u="none" cap="none" strike="noStrike">
                <a:solidFill>
                  <a:srgbClr val="000000"/>
                </a:solidFill>
                <a:latin typeface="Arial"/>
                <a:ea typeface="Arial"/>
                <a:cs typeface="Arial"/>
                <a:sym typeface="Arial"/>
              </a:rPr>
            </a:br>
            <a:r>
              <a:rPr b="0" i="0" lang="ja" sz="1400" u="none" cap="none" strike="noStrike">
                <a:solidFill>
                  <a:srgbClr val="000000"/>
                </a:solidFill>
                <a:latin typeface="Arial"/>
                <a:ea typeface="Arial"/>
                <a:cs typeface="Arial"/>
                <a:sym typeface="Arial"/>
              </a:rPr>
              <a:t>ロボットモデル</a:t>
            </a:r>
            <a:endParaRPr b="0" i="0" sz="1400" u="none" cap="none" strike="noStrike">
              <a:solidFill>
                <a:srgbClr val="000000"/>
              </a:solidFill>
              <a:latin typeface="Arial"/>
              <a:ea typeface="Arial"/>
              <a:cs typeface="Arial"/>
              <a:sym typeface="Arial"/>
            </a:endParaRPr>
          </a:p>
        </p:txBody>
      </p:sp>
      <p:sp>
        <p:nvSpPr>
          <p:cNvPr id="217" name="Google Shape;217;p31"/>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32" title="研究の位置づけ.drawio.png"/>
          <p:cNvPicPr preferRelativeResize="0"/>
          <p:nvPr/>
        </p:nvPicPr>
        <p:blipFill rotWithShape="1">
          <a:blip r:embed="rId3">
            <a:alphaModFix/>
          </a:blip>
          <a:srcRect b="0" l="0" r="0" t="16757"/>
          <a:stretch/>
        </p:blipFill>
        <p:spPr>
          <a:xfrm>
            <a:off x="205201" y="792775"/>
            <a:ext cx="8733599" cy="4256750"/>
          </a:xfrm>
          <a:prstGeom prst="rect">
            <a:avLst/>
          </a:prstGeom>
          <a:noFill/>
          <a:ln>
            <a:noFill/>
          </a:ln>
        </p:spPr>
      </p:pic>
      <p:sp>
        <p:nvSpPr>
          <p:cNvPr id="223" name="Google Shape;223;p32"/>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ロボット設計における位置づけ</a:t>
            </a:r>
            <a:endParaRPr b="0" i="0" sz="3000" u="none" cap="none" strike="noStrike">
              <a:solidFill>
                <a:srgbClr val="000000"/>
              </a:solidFill>
              <a:latin typeface="Arial"/>
              <a:ea typeface="Arial"/>
              <a:cs typeface="Arial"/>
              <a:sym typeface="Arial"/>
            </a:endParaRPr>
          </a:p>
        </p:txBody>
      </p:sp>
      <p:sp>
        <p:nvSpPr>
          <p:cNvPr id="224" name="Google Shape;224;p32"/>
          <p:cNvSpPr/>
          <p:nvPr/>
        </p:nvSpPr>
        <p:spPr>
          <a:xfrm flipH="1">
            <a:off x="2481650" y="1704350"/>
            <a:ext cx="1408200" cy="603000"/>
          </a:xfrm>
          <a:prstGeom prst="wedgeRectCallout">
            <a:avLst>
              <a:gd fmla="val 43046" name="adj1"/>
              <a:gd fmla="val -73254" name="adj2"/>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ja" sz="1200" u="none" cap="none" strike="noStrike">
                <a:solidFill>
                  <a:srgbClr val="000000"/>
                </a:solidFill>
                <a:latin typeface="Arial"/>
                <a:ea typeface="Arial"/>
                <a:cs typeface="Arial"/>
                <a:sym typeface="Arial"/>
              </a:rPr>
              <a:t>時間はかかるが</a:t>
            </a:r>
            <a:br>
              <a:rPr b="1" i="0" lang="ja" sz="1200" u="none" cap="none" strike="noStrike">
                <a:solidFill>
                  <a:srgbClr val="000000"/>
                </a:solidFill>
                <a:latin typeface="Arial"/>
                <a:ea typeface="Arial"/>
                <a:cs typeface="Arial"/>
                <a:sym typeface="Arial"/>
              </a:rPr>
            </a:br>
            <a:r>
              <a:rPr b="1" i="0" lang="ja" sz="1200" u="none" cap="none" strike="noStrike">
                <a:solidFill>
                  <a:srgbClr val="000000"/>
                </a:solidFill>
                <a:latin typeface="Arial"/>
                <a:ea typeface="Arial"/>
                <a:cs typeface="Arial"/>
                <a:sym typeface="Arial"/>
              </a:rPr>
              <a:t>量産を見据えた</a:t>
            </a:r>
            <a:br>
              <a:rPr b="1" i="0" lang="ja" sz="1200" u="none" cap="none" strike="noStrike">
                <a:solidFill>
                  <a:srgbClr val="000000"/>
                </a:solidFill>
                <a:latin typeface="Arial"/>
                <a:ea typeface="Arial"/>
                <a:cs typeface="Arial"/>
                <a:sym typeface="Arial"/>
              </a:rPr>
            </a:br>
            <a:r>
              <a:rPr b="1" i="0" lang="ja" sz="1200" u="none" cap="none" strike="noStrike">
                <a:solidFill>
                  <a:srgbClr val="000000"/>
                </a:solidFill>
                <a:latin typeface="Arial"/>
                <a:ea typeface="Arial"/>
                <a:cs typeface="Arial"/>
                <a:sym typeface="Arial"/>
              </a:rPr>
              <a:t>精密な設計</a:t>
            </a:r>
            <a:endParaRPr b="1" i="0" sz="1200" u="none" cap="none" strike="noStrike">
              <a:solidFill>
                <a:srgbClr val="000000"/>
              </a:solidFill>
              <a:latin typeface="Arial"/>
              <a:ea typeface="Arial"/>
              <a:cs typeface="Arial"/>
              <a:sym typeface="Arial"/>
            </a:endParaRPr>
          </a:p>
        </p:txBody>
      </p:sp>
      <p:sp>
        <p:nvSpPr>
          <p:cNvPr id="225" name="Google Shape;225;p32"/>
          <p:cNvSpPr/>
          <p:nvPr/>
        </p:nvSpPr>
        <p:spPr>
          <a:xfrm flipH="1">
            <a:off x="5685700" y="1470300"/>
            <a:ext cx="1564200" cy="442800"/>
          </a:xfrm>
          <a:prstGeom prst="wedgeRectCallout">
            <a:avLst>
              <a:gd fmla="val 59059" name="adj1"/>
              <a:gd fmla="val 95828" name="adj2"/>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ja" sz="1200" u="none" cap="none" strike="noStrike">
                <a:solidFill>
                  <a:schemeClr val="dk1"/>
                </a:solidFill>
                <a:latin typeface="Arial"/>
                <a:ea typeface="Arial"/>
                <a:cs typeface="Arial"/>
                <a:sym typeface="Arial"/>
              </a:rPr>
              <a:t>立体的に設計する</a:t>
            </a:r>
            <a:br>
              <a:rPr b="1" i="0" lang="ja" sz="1200" u="none" cap="none" strike="noStrike">
                <a:solidFill>
                  <a:schemeClr val="dk1"/>
                </a:solidFill>
                <a:latin typeface="Arial"/>
                <a:ea typeface="Arial"/>
                <a:cs typeface="Arial"/>
                <a:sym typeface="Arial"/>
              </a:rPr>
            </a:br>
            <a:r>
              <a:rPr b="1" i="0" lang="ja" sz="1200" u="none" cap="none" strike="noStrike">
                <a:solidFill>
                  <a:schemeClr val="dk1"/>
                </a:solidFill>
                <a:latin typeface="Arial"/>
                <a:ea typeface="Arial"/>
                <a:cs typeface="Arial"/>
                <a:sym typeface="Arial"/>
              </a:rPr>
              <a:t>ことで直感的に操作</a:t>
            </a:r>
            <a:endParaRPr b="0" i="0" sz="1400" u="none" cap="none" strike="noStrike">
              <a:solidFill>
                <a:srgbClr val="000000"/>
              </a:solidFill>
              <a:latin typeface="Arial"/>
              <a:ea typeface="Arial"/>
              <a:cs typeface="Arial"/>
              <a:sym typeface="Arial"/>
            </a:endParaRPr>
          </a:p>
        </p:txBody>
      </p:sp>
      <p:sp>
        <p:nvSpPr>
          <p:cNvPr id="226" name="Google Shape;226;p32"/>
          <p:cNvSpPr/>
          <p:nvPr/>
        </p:nvSpPr>
        <p:spPr>
          <a:xfrm flipH="1">
            <a:off x="7112975" y="2300775"/>
            <a:ext cx="1950300" cy="603000"/>
          </a:xfrm>
          <a:prstGeom prst="wedgeRectCallout">
            <a:avLst>
              <a:gd fmla="val 41039" name="adj1"/>
              <a:gd fmla="val 91898"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ja" sz="1200" u="none" cap="none" strike="noStrike">
                <a:solidFill>
                  <a:schemeClr val="dk1"/>
                </a:solidFill>
                <a:latin typeface="Arial"/>
                <a:ea typeface="Arial"/>
                <a:cs typeface="Arial"/>
                <a:sym typeface="Arial"/>
              </a:rPr>
              <a:t>スケッチを用いて数分でアイデアを即時検証</a:t>
            </a:r>
            <a:br>
              <a:rPr b="1" i="0" lang="ja" sz="1200" u="none" cap="none" strike="noStrike">
                <a:solidFill>
                  <a:schemeClr val="dk1"/>
                </a:solidFill>
                <a:latin typeface="Arial"/>
                <a:ea typeface="Arial"/>
                <a:cs typeface="Arial"/>
                <a:sym typeface="Arial"/>
              </a:rPr>
            </a:br>
            <a:r>
              <a:rPr b="1" i="0" lang="ja" sz="1200" u="none" cap="none" strike="noStrike">
                <a:solidFill>
                  <a:srgbClr val="FF0000"/>
                </a:solidFill>
                <a:latin typeface="Arial"/>
                <a:ea typeface="Arial"/>
                <a:cs typeface="Arial"/>
                <a:sym typeface="Arial"/>
              </a:rPr>
              <a:t>(フェーズ０)</a:t>
            </a:r>
            <a:endParaRPr b="1" i="0" sz="1400" u="none" cap="none" strike="noStrike">
              <a:solidFill>
                <a:srgbClr val="FF0000"/>
              </a:solidFill>
              <a:latin typeface="Arial"/>
              <a:ea typeface="Arial"/>
              <a:cs typeface="Arial"/>
              <a:sym typeface="Arial"/>
            </a:endParaRPr>
          </a:p>
        </p:txBody>
      </p:sp>
      <p:sp>
        <p:nvSpPr>
          <p:cNvPr id="227" name="Google Shape;227;p32"/>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3"/>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システムフロー概要</a:t>
            </a:r>
            <a:endParaRPr b="0" i="0" sz="3000" u="none" cap="none" strike="noStrike">
              <a:solidFill>
                <a:srgbClr val="000000"/>
              </a:solidFill>
              <a:latin typeface="Arial"/>
              <a:ea typeface="Arial"/>
              <a:cs typeface="Arial"/>
              <a:sym typeface="Arial"/>
            </a:endParaRPr>
          </a:p>
        </p:txBody>
      </p:sp>
      <p:sp>
        <p:nvSpPr>
          <p:cNvPr id="233" name="Google Shape;233;p33"/>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234" name="Google Shape;234;p33"/>
          <p:cNvSpPr txBox="1"/>
          <p:nvPr/>
        </p:nvSpPr>
        <p:spPr>
          <a:xfrm>
            <a:off x="716100" y="1050325"/>
            <a:ext cx="2449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a:t>ユーザーの書いたスケッチ</a:t>
            </a:r>
            <a:endParaRPr/>
          </a:p>
        </p:txBody>
      </p:sp>
      <p:sp>
        <p:nvSpPr>
          <p:cNvPr id="235" name="Google Shape;235;p33"/>
          <p:cNvSpPr txBox="1"/>
          <p:nvPr/>
        </p:nvSpPr>
        <p:spPr>
          <a:xfrm>
            <a:off x="888075" y="1496650"/>
            <a:ext cx="2449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a:t>gemini</a:t>
            </a:r>
            <a:r>
              <a:rPr lang="ja"/>
              <a:t>による整形</a:t>
            </a:r>
            <a:endParaRPr/>
          </a:p>
        </p:txBody>
      </p:sp>
      <p:sp>
        <p:nvSpPr>
          <p:cNvPr id="236" name="Google Shape;236;p33"/>
          <p:cNvSpPr txBox="1"/>
          <p:nvPr/>
        </p:nvSpPr>
        <p:spPr>
          <a:xfrm>
            <a:off x="4293150" y="1792575"/>
            <a:ext cx="2449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a:t>このサイクルを繰り返す</a:t>
            </a:r>
            <a:endParaRPr/>
          </a:p>
        </p:txBody>
      </p:sp>
      <p:sp>
        <p:nvSpPr>
          <p:cNvPr id="237" name="Google Shape;237;p33"/>
          <p:cNvSpPr txBox="1"/>
          <p:nvPr/>
        </p:nvSpPr>
        <p:spPr>
          <a:xfrm>
            <a:off x="276825" y="3100075"/>
            <a:ext cx="36717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a:t>シュタッケルベルグppo</a:t>
            </a:r>
            <a:br>
              <a:rPr lang="ja"/>
            </a:br>
            <a:r>
              <a:rPr lang="ja"/>
              <a:t>をベースとしたロボットモデル最適化</a:t>
            </a:r>
            <a:endParaRPr/>
          </a:p>
        </p:txBody>
      </p:sp>
      <p:sp>
        <p:nvSpPr>
          <p:cNvPr id="238" name="Google Shape;238;p33"/>
          <p:cNvSpPr txBox="1"/>
          <p:nvPr/>
        </p:nvSpPr>
        <p:spPr>
          <a:xfrm>
            <a:off x="625725" y="1996450"/>
            <a:ext cx="2449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a:t>tripo</a:t>
            </a:r>
            <a:r>
              <a:rPr lang="ja"/>
              <a:t>による3Dモデル化</a:t>
            </a:r>
            <a:endParaRPr/>
          </a:p>
        </p:txBody>
      </p:sp>
      <p:sp>
        <p:nvSpPr>
          <p:cNvPr id="239" name="Google Shape;239;p33"/>
          <p:cNvSpPr txBox="1"/>
          <p:nvPr/>
        </p:nvSpPr>
        <p:spPr>
          <a:xfrm>
            <a:off x="415650" y="2425200"/>
            <a:ext cx="2449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a:t>ヒューリスティックな</a:t>
            </a:r>
            <a:br>
              <a:rPr lang="ja"/>
            </a:br>
            <a:r>
              <a:rPr lang="ja"/>
              <a:t>セグメンテーション</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4"/>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各フローにおける現在の進捗</a:t>
            </a:r>
            <a:endParaRPr b="0" i="0" sz="3000" u="none" cap="none" strike="noStrike">
              <a:solidFill>
                <a:srgbClr val="000000"/>
              </a:solidFill>
              <a:latin typeface="Arial"/>
              <a:ea typeface="Arial"/>
              <a:cs typeface="Arial"/>
              <a:sym typeface="Arial"/>
            </a:endParaRPr>
          </a:p>
        </p:txBody>
      </p:sp>
      <p:sp>
        <p:nvSpPr>
          <p:cNvPr id="245" name="Google Shape;245;p34"/>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246" name="Google Shape;246;p34"/>
          <p:cNvSpPr txBox="1"/>
          <p:nvPr/>
        </p:nvSpPr>
        <p:spPr>
          <a:xfrm>
            <a:off x="1814975" y="1924425"/>
            <a:ext cx="36717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a:t>ここは</a:t>
            </a:r>
            <a:r>
              <a:rPr lang="ja"/>
              <a:t>シュタッケルベルグppo</a:t>
            </a:r>
            <a:br>
              <a:rPr lang="ja"/>
            </a:br>
            <a:r>
              <a:rPr lang="ja"/>
              <a:t>をベースとして運用するためにどんな知見がわかったかの実験の話がメインかな？</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5"/>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ゴール</a:t>
            </a:r>
            <a:endParaRPr b="0" i="0" sz="3000" u="none" cap="none" strike="noStrike">
              <a:solidFill>
                <a:srgbClr val="000000"/>
              </a:solidFill>
              <a:latin typeface="Arial"/>
              <a:ea typeface="Arial"/>
              <a:cs typeface="Arial"/>
              <a:sym typeface="Arial"/>
            </a:endParaRPr>
          </a:p>
        </p:txBody>
      </p:sp>
      <p:sp>
        <p:nvSpPr>
          <p:cNvPr id="252" name="Google Shape;252;p35"/>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253" name="Google Shape;253;p35"/>
          <p:cNvSpPr txBox="1"/>
          <p:nvPr/>
        </p:nvSpPr>
        <p:spPr>
          <a:xfrm>
            <a:off x="1660525" y="1270950"/>
            <a:ext cx="4887300" cy="130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a:t>修論で何をコンクルージョンとして書くために残りの期間でどんなことをするか</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補助資料</a:t>
            </a:r>
            <a:endParaRPr b="0" i="0" sz="3000" u="none" cap="none" strike="noStrike">
              <a:solidFill>
                <a:srgbClr val="000000"/>
              </a:solidFill>
              <a:latin typeface="Arial"/>
              <a:ea typeface="Arial"/>
              <a:cs typeface="Arial"/>
              <a:sym typeface="Arial"/>
            </a:endParaRPr>
          </a:p>
        </p:txBody>
      </p:sp>
      <p:sp>
        <p:nvSpPr>
          <p:cNvPr id="259" name="Google Shape;259;p36"/>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260" name="Google Shape;260;p36"/>
          <p:cNvSpPr txBox="1"/>
          <p:nvPr/>
        </p:nvSpPr>
        <p:spPr>
          <a:xfrm>
            <a:off x="1660525" y="1270950"/>
            <a:ext cx="4887300" cy="130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a:t>これからスライドを作っていく上で説明が足りないと思ったところを色々用意する</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id="265" name="Google Shape;265;p37"/>
          <p:cNvPicPr preferRelativeResize="0"/>
          <p:nvPr/>
        </p:nvPicPr>
        <p:blipFill rotWithShape="1">
          <a:blip r:embed="rId3">
            <a:alphaModFix/>
          </a:blip>
          <a:srcRect b="0" l="0" r="0" t="0"/>
          <a:stretch/>
        </p:blipFill>
        <p:spPr>
          <a:xfrm>
            <a:off x="2339971" y="1754100"/>
            <a:ext cx="3666966" cy="2750224"/>
          </a:xfrm>
          <a:prstGeom prst="rect">
            <a:avLst/>
          </a:prstGeom>
          <a:noFill/>
          <a:ln>
            <a:noFill/>
          </a:ln>
        </p:spPr>
      </p:pic>
      <p:sp>
        <p:nvSpPr>
          <p:cNvPr id="266" name="Google Shape;266;p37"/>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検証システム</a:t>
            </a:r>
            <a:r>
              <a:rPr lang="ja" sz="2200"/>
              <a:t>(タスク評価サイクル)</a:t>
            </a:r>
            <a:endParaRPr b="0" i="0" sz="2200" u="none" cap="none" strike="noStrike">
              <a:solidFill>
                <a:srgbClr val="000000"/>
              </a:solidFill>
              <a:latin typeface="Arial"/>
              <a:ea typeface="Arial"/>
              <a:cs typeface="Arial"/>
              <a:sym typeface="Arial"/>
            </a:endParaRPr>
          </a:p>
        </p:txBody>
      </p:sp>
      <p:sp>
        <p:nvSpPr>
          <p:cNvPr id="267" name="Google Shape;267;p37"/>
          <p:cNvSpPr txBox="1"/>
          <p:nvPr>
            <p:ph idx="4294967295" type="body"/>
          </p:nvPr>
        </p:nvSpPr>
        <p:spPr>
          <a:xfrm>
            <a:off x="164775" y="665630"/>
            <a:ext cx="8786700" cy="830700"/>
          </a:xfrm>
          <a:prstGeom prst="rect">
            <a:avLst/>
          </a:prstGeom>
          <a:noFill/>
          <a:ln>
            <a:noFill/>
          </a:ln>
        </p:spPr>
        <p:txBody>
          <a:bodyPr anchorCtr="0" anchor="t" bIns="34275" lIns="68575" spcFirstLastPara="1" rIns="68575" wrap="square" tIns="34275">
            <a:normAutofit/>
          </a:bodyPr>
          <a:lstStyle/>
          <a:p>
            <a:pPr indent="0" lvl="0" marL="0" marR="0" rtl="0" algn="l">
              <a:lnSpc>
                <a:spcPct val="115000"/>
              </a:lnSpc>
              <a:spcBef>
                <a:spcPts val="800"/>
              </a:spcBef>
              <a:spcAft>
                <a:spcPts val="0"/>
              </a:spcAft>
              <a:buSzPts val="1100"/>
              <a:buNone/>
            </a:pPr>
            <a:r>
              <a:rPr lang="ja" sz="2000"/>
              <a:t>アームロボットの場合</a:t>
            </a:r>
            <a:endParaRPr sz="2000"/>
          </a:p>
        </p:txBody>
      </p:sp>
      <p:sp>
        <p:nvSpPr>
          <p:cNvPr id="268" name="Google Shape;268;p37"/>
          <p:cNvSpPr/>
          <p:nvPr/>
        </p:nvSpPr>
        <p:spPr>
          <a:xfrm>
            <a:off x="4677300" y="1274225"/>
            <a:ext cx="4015500" cy="671100"/>
          </a:xfrm>
          <a:prstGeom prst="wedgeRectCallout">
            <a:avLst>
              <a:gd fmla="val -43633" name="adj1"/>
              <a:gd fmla="val 78353" name="adj2"/>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ja" sz="1500" u="none" cap="none" strike="noStrike">
                <a:solidFill>
                  <a:srgbClr val="000000"/>
                </a:solidFill>
                <a:latin typeface="Arial"/>
                <a:ea typeface="Arial"/>
                <a:cs typeface="Arial"/>
                <a:sym typeface="Arial"/>
              </a:rPr>
              <a:t>逆運動学(IK)を計算し、目標に絶対</a:t>
            </a:r>
            <a:br>
              <a:rPr b="0" i="0" lang="ja" sz="1500" u="none" cap="none" strike="noStrike">
                <a:solidFill>
                  <a:srgbClr val="000000"/>
                </a:solidFill>
                <a:latin typeface="Arial"/>
                <a:ea typeface="Arial"/>
                <a:cs typeface="Arial"/>
                <a:sym typeface="Arial"/>
              </a:rPr>
            </a:br>
            <a:r>
              <a:rPr b="0" i="0" lang="ja" sz="1500" u="none" cap="none" strike="noStrike">
                <a:solidFill>
                  <a:srgbClr val="000000"/>
                </a:solidFill>
                <a:latin typeface="Arial"/>
                <a:ea typeface="Arial"/>
                <a:cs typeface="Arial"/>
                <a:sym typeface="Arial"/>
              </a:rPr>
              <a:t>届かないような</a:t>
            </a:r>
            <a:r>
              <a:rPr b="1" i="0" lang="ja" sz="1500" u="none" cap="none" strike="noStrike">
                <a:solidFill>
                  <a:srgbClr val="FF0000"/>
                </a:solidFill>
                <a:latin typeface="Arial"/>
                <a:ea typeface="Arial"/>
                <a:cs typeface="Arial"/>
                <a:sym typeface="Arial"/>
              </a:rPr>
              <a:t>明らかな破綻をチェック</a:t>
            </a:r>
            <a:r>
              <a:rPr b="0" i="0" lang="ja" sz="1500" u="none" cap="none" strike="noStrike">
                <a:solidFill>
                  <a:srgbClr val="000000"/>
                </a:solidFill>
                <a:latin typeface="Arial"/>
                <a:ea typeface="Arial"/>
                <a:cs typeface="Arial"/>
                <a:sym typeface="Arial"/>
              </a:rPr>
              <a:t>する</a:t>
            </a:r>
            <a:endParaRPr b="0" i="0" sz="1500" u="none" cap="none" strike="noStrike">
              <a:solidFill>
                <a:srgbClr val="000000"/>
              </a:solidFill>
              <a:latin typeface="Arial"/>
              <a:ea typeface="Arial"/>
              <a:cs typeface="Arial"/>
              <a:sym typeface="Arial"/>
            </a:endParaRPr>
          </a:p>
        </p:txBody>
      </p:sp>
      <p:sp>
        <p:nvSpPr>
          <p:cNvPr id="269" name="Google Shape;269;p37"/>
          <p:cNvSpPr/>
          <p:nvPr/>
        </p:nvSpPr>
        <p:spPr>
          <a:xfrm>
            <a:off x="1795625" y="4422250"/>
            <a:ext cx="4015500" cy="671100"/>
          </a:xfrm>
          <a:prstGeom prst="wedgeRectCallout">
            <a:avLst>
              <a:gd fmla="val -287" name="adj1"/>
              <a:gd fmla="val -83616"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ja" sz="1500" u="none" cap="none" strike="noStrike">
                <a:solidFill>
                  <a:srgbClr val="000000"/>
                </a:solidFill>
                <a:latin typeface="Arial"/>
                <a:ea typeface="Arial"/>
                <a:cs typeface="Arial"/>
                <a:sym typeface="Arial"/>
              </a:rPr>
              <a:t>シミュレータでものを掴めるか実行し、</a:t>
            </a:r>
            <a:br>
              <a:rPr b="0" i="0" lang="ja" sz="1500" u="none" cap="none" strike="noStrike">
                <a:solidFill>
                  <a:srgbClr val="000000"/>
                </a:solidFill>
                <a:latin typeface="Arial"/>
                <a:ea typeface="Arial"/>
                <a:cs typeface="Arial"/>
                <a:sym typeface="Arial"/>
              </a:rPr>
            </a:br>
            <a:r>
              <a:rPr b="0" i="0" lang="ja" sz="1500" u="none" cap="none" strike="noStrike">
                <a:solidFill>
                  <a:srgbClr val="000000"/>
                </a:solidFill>
                <a:latin typeface="Arial"/>
                <a:ea typeface="Arial"/>
                <a:cs typeface="Arial"/>
                <a:sym typeface="Arial"/>
              </a:rPr>
              <a:t>その</a:t>
            </a:r>
            <a:r>
              <a:rPr b="1" i="0" lang="ja" sz="1500" u="none" cap="none" strike="noStrike">
                <a:solidFill>
                  <a:srgbClr val="FF0000"/>
                </a:solidFill>
                <a:latin typeface="Arial"/>
                <a:ea typeface="Arial"/>
                <a:cs typeface="Arial"/>
                <a:sym typeface="Arial"/>
              </a:rPr>
              <a:t>タスク達成度をスコア化</a:t>
            </a:r>
            <a:r>
              <a:rPr b="0" i="0" lang="ja" sz="1500" u="none" cap="none" strike="noStrike">
                <a:solidFill>
                  <a:srgbClr val="000000"/>
                </a:solidFill>
                <a:latin typeface="Arial"/>
                <a:ea typeface="Arial"/>
                <a:cs typeface="Arial"/>
                <a:sym typeface="Arial"/>
              </a:rPr>
              <a:t>する。</a:t>
            </a:r>
            <a:endParaRPr b="0" i="0" sz="1500" u="none" cap="none" strike="noStrike">
              <a:solidFill>
                <a:srgbClr val="000000"/>
              </a:solidFill>
              <a:latin typeface="Arial"/>
              <a:ea typeface="Arial"/>
              <a:cs typeface="Arial"/>
              <a:sym typeface="Arial"/>
            </a:endParaRPr>
          </a:p>
        </p:txBody>
      </p:sp>
      <p:sp>
        <p:nvSpPr>
          <p:cNvPr id="270" name="Google Shape;270;p37"/>
          <p:cNvSpPr/>
          <p:nvPr/>
        </p:nvSpPr>
        <p:spPr>
          <a:xfrm>
            <a:off x="164775" y="1274225"/>
            <a:ext cx="3429600" cy="671100"/>
          </a:xfrm>
          <a:prstGeom prst="wedgeRectCallout">
            <a:avLst>
              <a:gd fmla="val 45178" name="adj1"/>
              <a:gd fmla="val 72959" name="adj2"/>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 sz="1500" u="none" cap="none" strike="noStrike">
                <a:solidFill>
                  <a:srgbClr val="000000"/>
                </a:solidFill>
                <a:latin typeface="Arial"/>
                <a:ea typeface="Arial"/>
                <a:cs typeface="Arial"/>
                <a:sym typeface="Arial"/>
              </a:rPr>
              <a:t>スコアを基に、最適化アルゴリズムを用いての</a:t>
            </a:r>
            <a:r>
              <a:rPr b="1" i="0" lang="ja" sz="1500" u="none" cap="none" strike="noStrike">
                <a:solidFill>
                  <a:srgbClr val="FF0000"/>
                </a:solidFill>
                <a:latin typeface="Arial"/>
                <a:ea typeface="Arial"/>
                <a:cs typeface="Arial"/>
                <a:sym typeface="Arial"/>
              </a:rPr>
              <a:t>物理パラメータを更新</a:t>
            </a:r>
            <a:endParaRPr b="1" i="0" sz="1500" u="none" cap="none" strike="noStrike">
              <a:solidFill>
                <a:srgbClr val="FF0000"/>
              </a:solidFill>
              <a:latin typeface="Arial"/>
              <a:ea typeface="Arial"/>
              <a:cs typeface="Arial"/>
              <a:sym typeface="Arial"/>
            </a:endParaRPr>
          </a:p>
        </p:txBody>
      </p:sp>
      <p:sp>
        <p:nvSpPr>
          <p:cNvPr id="271" name="Google Shape;271;p37"/>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pic>
        <p:nvPicPr>
          <p:cNvPr id="272" name="Google Shape;272;p37"/>
          <p:cNvPicPr preferRelativeResize="0"/>
          <p:nvPr/>
        </p:nvPicPr>
        <p:blipFill rotWithShape="1">
          <a:blip r:embed="rId4">
            <a:alphaModFix/>
          </a:blip>
          <a:srcRect b="41520" l="0" r="0" t="0"/>
          <a:stretch/>
        </p:blipFill>
        <p:spPr>
          <a:xfrm>
            <a:off x="5895482" y="3723125"/>
            <a:ext cx="879800" cy="1382825"/>
          </a:xfrm>
          <a:prstGeom prst="rect">
            <a:avLst/>
          </a:prstGeom>
          <a:noFill/>
          <a:ln cap="flat" cmpd="sng" w="28575">
            <a:solidFill>
              <a:srgbClr val="B6D7A8"/>
            </a:solidFill>
            <a:prstDash val="solid"/>
            <a:round/>
            <a:headEnd len="sm" w="sm" type="none"/>
            <a:tailEnd len="sm" w="sm" type="none"/>
          </a:ln>
        </p:spPr>
      </p:pic>
      <p:pic>
        <p:nvPicPr>
          <p:cNvPr id="273" name="Google Shape;273;p37"/>
          <p:cNvPicPr preferRelativeResize="0"/>
          <p:nvPr/>
        </p:nvPicPr>
        <p:blipFill rotWithShape="1">
          <a:blip r:embed="rId5">
            <a:alphaModFix/>
          </a:blip>
          <a:srcRect b="28354" l="0" r="0" t="37908"/>
          <a:stretch/>
        </p:blipFill>
        <p:spPr>
          <a:xfrm>
            <a:off x="5385753" y="2471874"/>
            <a:ext cx="3641973" cy="940025"/>
          </a:xfrm>
          <a:prstGeom prst="rect">
            <a:avLst/>
          </a:prstGeom>
          <a:noFill/>
          <a:ln cap="flat" cmpd="sng" w="28575">
            <a:solidFill>
              <a:srgbClr val="4A86E8"/>
            </a:solidFill>
            <a:prstDash val="solid"/>
            <a:round/>
            <a:headEnd len="sm" w="sm" type="none"/>
            <a:tailEnd len="sm" w="sm" type="none"/>
          </a:ln>
        </p:spPr>
      </p:pic>
      <p:sp>
        <p:nvSpPr>
          <p:cNvPr id="274" name="Google Shape;274;p37"/>
          <p:cNvSpPr/>
          <p:nvPr/>
        </p:nvSpPr>
        <p:spPr>
          <a:xfrm>
            <a:off x="7029600" y="1963226"/>
            <a:ext cx="2114424" cy="830682"/>
          </a:xfrm>
          <a:prstGeom prst="irregularSeal1">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ja" sz="1900" u="none" cap="none" strike="noStrike">
                <a:solidFill>
                  <a:srgbClr val="000000"/>
                </a:solidFill>
                <a:latin typeface="Arial"/>
                <a:ea typeface="Arial"/>
                <a:cs typeface="Arial"/>
                <a:sym typeface="Arial"/>
              </a:rPr>
              <a:t>やり直し</a:t>
            </a:r>
            <a:endParaRPr b="1" i="0" sz="1900" u="none" cap="none" strike="noStrike">
              <a:solidFill>
                <a:srgbClr val="000000"/>
              </a:solidFill>
              <a:latin typeface="Arial"/>
              <a:ea typeface="Arial"/>
              <a:cs typeface="Arial"/>
              <a:sym typeface="Arial"/>
            </a:endParaRPr>
          </a:p>
        </p:txBody>
      </p:sp>
      <p:pic>
        <p:nvPicPr>
          <p:cNvPr id="275" name="Google Shape;275;p37"/>
          <p:cNvPicPr preferRelativeResize="0"/>
          <p:nvPr/>
        </p:nvPicPr>
        <p:blipFill rotWithShape="1">
          <a:blip r:embed="rId6">
            <a:alphaModFix/>
          </a:blip>
          <a:srcRect b="61772" l="57918" r="7278" t="11710"/>
          <a:stretch/>
        </p:blipFill>
        <p:spPr>
          <a:xfrm>
            <a:off x="110860" y="1963413"/>
            <a:ext cx="1350426" cy="1028910"/>
          </a:xfrm>
          <a:prstGeom prst="rect">
            <a:avLst/>
          </a:prstGeom>
          <a:noFill/>
          <a:ln>
            <a:noFill/>
          </a:ln>
        </p:spPr>
      </p:pic>
      <p:pic>
        <p:nvPicPr>
          <p:cNvPr id="276" name="Google Shape;276;p37"/>
          <p:cNvPicPr preferRelativeResize="0"/>
          <p:nvPr/>
        </p:nvPicPr>
        <p:blipFill rotWithShape="1">
          <a:blip r:embed="rId7">
            <a:alphaModFix/>
          </a:blip>
          <a:srcRect b="43688" l="85666" r="0" t="34774"/>
          <a:stretch/>
        </p:blipFill>
        <p:spPr>
          <a:xfrm>
            <a:off x="2121125" y="2396925"/>
            <a:ext cx="834149" cy="940025"/>
          </a:xfrm>
          <a:prstGeom prst="rect">
            <a:avLst/>
          </a:prstGeom>
          <a:noFill/>
          <a:ln>
            <a:noFill/>
          </a:ln>
        </p:spPr>
      </p:pic>
      <p:pic>
        <p:nvPicPr>
          <p:cNvPr id="277" name="Google Shape;277;p37"/>
          <p:cNvPicPr preferRelativeResize="0"/>
          <p:nvPr/>
        </p:nvPicPr>
        <p:blipFill rotWithShape="1">
          <a:blip r:embed="rId6">
            <a:alphaModFix/>
          </a:blip>
          <a:srcRect b="19158" l="57885" r="7277" t="57032"/>
          <a:stretch/>
        </p:blipFill>
        <p:spPr>
          <a:xfrm>
            <a:off x="131822" y="2956300"/>
            <a:ext cx="1308524" cy="894325"/>
          </a:xfrm>
          <a:prstGeom prst="rect">
            <a:avLst/>
          </a:prstGeom>
          <a:noFill/>
          <a:ln>
            <a:noFill/>
          </a:ln>
        </p:spPr>
      </p:pic>
      <p:pic>
        <p:nvPicPr>
          <p:cNvPr id="278" name="Google Shape;278;p37"/>
          <p:cNvPicPr preferRelativeResize="0"/>
          <p:nvPr/>
        </p:nvPicPr>
        <p:blipFill rotWithShape="1">
          <a:blip r:embed="rId6">
            <a:alphaModFix/>
          </a:blip>
          <a:srcRect b="21192" l="92581" r="0" t="22597"/>
          <a:stretch/>
        </p:blipFill>
        <p:spPr>
          <a:xfrm>
            <a:off x="1434347" y="1964750"/>
            <a:ext cx="278676" cy="1885875"/>
          </a:xfrm>
          <a:prstGeom prst="rect">
            <a:avLst/>
          </a:prstGeom>
          <a:noFill/>
          <a:ln>
            <a:noFill/>
          </a:ln>
        </p:spPr>
      </p:pic>
      <p:pic>
        <p:nvPicPr>
          <p:cNvPr id="279" name="Google Shape;279;p37"/>
          <p:cNvPicPr preferRelativeResize="0"/>
          <p:nvPr/>
        </p:nvPicPr>
        <p:blipFill rotWithShape="1">
          <a:blip r:embed="rId8">
            <a:alphaModFix/>
          </a:blip>
          <a:srcRect b="0" l="0" r="0" t="0"/>
          <a:stretch/>
        </p:blipFill>
        <p:spPr>
          <a:xfrm>
            <a:off x="1760764" y="2006325"/>
            <a:ext cx="278675" cy="1721231"/>
          </a:xfrm>
          <a:prstGeom prst="rect">
            <a:avLst/>
          </a:prstGeom>
          <a:noFill/>
          <a:ln>
            <a:noFill/>
          </a:ln>
        </p:spPr>
      </p:pic>
      <p:pic>
        <p:nvPicPr>
          <p:cNvPr id="280" name="Google Shape;280;p37"/>
          <p:cNvPicPr preferRelativeResize="0"/>
          <p:nvPr/>
        </p:nvPicPr>
        <p:blipFill rotWithShape="1">
          <a:blip r:embed="rId9">
            <a:alphaModFix/>
          </a:blip>
          <a:srcRect b="0" l="0" r="0" t="0"/>
          <a:stretch/>
        </p:blipFill>
        <p:spPr>
          <a:xfrm>
            <a:off x="6114802" y="102278"/>
            <a:ext cx="727828" cy="602025"/>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