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64989d9fd0cb4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64989d9fd0cb4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
              </a:spcBef>
              <a:spcAft>
                <a:spcPts val="0"/>
              </a:spcAft>
              <a:buClr>
                <a:schemeClr val="dk1"/>
              </a:buClr>
              <a:buSzPts val="1100"/>
              <a:buFont typeface="Arial"/>
              <a:buNone/>
            </a:pPr>
            <a:r>
              <a:rPr b="1" lang="ja" sz="1000">
                <a:solidFill>
                  <a:srgbClr val="CCCCCC"/>
                </a:solidFill>
                <a:highlight>
                  <a:srgbClr val="181818"/>
                </a:highlight>
              </a:rPr>
              <a:t>件名: 軸6（RobotAssembler の小型アーム）のシミュレーションに使うサーボの諸元について</a:t>
            </a:r>
            <a:endParaRPr b="1"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lang="ja" sz="1000">
                <a:solidFill>
                  <a:srgbClr val="CCCCCC"/>
                </a:solidFill>
                <a:highlight>
                  <a:srgbClr val="181818"/>
                </a:highlight>
              </a:rPr>
              <a:t>先生</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lang="ja" sz="1000">
                <a:solidFill>
                  <a:srgbClr val="CCCCCC"/>
                </a:solidFill>
                <a:highlight>
                  <a:srgbClr val="181818"/>
                </a:highlight>
              </a:rPr>
              <a:t>軸6 の追加実験（研究室の部品で組んだ小型アームを、同じ判定にかける実験）で、シミュレーションに入れるサーボの値を決めています。使うサーボは、研究室の機体と同じ XL430-W250-T を想定しています。</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lang="ja" sz="1000">
                <a:solidFill>
                  <a:srgbClr val="CCCCCC"/>
                </a:solidFill>
                <a:highlight>
                  <a:srgbClr val="181818"/>
                </a:highlight>
              </a:rPr>
              <a:t>トルクと速度は ROBOTIS の e-Manual の値（減速比 258.5、停止トルク 1.0 / 1.4 / 1.5 N·m、無負荷 47 / 57 / 61 rpm。それぞれ 9.0 / 11.1 / 12.0 V）を使う予定です。残りの値は公開されていないため、研究室で測った値があれば教えていただけないでしょうか。</a:t>
            </a:r>
            <a:endParaRPr sz="1000">
              <a:solidFill>
                <a:srgbClr val="CCCCCC"/>
              </a:solidFill>
              <a:highlight>
                <a:srgbClr val="181818"/>
              </a:highlight>
            </a:endParaRPr>
          </a:p>
          <a:p>
            <a:pPr indent="-292100" lvl="0" marL="457200" rtl="0" algn="l">
              <a:lnSpc>
                <a:spcPct val="115000"/>
              </a:lnSpc>
              <a:spcBef>
                <a:spcPts val="1000"/>
              </a:spcBef>
              <a:spcAft>
                <a:spcPts val="0"/>
              </a:spcAft>
              <a:buClr>
                <a:srgbClr val="CCCCCC"/>
              </a:buClr>
              <a:buSzPts val="1000"/>
              <a:buAutoNum type="arabicPeriod"/>
            </a:pPr>
            <a:r>
              <a:rPr b="1" lang="ja" sz="1000">
                <a:solidFill>
                  <a:srgbClr val="CCCCCC"/>
                </a:solidFill>
                <a:highlight>
                  <a:srgbClr val="181818"/>
                </a:highlight>
              </a:rPr>
              <a:t>電源の電圧</a:t>
            </a:r>
            <a:r>
              <a:rPr lang="ja" sz="1000">
                <a:solidFill>
                  <a:srgbClr val="CCCCCC"/>
                </a:solidFill>
                <a:highlight>
                  <a:srgbClr val="181818"/>
                </a:highlight>
              </a:rPr>
              <a:t>: 研究室の機体は 9 V・11.1 V・12 V のどれで動かしていますか。トルクと速度の上限がこれで決まります。</a:t>
            </a:r>
            <a:endParaRPr sz="1000">
              <a:solidFill>
                <a:srgbClr val="CCCCCC"/>
              </a:solidFill>
              <a:highlight>
                <a:srgbClr val="181818"/>
              </a:highlight>
            </a:endParaRPr>
          </a:p>
          <a:p>
            <a:pPr indent="-292100" lvl="0" marL="457200" rtl="0" algn="l">
              <a:lnSpc>
                <a:spcPct val="115000"/>
              </a:lnSpc>
              <a:spcBef>
                <a:spcPts val="0"/>
              </a:spcBef>
              <a:spcAft>
                <a:spcPts val="0"/>
              </a:spcAft>
              <a:buClr>
                <a:srgbClr val="CCCCCC"/>
              </a:buClr>
              <a:buSzPts val="1000"/>
              <a:buAutoNum type="arabicPeriod"/>
            </a:pPr>
            <a:r>
              <a:rPr b="1" lang="ja" sz="1000">
                <a:solidFill>
                  <a:srgbClr val="CCCCCC"/>
                </a:solidFill>
                <a:highlight>
                  <a:srgbClr val="181818"/>
                </a:highlight>
              </a:rPr>
              <a:t>回転子の慣性</a:t>
            </a:r>
            <a:r>
              <a:rPr lang="ja" sz="1000">
                <a:solidFill>
                  <a:srgbClr val="CCCCCC"/>
                </a:solidFill>
                <a:highlight>
                  <a:srgbClr val="181818"/>
                </a:highlight>
              </a:rPr>
              <a:t>（モーターの回転子と減速機を、出力軸から見た値）: 測った値はありますか。</a:t>
            </a:r>
            <a:endParaRPr sz="1000">
              <a:solidFill>
                <a:srgbClr val="CCCCCC"/>
              </a:solidFill>
              <a:highlight>
                <a:srgbClr val="181818"/>
              </a:highlight>
            </a:endParaRPr>
          </a:p>
          <a:p>
            <a:pPr indent="-292100" lvl="0" marL="457200" rtl="0" algn="l">
              <a:lnSpc>
                <a:spcPct val="115000"/>
              </a:lnSpc>
              <a:spcBef>
                <a:spcPts val="0"/>
              </a:spcBef>
              <a:spcAft>
                <a:spcPts val="0"/>
              </a:spcAft>
              <a:buClr>
                <a:srgbClr val="CCCCCC"/>
              </a:buClr>
              <a:buSzPts val="1000"/>
              <a:buAutoNum type="arabicPeriod"/>
            </a:pPr>
            <a:r>
              <a:rPr b="1" lang="ja" sz="1000">
                <a:solidFill>
                  <a:srgbClr val="CCCCCC"/>
                </a:solidFill>
                <a:highlight>
                  <a:srgbClr val="181818"/>
                </a:highlight>
              </a:rPr>
              <a:t>摩擦</a:t>
            </a:r>
            <a:r>
              <a:rPr lang="ja" sz="1000">
                <a:solidFill>
                  <a:srgbClr val="CCCCCC"/>
                </a:solidFill>
                <a:highlight>
                  <a:srgbClr val="181818"/>
                </a:highlight>
              </a:rPr>
              <a:t>（静止摩擦やクーロン摩擦）: 測った値はありますか。</a:t>
            </a:r>
            <a:endParaRPr sz="1000">
              <a:solidFill>
                <a:srgbClr val="CCCCCC"/>
              </a:solidFill>
              <a:highlight>
                <a:srgbClr val="181818"/>
              </a:highlight>
            </a:endParaRPr>
          </a:p>
          <a:p>
            <a:pPr indent="-292100" lvl="0" marL="457200" rtl="0" algn="l">
              <a:lnSpc>
                <a:spcPct val="115000"/>
              </a:lnSpc>
              <a:spcBef>
                <a:spcPts val="0"/>
              </a:spcBef>
              <a:spcAft>
                <a:spcPts val="0"/>
              </a:spcAft>
              <a:buClr>
                <a:srgbClr val="CCCCCC"/>
              </a:buClr>
              <a:buSzPts val="1000"/>
              <a:buAutoNum type="arabicPeriod"/>
            </a:pPr>
            <a:r>
              <a:rPr b="1" lang="ja" sz="1000">
                <a:solidFill>
                  <a:srgbClr val="CCCCCC"/>
                </a:solidFill>
                <a:highlight>
                  <a:srgbClr val="181818"/>
                </a:highlight>
              </a:rPr>
              <a:t>減衰（粘性）</a:t>
            </a:r>
            <a:r>
              <a:rPr lang="ja" sz="1000">
                <a:solidFill>
                  <a:srgbClr val="CCCCCC"/>
                </a:solidFill>
                <a:highlight>
                  <a:srgbClr val="181818"/>
                </a:highlight>
              </a:rPr>
              <a:t>: 測った値はありますか。</a:t>
            </a:r>
            <a:endParaRPr sz="1000">
              <a:solidFill>
                <a:srgbClr val="CCCCCC"/>
              </a:solidFill>
              <a:highlight>
                <a:srgbClr val="181818"/>
              </a:highlight>
            </a:endParaRPr>
          </a:p>
          <a:p>
            <a:pPr indent="0" lvl="0" marL="0" rtl="0" algn="l">
              <a:lnSpc>
                <a:spcPct val="115000"/>
              </a:lnSpc>
              <a:spcBef>
                <a:spcPts val="1000"/>
              </a:spcBef>
              <a:spcAft>
                <a:spcPts val="0"/>
              </a:spcAft>
              <a:buClr>
                <a:schemeClr val="dk1"/>
              </a:buClr>
              <a:buSzPts val="1100"/>
              <a:buFont typeface="Arial"/>
              <a:buNone/>
            </a:pPr>
            <a:r>
              <a:rPr lang="ja" sz="1000">
                <a:solidFill>
                  <a:srgbClr val="CCCCCC"/>
                </a:solidFill>
                <a:highlight>
                  <a:srgbClr val="181818"/>
                </a:highlight>
              </a:rPr>
              <a:t>測った値が無い場合は、文献の近似（例えば減衰は「停止トルク ÷ 無負荷速度」で、12 V なら約 0.235 N·m·s/rad）を、出どころを明記したうえで使おうと考えています。この進め方でよいかも、あわせてご意見をいただけると助かります。</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lang="ja" sz="1000">
                <a:solidFill>
                  <a:srgbClr val="CCCCCC"/>
                </a:solidFill>
                <a:highlight>
                  <a:srgbClr val="181818"/>
                </a:highlight>
              </a:rPr>
              <a:t>なお、これらの値は 1 つの出どころでそろえるつもりです。トルクだけを実物の値にして慣性を仮の値のままにすると、腕の動きが実物と大きくずれてしまうためです。</a:t>
            </a:r>
            <a:endParaRPr sz="1000">
              <a:solidFill>
                <a:srgbClr val="CCCCCC"/>
              </a:solidFill>
              <a:highlight>
                <a:srgbClr val="181818"/>
              </a:highlight>
            </a:endParaRPr>
          </a:p>
          <a:p>
            <a:pPr indent="0" lvl="0" marL="0" rtl="0" algn="l">
              <a:spcBef>
                <a:spcPts val="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PPO</a:t>
            </a:r>
            <a:r>
              <a:rPr lang="ja"/>
              <a:t>の実験に対する前提</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PPO</a:t>
            </a:r>
            <a:r>
              <a:rPr lang="ja"/>
              <a:t>に新たに開発した項目はなく、</a:t>
            </a:r>
            <a:br>
              <a:rPr lang="ja"/>
            </a:br>
            <a:r>
              <a:rPr lang="ja"/>
              <a:t>①色々変えたから論文で言ってた主張が成り立つか</a:t>
            </a:r>
            <a:br>
              <a:rPr lang="ja"/>
            </a:br>
            <a:r>
              <a:rPr lang="ja"/>
              <a:t>②論文で明言されていないけど本研究には必要だから数値で確認したよ</a:t>
            </a:r>
            <a:br>
              <a:rPr lang="ja"/>
            </a:br>
            <a:r>
              <a:rPr lang="ja"/>
              <a:t>の2つ。</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