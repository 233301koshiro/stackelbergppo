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1"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D4D3EE-425B-4CB4-8343-3C7580F65749}">
  <a:tblStyle styleId="{B9D4D3EE-425B-4CB4-8343-3C7580F6574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233301koshiro/StackelbergPPO/blob/main/docs/%E7%A0%94%E7%A9%B6%E5%BF%9C%E7%94%A8/%E5%8F%B0%E5%B8%B3/%E5%AE%9F%E9%A8%93%E7%B3%BB%E8%AD%9C.md"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f0a30138_2_9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t>それでは研究発表の方に移らせていただきます。</a:t>
            </a:r>
            <a:endParaRPr/>
          </a:p>
          <a:p>
            <a:pPr indent="0" lvl="0" marL="0" rtl="0" algn="l">
              <a:lnSpc>
                <a:spcPct val="100000"/>
              </a:lnSpc>
              <a:spcBef>
                <a:spcPts val="0"/>
              </a:spcBef>
              <a:spcAft>
                <a:spcPts val="0"/>
              </a:spcAft>
              <a:buSzPts val="1100"/>
              <a:buFont typeface="Arial"/>
              <a:buNone/>
            </a:pPr>
            <a:r>
              <a:rPr lang="ja"/>
              <a:t>手描きスケッチからロボットモデルを</a:t>
            </a:r>
            <a:endParaRPr/>
          </a:p>
          <a:p>
            <a:pPr indent="0" lvl="0" marL="0" rtl="0" algn="l">
              <a:lnSpc>
                <a:spcPct val="100000"/>
              </a:lnSpc>
              <a:spcBef>
                <a:spcPts val="0"/>
              </a:spcBef>
              <a:spcAft>
                <a:spcPts val="0"/>
              </a:spcAft>
              <a:buSzPts val="1100"/>
              <a:buFont typeface="Arial"/>
              <a:buNone/>
            </a:pPr>
            <a:r>
              <a:rPr lang="ja"/>
              <a:t>生成するシステムの開発</a:t>
            </a:r>
            <a:r>
              <a:rPr lang="ja" sz="1100"/>
              <a:t>と題しまして豊橋技術科学大学　情報・ロボットシステム研究室の</a:t>
            </a:r>
            <a:r>
              <a:rPr lang="ja"/>
              <a:t>秋田</a:t>
            </a:r>
            <a:r>
              <a:rPr lang="ja" sz="1100"/>
              <a:t>が発表させていただきます。</a:t>
            </a:r>
            <a:endParaRPr sz="1100"/>
          </a:p>
          <a:p>
            <a:pPr indent="0" lvl="0" marL="0" rtl="0" algn="l">
              <a:lnSpc>
                <a:spcPct val="100000"/>
              </a:lnSpc>
              <a:spcBef>
                <a:spcPts val="0"/>
              </a:spcBef>
              <a:spcAft>
                <a:spcPts val="0"/>
              </a:spcAft>
              <a:buSzPts val="1100"/>
              <a:buFont typeface="Arial"/>
              <a:buNone/>
            </a:pPr>
            <a:r>
              <a:rPr lang="ja"/>
              <a:t>(12)</a:t>
            </a:r>
            <a:endParaRPr/>
          </a:p>
        </p:txBody>
      </p:sp>
      <p:sp>
        <p:nvSpPr>
          <p:cNvPr id="150" name="Google Shape;150;g3f6f0a30138_2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f6f0a30138_2_9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a:t>研究背景です。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近年、生成AIやソフトウェア技術の発展により、ロボットのプログラム開発は以前よりも高速化しています。</a:t>
            </a:r>
            <a:br>
              <a:rPr lang="ja">
                <a:solidFill>
                  <a:schemeClr val="dk1"/>
                </a:solidFill>
              </a:rPr>
            </a:br>
            <a:r>
              <a:rPr lang="ja">
                <a:solidFill>
                  <a:schemeClr val="dk1"/>
                </a:solidFill>
              </a:rPr>
              <a:t> 例えば、制御プログラムや認識処理などは、既存のライブラリやAIを活用することで、短時間で実装・検証しやすくなっています。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そして、そのようなプログラムや思いついたアイデアの妥当性試すためには、ロボット本体のモデルが必要になります。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しかし、プログラムの一方でロボットの設計はソフトウェアほど高速化されていないのが現状です。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a:t>
            </a:r>
            <a:br>
              <a:rPr lang="ja">
                <a:solidFill>
                  <a:schemeClr val="dk1"/>
                </a:solidFill>
              </a:rPr>
            </a:br>
            <a:r>
              <a:rPr lang="ja">
                <a:solidFill>
                  <a:schemeClr val="dk1"/>
                </a:solidFill>
              </a:rPr>
              <a:t> </a:t>
            </a:r>
            <a:r>
              <a:rPr b="1" lang="ja">
                <a:solidFill>
                  <a:schemeClr val="dk1"/>
                </a:solidFill>
              </a:rPr>
              <a:t>「ロボットでやりたいアイデアはあるが、それを試すための機体モデルをすぐに用意できない」</a:t>
            </a:r>
            <a:br>
              <a:rPr b="1" lang="ja">
                <a:solidFill>
                  <a:schemeClr val="dk1"/>
                </a:solidFill>
              </a:rPr>
            </a:br>
            <a:r>
              <a:rPr lang="ja">
                <a:solidFill>
                  <a:schemeClr val="dk1"/>
                </a:solidFill>
              </a:rPr>
              <a:t> という点が、ロボット開発の初期段階における課題になっています。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(40)</a:t>
            </a:r>
            <a:endParaRPr>
              <a:solidFill>
                <a:schemeClr val="dk1"/>
              </a:solidFill>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157" name="Google Shape;157;g3f6f0a30138_2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6f0a30138_2_115: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solidFill>
                  <a:schemeClr val="dk1"/>
                </a:solidFill>
              </a:rPr>
              <a:t>現在、シミュレーション用のロボットモデルを作る場合、多くはCADなどを用いて機体モデルを設計します。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CADは、寸法や形状を正確に決められるため、実機製作や量産を見据えた設計には非常に有効です。</a:t>
            </a:r>
            <a:br>
              <a:rPr lang="ja">
                <a:solidFill>
                  <a:schemeClr val="dk1"/>
                </a:solidFill>
              </a:rPr>
            </a:br>
            <a:r>
              <a:rPr lang="ja">
                <a:solidFill>
                  <a:schemeClr val="dk1"/>
                </a:solidFill>
              </a:rPr>
              <a:t> しかし、アイデアをまず試したい段階では、関節の可動域、関節軸の方向、強度、質量など、多くの要素を考える必要があり、ユーザーへの負担が大きいという問題があります。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特に、ハードウェアを専門としていないソフトウェアエンジニアにとっては、</a:t>
            </a:r>
            <a:br>
              <a:rPr lang="ja">
                <a:solidFill>
                  <a:schemeClr val="dk1"/>
                </a:solidFill>
              </a:rPr>
            </a:br>
            <a:r>
              <a:rPr lang="ja">
                <a:solidFill>
                  <a:schemeClr val="dk1"/>
                </a:solidFill>
              </a:rPr>
              <a:t> </a:t>
            </a:r>
            <a:r>
              <a:rPr b="1" lang="ja">
                <a:solidFill>
                  <a:schemeClr val="dk1"/>
                </a:solidFill>
              </a:rPr>
              <a:t>「プログラムは作れるが、それを検証するためのロボットモデルを設計するのが難しい」</a:t>
            </a:r>
            <a:br>
              <a:rPr b="1" lang="ja">
                <a:solidFill>
                  <a:schemeClr val="dk1"/>
                </a:solidFill>
              </a:rPr>
            </a:br>
            <a:r>
              <a:rPr lang="ja">
                <a:solidFill>
                  <a:schemeClr val="dk1"/>
                </a:solidFill>
              </a:rPr>
              <a:t> という問題があり、プログラム開発側の「まずは試したい、アイデアの妥当性を見てみたい」という要求をすぐに満たすことができません。</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本研究では、ソフトウェアエンジニアにとっての、この初期検証段階の難易度を下げることを目指しています。</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(40)</a:t>
            </a:r>
            <a:endParaRPr>
              <a:solidFill>
                <a:schemeClr val="dk1"/>
              </a:solidFill>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174" name="Google Shape;174;g3f6f0a30138_2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f0a30138_2_13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ロボット設計の難易度を下げるための関連研究として、RobotSketchという研究があります。</a:t>
            </a:r>
            <a:br>
              <a:rPr lang="ja"/>
            </a:br>
            <a:r>
              <a:rPr lang="ja"/>
              <a:t> これは、VR空間上でロボットの形状を3次元的にスケッチし、そのロボットに対して強化学習を用いて歩行動作を獲得させる、という研究です。</a:t>
            </a:r>
            <a:endParaRPr/>
          </a:p>
          <a:p>
            <a:pPr indent="0" lvl="0" marL="0" rtl="0" algn="l">
              <a:lnSpc>
                <a:spcPct val="115000"/>
              </a:lnSpc>
              <a:spcBef>
                <a:spcPts val="1200"/>
              </a:spcBef>
              <a:spcAft>
                <a:spcPts val="0"/>
              </a:spcAft>
              <a:buClr>
                <a:schemeClr val="dk1"/>
              </a:buClr>
              <a:buSzPts val="1100"/>
              <a:buFont typeface="Arial"/>
              <a:buNone/>
            </a:pPr>
            <a:r>
              <a:rPr lang="ja"/>
              <a:t>この研究は、</a:t>
            </a:r>
            <a:r>
              <a:rPr b="1" lang="ja" sz="1400"/>
              <a:t>ロボット設計の初期段階を高速化する</a:t>
            </a:r>
            <a:r>
              <a:rPr lang="ja"/>
              <a:t>という点で、本研究と近い考え方を持っていますが、</a:t>
            </a:r>
            <a:endParaRPr/>
          </a:p>
          <a:p>
            <a:pPr indent="0" lvl="0" marL="0" rtl="0" algn="l">
              <a:lnSpc>
                <a:spcPct val="115000"/>
              </a:lnSpc>
              <a:spcBef>
                <a:spcPts val="1200"/>
              </a:spcBef>
              <a:spcAft>
                <a:spcPts val="0"/>
              </a:spcAft>
              <a:buClr>
                <a:schemeClr val="dk1"/>
              </a:buClr>
              <a:buSzPts val="1100"/>
              <a:buFont typeface="Arial"/>
              <a:buNone/>
            </a:pPr>
            <a:r>
              <a:rPr lang="ja"/>
              <a:t>一方で、VR空間上で3次元的にロボットを描く場合でも、</a:t>
            </a:r>
            <a:r>
              <a:rPr b="1" lang="ja" sz="1200"/>
              <a:t>関節配置や物理的に成立する構造</a:t>
            </a:r>
            <a:r>
              <a:rPr lang="ja"/>
              <a:t>については、ある程度ユーザが考える必要があり、これもやはり専門性が高いものとなっています。</a:t>
            </a:r>
            <a:endParaRPr/>
          </a:p>
          <a:p>
            <a:pPr indent="0" lvl="0" marL="0" rtl="0" algn="l">
              <a:lnSpc>
                <a:spcPct val="100000"/>
              </a:lnSpc>
              <a:spcBef>
                <a:spcPts val="1200"/>
              </a:spcBef>
              <a:spcAft>
                <a:spcPts val="0"/>
              </a:spcAft>
              <a:buSzPts val="1100"/>
              <a:buFont typeface="Arial"/>
              <a:buNone/>
            </a:pPr>
            <a:r>
              <a:rPr lang="ja"/>
              <a:t>(34)</a:t>
            </a:r>
            <a:endParaRPr/>
          </a:p>
        </p:txBody>
      </p:sp>
      <p:sp>
        <p:nvSpPr>
          <p:cNvPr id="192" name="Google Shape;192;g3f6f0a30138_2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6f0a30138_2_14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そこで本研究の目的は、ハードウェアの専門知識がない人でも、ロボットに対するアイデアを直感的に形にし、すぐにシミュレーション上で検証できる環境を構築することです。</a:t>
            </a:r>
            <a:endParaRPr/>
          </a:p>
          <a:p>
            <a:pPr indent="0" lvl="0" marL="0" rtl="0" algn="l">
              <a:lnSpc>
                <a:spcPct val="115000"/>
              </a:lnSpc>
              <a:spcBef>
                <a:spcPts val="1200"/>
              </a:spcBef>
              <a:spcAft>
                <a:spcPts val="0"/>
              </a:spcAft>
              <a:buClr>
                <a:schemeClr val="dk1"/>
              </a:buClr>
              <a:buSzPts val="1100"/>
              <a:buFont typeface="Arial"/>
              <a:buNone/>
            </a:pPr>
            <a:r>
              <a:rPr lang="ja"/>
              <a:t>そのための入力手段として、本研究では「手描きスケッチ」を提案します。</a:t>
            </a:r>
            <a:endParaRPr/>
          </a:p>
          <a:p>
            <a:pPr indent="0" lvl="0" marL="0" rtl="0" algn="l">
              <a:lnSpc>
                <a:spcPct val="115000"/>
              </a:lnSpc>
              <a:spcBef>
                <a:spcPts val="1200"/>
              </a:spcBef>
              <a:spcAft>
                <a:spcPts val="0"/>
              </a:spcAft>
              <a:buClr>
                <a:schemeClr val="dk1"/>
              </a:buClr>
              <a:buSzPts val="1100"/>
              <a:buFont typeface="Arial"/>
              <a:buNone/>
            </a:pPr>
            <a:r>
              <a:rPr lang="ja"/>
              <a:t>手描きであれば、CADのような専門的な操作を覚える必要がなく、大まかな形状や構造を直感的に表現できます。</a:t>
            </a:r>
            <a:endParaRPr/>
          </a:p>
          <a:p>
            <a:pPr indent="0" lvl="0" marL="0" rtl="0" algn="l">
              <a:lnSpc>
                <a:spcPct val="115000"/>
              </a:lnSpc>
              <a:spcBef>
                <a:spcPts val="1200"/>
              </a:spcBef>
              <a:spcAft>
                <a:spcPts val="0"/>
              </a:spcAft>
              <a:buClr>
                <a:schemeClr val="dk1"/>
              </a:buClr>
              <a:buSzPts val="1100"/>
              <a:buFont typeface="Arial"/>
              <a:buNone/>
            </a:pPr>
            <a:r>
              <a:rPr lang="ja"/>
              <a:t>最終的には、手描きスケッチを入力として、ロボットモデルを生成し、シミュレータ上で動作検証できるシステムを目指します。</a:t>
            </a:r>
            <a:endParaRPr/>
          </a:p>
          <a:p>
            <a:pPr indent="0" lvl="0" marL="0" rtl="0" algn="l">
              <a:lnSpc>
                <a:spcPct val="115000"/>
              </a:lnSpc>
              <a:spcBef>
                <a:spcPts val="1200"/>
              </a:spcBef>
              <a:spcAft>
                <a:spcPts val="0"/>
              </a:spcAft>
              <a:buClr>
                <a:schemeClr val="dk1"/>
              </a:buClr>
              <a:buSzPts val="1100"/>
              <a:buFont typeface="Arial"/>
              <a:buNone/>
            </a:pPr>
            <a:r>
              <a:rPr lang="ja"/>
              <a:t>(33)</a:t>
            </a:r>
            <a:endParaRPr/>
          </a:p>
          <a:p>
            <a:pPr indent="0" lvl="0" marL="0" rtl="0" algn="l">
              <a:lnSpc>
                <a:spcPct val="100000"/>
              </a:lnSpc>
              <a:spcBef>
                <a:spcPts val="120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03" name="Google Shape;203;g3f6f0a30138_2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f6f0a30138_2_158: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lang="ja">
                <a:solidFill>
                  <a:schemeClr val="dk1"/>
                </a:solidFill>
              </a:rPr>
              <a:t>次に、本研究が目指すロボット設計における立ち位置について説明します。このグラフの縦軸は設計の緻密さ・専門性、そして横軸は『検証速度』を表しています。従来のCADを用いた設計は、グラフの左上に位置します。緻密な設計が可能ですが、専門外の人間では検証速度が遅いのが現状です。また、関連研究で紹介したVRロボットスケッチは中央に位置し、直感的ではありますが、物理整合性を人間が考える手間があり、速度には限界がありま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一方で、本研究が対象とするのは、</a:t>
            </a:r>
            <a:r>
              <a:rPr b="1" lang="ja">
                <a:solidFill>
                  <a:schemeClr val="dk1"/>
                </a:solidFill>
              </a:rPr>
              <a:t>「このロボットの形なら、このタスクができそうか」</a:t>
            </a:r>
            <a:br>
              <a:rPr b="1" lang="ja">
                <a:solidFill>
                  <a:schemeClr val="dk1"/>
                </a:solidFill>
              </a:rPr>
            </a:br>
            <a:r>
              <a:rPr lang="ja">
                <a:solidFill>
                  <a:schemeClr val="dk1"/>
                </a:solidFill>
              </a:rPr>
              <a:t> を短時間で確認する、アイデア検証のフェーズです。</a:t>
            </a:r>
            <a:endParaRPr/>
          </a:p>
          <a:p>
            <a:pPr indent="0" lvl="0" marL="0" rtl="0" algn="l">
              <a:lnSpc>
                <a:spcPct val="115000"/>
              </a:lnSpc>
              <a:spcBef>
                <a:spcPts val="1200"/>
              </a:spcBef>
              <a:spcAft>
                <a:spcPts val="0"/>
              </a:spcAft>
              <a:buClr>
                <a:schemeClr val="dk1"/>
              </a:buClr>
              <a:buSzPts val="1100"/>
              <a:buFont typeface="Arial"/>
              <a:buNone/>
            </a:pPr>
            <a:r>
              <a:rPr lang="ja">
                <a:solidFill>
                  <a:schemeClr val="dk1"/>
                </a:solidFill>
              </a:rPr>
              <a:t>そのため、本研究の位置づけは、量産を見据えた精密な設計を代替するものではなく、</a:t>
            </a:r>
            <a:br>
              <a:rPr lang="ja">
                <a:solidFill>
                  <a:schemeClr val="dk1"/>
                </a:solidFill>
              </a:rPr>
            </a:br>
            <a:r>
              <a:rPr lang="ja">
                <a:solidFill>
                  <a:schemeClr val="dk1"/>
                </a:solidFill>
              </a:rPr>
              <a:t> </a:t>
            </a:r>
            <a:r>
              <a:rPr b="1" lang="ja">
                <a:solidFill>
                  <a:schemeClr val="dk1"/>
                </a:solidFill>
              </a:rPr>
              <a:t>設計の0段階目である、頭の中のアイデアを数分で形にし、検証の入口に乗せるための設計支援となります。</a:t>
            </a:r>
            <a:br>
              <a:rPr b="1" lang="ja">
                <a:solidFill>
                  <a:schemeClr val="dk1"/>
                </a:solidFill>
              </a:rPr>
            </a:br>
            <a:r>
              <a:rPr lang="ja">
                <a:solidFill>
                  <a:schemeClr val="dk1"/>
                </a:solidFill>
              </a:rPr>
              <a:t>(46)</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220" name="Google Shape;220;g3f6f0a30138_2_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6f0a30138_0_0: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ja"/>
              <a:t>提案するシステムの全体像です。大きく4つの工程からなります。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1つ目、スケッチ整形です。手描きを、後段が読める設計図スタイルの絵に描き直させます。</a:t>
            </a:r>
            <a:endParaRPr/>
          </a:p>
          <a:p>
            <a:pPr indent="0" lvl="0" marL="0" rtl="0" algn="l">
              <a:spcBef>
                <a:spcPts val="0"/>
              </a:spcBef>
              <a:spcAft>
                <a:spcPts val="0"/>
              </a:spcAft>
              <a:buClr>
                <a:schemeClr val="dk1"/>
              </a:buClr>
              <a:buSzPts val="1100"/>
              <a:buFont typeface="Arial"/>
              <a:buNone/>
            </a:pPr>
            <a:r>
              <a:rPr lang="ja"/>
              <a:t>ここが一番の設計判断です。</a:t>
            </a:r>
            <a:endParaRPr/>
          </a:p>
          <a:p>
            <a:pPr indent="0" lvl="0" marL="0" rtl="0" algn="l">
              <a:spcBef>
                <a:spcPts val="0"/>
              </a:spcBef>
              <a:spcAft>
                <a:spcPts val="0"/>
              </a:spcAft>
              <a:buClr>
                <a:schemeClr val="dk1"/>
              </a:buClr>
              <a:buSzPts val="1100"/>
              <a:buFont typeface="Arial"/>
              <a:buNone/>
            </a:pPr>
            <a:r>
              <a:rPr lang="ja"/>
              <a:t>関節がどこにあるかを、あとから推し量るのではなく、最初に描かせておく、という方針です。</a:t>
            </a:r>
            <a:endParaRPr/>
          </a:p>
          <a:p>
            <a:pPr indent="0" lvl="0" marL="0" rtl="0" algn="l">
              <a:spcBef>
                <a:spcPts val="0"/>
              </a:spcBef>
              <a:spcAft>
                <a:spcPts val="0"/>
              </a:spcAft>
              <a:buClr>
                <a:schemeClr val="dk1"/>
              </a:buClr>
              <a:buSzPts val="1100"/>
              <a:buFont typeface="Arial"/>
              <a:buNone/>
            </a:pPr>
            <a:r>
              <a:rPr lang="ja"/>
              <a:t>具体的には、生成AIに「関節の位置にマゼンタの球を描け」と指示します。</a:t>
            </a:r>
            <a:endParaRPr/>
          </a:p>
          <a:p>
            <a:pPr indent="0" lvl="0" marL="0" rtl="0" algn="l">
              <a:spcBef>
                <a:spcPts val="0"/>
              </a:spcBef>
              <a:spcAft>
                <a:spcPts val="0"/>
              </a:spcAft>
              <a:buClr>
                <a:schemeClr val="dk1"/>
              </a:buClr>
              <a:buSzPts val="1100"/>
              <a:buFont typeface="Arial"/>
              <a:buNone/>
            </a:pPr>
            <a:r>
              <a:rPr lang="ja"/>
              <a:t>推し量る方式だと、間違えたときにも、それらしい答えが返ってくるので、気づけません。</a:t>
            </a:r>
            <a:endParaRPr/>
          </a:p>
          <a:p>
            <a:pPr indent="0" lvl="0" marL="0" rtl="0" algn="l">
              <a:spcBef>
                <a:spcPts val="0"/>
              </a:spcBef>
              <a:spcAft>
                <a:spcPts val="0"/>
              </a:spcAft>
              <a:buClr>
                <a:schemeClr val="dk1"/>
              </a:buClr>
              <a:buSzPts val="1100"/>
              <a:buFont typeface="Arial"/>
              <a:buNone/>
            </a:pPr>
            <a:r>
              <a:rPr lang="ja"/>
              <a:t>描かせておけば、あとは色を探すだけです。</a:t>
            </a:r>
            <a:endParaRPr/>
          </a:p>
          <a:p>
            <a:pPr indent="0" lvl="0" marL="0" rtl="0" algn="l">
              <a:spcBef>
                <a:spcPts val="0"/>
              </a:spcBef>
              <a:spcAft>
                <a:spcPts val="0"/>
              </a:spcAft>
              <a:buClr>
                <a:schemeClr val="dk1"/>
              </a:buClr>
              <a:buSzPts val="1100"/>
              <a:buFont typeface="Arial"/>
              <a:buNone/>
            </a:pPr>
            <a:r>
              <a:rPr lang="ja"/>
              <a:t>球が3個見つからなければ、その場で分かって止まります。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2つ目、形にするです。その絵を立体にし、球の位置で関節を見つけ、</a:t>
            </a:r>
            <a:endParaRPr/>
          </a:p>
          <a:p>
            <a:pPr indent="0" lvl="0" marL="0" rtl="0" algn="l">
              <a:spcBef>
                <a:spcPts val="0"/>
              </a:spcBef>
              <a:spcAft>
                <a:spcPts val="0"/>
              </a:spcAft>
              <a:buClr>
                <a:schemeClr val="dk1"/>
              </a:buClr>
              <a:buSzPts val="1100"/>
              <a:buFont typeface="Arial"/>
              <a:buNone/>
            </a:pPr>
            <a:r>
              <a:rPr lang="ja"/>
              <a:t>リンクに切り分け、寸法を測って、シミュレータのモデルにします。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3つ目、タスクに向くか調べるです。ここで費用が大きく分かれます。</a:t>
            </a:r>
            <a:endParaRPr/>
          </a:p>
          <a:p>
            <a:pPr indent="0" lvl="0" marL="0" rtl="0" algn="l">
              <a:spcBef>
                <a:spcPts val="0"/>
              </a:spcBef>
              <a:spcAft>
                <a:spcPts val="0"/>
              </a:spcAft>
              <a:buClr>
                <a:schemeClr val="dk1"/>
              </a:buClr>
              <a:buSzPts val="1100"/>
              <a:buFont typeface="Arial"/>
              <a:buNone/>
            </a:pPr>
            <a:r>
              <a:rPr lang="ja"/>
              <a:t>まず幾何だけで、目一杯伸ばしても届かない形を、学習せずに棄却します。約1秒です。</a:t>
            </a:r>
            <a:endParaRPr/>
          </a:p>
          <a:p>
            <a:pPr indent="0" lvl="0" marL="0" rtl="0" algn="l">
              <a:spcBef>
                <a:spcPts val="0"/>
              </a:spcBef>
              <a:spcAft>
                <a:spcPts val="0"/>
              </a:spcAft>
              <a:buClr>
                <a:schemeClr val="dk1"/>
              </a:buClr>
              <a:buSzPts val="1100"/>
              <a:buFont typeface="Arial"/>
              <a:buNone/>
            </a:pPr>
            <a:r>
              <a:rPr lang="ja"/>
              <a:t>このとき「腕全体を何倍に伸ばせばよいか」という倍率も一緒に返します。</a:t>
            </a:r>
            <a:endParaRPr/>
          </a:p>
          <a:p>
            <a:pPr indent="0" lvl="0" marL="0" rtl="0" algn="l">
              <a:spcBef>
                <a:spcPts val="0"/>
              </a:spcBef>
              <a:spcAft>
                <a:spcPts val="0"/>
              </a:spcAft>
              <a:buClr>
                <a:schemeClr val="dk1"/>
              </a:buClr>
              <a:buSzPts val="1100"/>
              <a:buFont typeface="Arial"/>
              <a:buNone/>
            </a:pPr>
            <a:r>
              <a:rPr lang="ja"/>
              <a:t>棄却されなかったものだけ、学習して比べます。こちらは約4時間かかります。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4つ目、フィードバックを返すです。</a:t>
            </a:r>
            <a:endParaRPr/>
          </a:p>
          <a:p>
            <a:pPr indent="0" lvl="0" marL="0" rtl="0" algn="l">
              <a:spcBef>
                <a:spcPts val="0"/>
              </a:spcBef>
              <a:spcAft>
                <a:spcPts val="0"/>
              </a:spcAft>
              <a:buClr>
                <a:schemeClr val="dk1"/>
              </a:buClr>
              <a:buSzPts val="1100"/>
              <a:buFont typeface="Arial"/>
              <a:buNone/>
            </a:pPr>
            <a:r>
              <a:rPr lang="ja"/>
              <a:t>学習した結果から、なぜその成績になったのかを読んで返します。</a:t>
            </a:r>
            <a:endParaRPr/>
          </a:p>
          <a:p>
            <a:pPr indent="0" lvl="0" marL="0" rtl="0" algn="l">
              <a:spcBef>
                <a:spcPts val="0"/>
              </a:spcBef>
              <a:spcAft>
                <a:spcPts val="0"/>
              </a:spcAft>
              <a:buClr>
                <a:schemeClr val="dk1"/>
              </a:buClr>
              <a:buSzPts val="1100"/>
              <a:buFont typeface="Arial"/>
              <a:buNone/>
            </a:pPr>
            <a:r>
              <a:rPr lang="ja"/>
              <a:t>たとえば「関節3が可動域の7パーセントしか使っていないので、固定してよい」のように、</a:t>
            </a:r>
            <a:endParaRPr/>
          </a:p>
          <a:p>
            <a:pPr indent="0" lvl="0" marL="0" rtl="0" algn="l">
              <a:spcBef>
                <a:spcPts val="0"/>
              </a:spcBef>
              <a:spcAft>
                <a:spcPts val="0"/>
              </a:spcAft>
              <a:buClr>
                <a:schemeClr val="dk1"/>
              </a:buClr>
              <a:buSzPts val="1100"/>
              <a:buFont typeface="Arial"/>
              <a:buNone/>
            </a:pPr>
            <a:r>
              <a:rPr lang="ja"/>
              <a:t>設計を減らす方向の指摘もここが出します。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なお3つ目で使う学習の枠組みそのものは既存の手法です。</a:t>
            </a:r>
            <a:endParaRPr/>
          </a:p>
          <a:p>
            <a:pPr indent="0" lvl="0" marL="0" rtl="0" algn="l">
              <a:spcBef>
                <a:spcPts val="0"/>
              </a:spcBef>
              <a:spcAft>
                <a:spcPts val="0"/>
              </a:spcAft>
              <a:buClr>
                <a:schemeClr val="dk1"/>
              </a:buClr>
              <a:buSzPts val="1100"/>
              <a:buFont typeface="Arial"/>
              <a:buNone/>
            </a:pPr>
            <a:r>
              <a:rPr lang="ja"/>
              <a:t>本研究の貢献は、1つ目から4つ目までを繋いだことにあります。</a:t>
            </a:r>
            <a:endParaRPr/>
          </a:p>
          <a:p>
            <a:pPr indent="0" lvl="0" marL="0" rtl="0" algn="l">
              <a:lnSpc>
                <a:spcPct val="100000"/>
              </a:lnSpc>
              <a:spcBef>
                <a:spcPts val="0"/>
              </a:spcBef>
              <a:spcAft>
                <a:spcPts val="0"/>
              </a:spcAft>
              <a:buSzPts val="1100"/>
              <a:buFont typeface="Arial"/>
              <a:buNone/>
            </a:pPr>
            <a:r>
              <a:t/>
            </a:r>
            <a:endParaRPr/>
          </a:p>
        </p:txBody>
      </p:sp>
      <p:sp>
        <p:nvSpPr>
          <p:cNvPr id="230" name="Google Shape;230;g3f6f0a3013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6f0a30138_0_2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SzPts val="1100"/>
              <a:buFont typeface="Arial"/>
              <a:buNone/>
            </a:pPr>
            <a:r>
              <a:rPr lang="ja">
                <a:solidFill>
                  <a:schemeClr val="dk1"/>
                </a:solidFill>
              </a:rPr>
              <a:t>1つ目の工程です。手描きを、後段が読める設計図スタイルの絵に描き直させます。</a:t>
            </a:r>
            <a:endParaRPr>
              <a:solidFill>
                <a:schemeClr val="dk1"/>
              </a:solidFill>
            </a:endParaRPr>
          </a:p>
          <a:p>
            <a:pPr indent="0" lvl="0" marL="0" rtl="0" algn="l">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注文しているのは大きく4種類です。</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1つ目、構造はスケッチどおりに。リンクの本数、長さの比、関節の位置を変えさせません。</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比は数値で固定します。ただし向きだけは例外で、斜めに描かれていても必ず立てさせます。</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2つ目、関節に印をつけさせる。ここが一番の設計判断です。</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関節がどこにあるかを推し量るのではなく、生成AIに描かせて宣言させます。</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3つ目、後段が読める色と形にする。リンクごとに単色で塗り分けさせます。</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4つ目、描いてはいけないものを列挙する。寸法線や文字、複数の視点です。</a:t>
            </a:r>
            <a:endParaRPr>
              <a:solidFill>
                <a:schemeClr val="dk1"/>
              </a:solidFill>
            </a:endParaRPr>
          </a:p>
          <a:p>
            <a:pPr indent="0" lvl="0" marL="0" rtl="0" algn="l">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4つ目は実際に踏んだ失敗から来ています。</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比を数値で指示したところ、その数値を寸法線として図に描き込まれました。</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寸法線は三次元化がそれを立体として拾ってしまい、</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図の外接寸法が変わって縮尺まで狂います。</a:t>
            </a:r>
            <a:endParaRPr>
              <a:solidFill>
                <a:schemeClr val="dk1"/>
              </a:solidFill>
            </a:endParaRPr>
          </a:p>
          <a:p>
            <a:pPr indent="0" lvl="0" marL="0" rtl="0" algn="l">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できていることとして、手描き5枚すべてで、マーカー3個が自動で検出できています。</a:t>
            </a:r>
            <a:endParaRPr>
              <a:solidFill>
                <a:schemeClr val="dk1"/>
              </a:solidFill>
            </a:endParaRPr>
          </a:p>
          <a:p>
            <a:pPr indent="0" lvl="0" marL="0" rtl="0" algn="l">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一方でできていないことがあります。昨日測りました。</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同じ写真に同じプロンプトを4回入れたところ、1回だけ、向きの指示を破って</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腕が寝た状態で出てきました。傾き42.5度です。</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腕が寝ると、次の工程がリンクを高さで切るので、原理的に通らなくなります。</a:t>
            </a:r>
            <a:endParaRPr>
              <a:solidFill>
                <a:schemeClr val="dk1"/>
              </a:solidFill>
            </a:endParaRPr>
          </a:p>
          <a:p>
            <a:pPr indent="0" lvl="0" marL="0" rtl="0" algn="l">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次は、APIでサンプリング設定を固定したうえで、</a:t>
            </a:r>
            <a:endParaRPr>
              <a:solidFill>
                <a:schemeClr val="dk1"/>
              </a:solidFill>
            </a:endParaRPr>
          </a:p>
          <a:p>
            <a:pPr indent="0" lvl="0" marL="0" rtl="0" algn="l">
              <a:spcBef>
                <a:spcPts val="0"/>
              </a:spcBef>
              <a:spcAft>
                <a:spcPts val="0"/>
              </a:spcAft>
              <a:buSzPts val="1100"/>
              <a:buFont typeface="Arial"/>
              <a:buNone/>
            </a:pPr>
            <a:r>
              <a:rPr lang="ja">
                <a:solidFill>
                  <a:schemeClr val="dk1"/>
                </a:solidFill>
              </a:rPr>
              <a:t>プロンプトの版ごとに仕様の遵守率を測ります。</a:t>
            </a:r>
            <a:endParaRPr>
              <a:solidFill>
                <a:schemeClr val="dk1"/>
              </a:solidFill>
            </a:endParaRPr>
          </a:p>
          <a:p>
            <a:pPr indent="0" lvl="0" marL="0" rtl="0" algn="l">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Font typeface="Arial"/>
              <a:buNone/>
            </a:pPr>
            <a:r>
              <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プロンプトの遵守率とは？</a:t>
            </a:r>
            <a:br>
              <a:rPr lang="ja">
                <a:solidFill>
                  <a:schemeClr val="dk1"/>
                </a:solidFill>
              </a:rPr>
            </a:br>
            <a:r>
              <a:rPr b="1" lang="ja" sz="1000">
                <a:solidFill>
                  <a:srgbClr val="CCCCCC"/>
                </a:solidFill>
                <a:highlight>
                  <a:srgbClr val="181818"/>
                </a:highlight>
              </a:rPr>
              <a:t>プロンプトが要求している仕様を、生成結果がどれだけ満たしたかの割合</a:t>
            </a:r>
            <a:r>
              <a:rPr lang="ja" sz="1000">
                <a:solidFill>
                  <a:srgbClr val="CCCCCC"/>
                </a:solidFill>
                <a:highlight>
                  <a:srgbClr val="181818"/>
                </a:highlight>
              </a:rPr>
              <a:t>です。</a:t>
            </a:r>
            <a:r>
              <a:rPr b="1" lang="ja" sz="1000">
                <a:solidFill>
                  <a:srgbClr val="CCCCCC"/>
                </a:solidFill>
                <a:highlight>
                  <a:srgbClr val="181818"/>
                </a:highlight>
              </a:rPr>
              <a:t>版ごと・項目ごと</a:t>
            </a:r>
            <a:r>
              <a:rPr lang="ja" sz="1000">
                <a:solidFill>
                  <a:srgbClr val="CCCCCC"/>
                </a:solidFill>
                <a:highlight>
                  <a:srgbClr val="181818"/>
                </a:highlight>
              </a:rPr>
              <a:t>に出します。</a:t>
            </a:r>
            <a:endParaRPr>
              <a:solidFill>
                <a:schemeClr val="dk1"/>
              </a:solidFill>
            </a:endParaRPr>
          </a:p>
          <a:p>
            <a:pPr indent="0" lvl="0" marL="0" rtl="0" algn="l">
              <a:lnSpc>
                <a:spcPct val="100000"/>
              </a:lnSpc>
              <a:spcBef>
                <a:spcPts val="0"/>
              </a:spcBef>
              <a:spcAft>
                <a:spcPts val="0"/>
              </a:spcAft>
              <a:buSzPts val="1100"/>
              <a:buFont typeface="Arial"/>
              <a:buNone/>
            </a:pPr>
            <a:r>
              <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次やること</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APIでサンプリング設定を固定し、プロンプトごとに「仕様の遵守率」を調査</a:t>
            </a:r>
            <a:endParaRPr>
              <a:solidFill>
                <a:schemeClr val="dk1"/>
              </a:solidFill>
            </a:endParaRPr>
          </a:p>
          <a:p>
            <a:pPr indent="0" lvl="0" marL="0" rtl="0" algn="l">
              <a:lnSpc>
                <a:spcPct val="100000"/>
              </a:lnSpc>
              <a:spcBef>
                <a:spcPts val="0"/>
              </a:spcBef>
              <a:spcAft>
                <a:spcPts val="0"/>
              </a:spcAft>
              <a:buSzPts val="1100"/>
              <a:buFont typeface="Arial"/>
              <a:buNone/>
            </a:pPr>
            <a:r>
              <a:t/>
            </a:r>
            <a:endParaRPr>
              <a:solidFill>
                <a:schemeClr val="dk1"/>
              </a:solidFill>
            </a:endParaRPr>
          </a:p>
          <a:p>
            <a:pPr indent="0" lvl="0" marL="0" rtl="0" algn="l">
              <a:lnSpc>
                <a:spcPct val="100000"/>
              </a:lnSpc>
              <a:spcBef>
                <a:spcPts val="0"/>
              </a:spcBef>
              <a:spcAft>
                <a:spcPts val="0"/>
              </a:spcAft>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ja">
                <a:solidFill>
                  <a:schemeClr val="dk1"/>
                </a:solidFill>
              </a:rPr>
              <a:t>補助内容</a:t>
            </a:r>
            <a:endParaRPr>
              <a:solidFill>
                <a:schemeClr val="dk1"/>
              </a:solidFill>
            </a:endParaRPr>
          </a:p>
          <a:p>
            <a:pPr indent="0" lvl="0" marL="0" rtl="0" algn="l">
              <a:lnSpc>
                <a:spcPct val="115000"/>
              </a:lnSpc>
              <a:spcBef>
                <a:spcPts val="0"/>
              </a:spcBef>
              <a:spcAft>
                <a:spcPts val="0"/>
              </a:spcAft>
              <a:buNone/>
            </a:pPr>
            <a:r>
              <a:rPr lang="ja" sz="1000">
                <a:solidFill>
                  <a:srgbClr val="CCCCCC"/>
                </a:solidFill>
                <a:highlight>
                  <a:srgbClr val="181818"/>
                </a:highlight>
              </a:rPr>
              <a:t>①「忠実に」とだけ書くと、生成側が「整える」過程で比が動いた</a:t>
            </a:r>
            <a:endParaRPr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①の例外腕が寝ると、後段がリンクを</a:t>
            </a:r>
            <a:r>
              <a:rPr b="1" lang="ja" sz="1000">
                <a:solidFill>
                  <a:srgbClr val="CCCCCC"/>
                </a:solidFill>
                <a:highlight>
                  <a:srgbClr val="181818"/>
                </a:highlight>
              </a:rPr>
              <a:t>高さで切る</a:t>
            </a:r>
            <a:r>
              <a:rPr lang="ja" sz="1000">
                <a:solidFill>
                  <a:srgbClr val="CCCCCC"/>
                </a:solidFill>
                <a:highlight>
                  <a:srgbClr val="181818"/>
                </a:highlight>
              </a:rPr>
              <a:t>ので分割できない</a:t>
            </a:r>
            <a:endParaRPr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②位置を列挙しないと、先端側の関節を</a:t>
            </a:r>
            <a:r>
              <a:rPr b="1" lang="ja" sz="1000">
                <a:solidFill>
                  <a:srgbClr val="CCCCCC"/>
                </a:solidFill>
                <a:highlight>
                  <a:srgbClr val="181818"/>
                </a:highlight>
              </a:rPr>
              <a:t>金具として描き分けて印が落ちた</a:t>
            </a:r>
            <a:endParaRPr b="1"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③マゼンタを本体色に使われると、後段が本体を関節と誤認する</a:t>
            </a:r>
            <a:endParaRPr sz="1000">
              <a:solidFill>
                <a:srgbClr val="CCCCCC"/>
              </a:solidFill>
              <a:highlight>
                <a:srgbClr val="181818"/>
              </a:highlight>
            </a:endParaRPr>
          </a:p>
          <a:p>
            <a:pPr indent="0" lvl="0" marL="0" rtl="0" algn="l">
              <a:lnSpc>
                <a:spcPct val="115000"/>
              </a:lnSpc>
              <a:spcBef>
                <a:spcPts val="0"/>
              </a:spcBef>
              <a:spcAft>
                <a:spcPts val="0"/>
              </a:spcAft>
              <a:buNone/>
            </a:pPr>
            <a:r>
              <a:rPr lang="ja" sz="1000">
                <a:solidFill>
                  <a:srgbClr val="CCCCCC"/>
                </a:solidFill>
                <a:highlight>
                  <a:srgbClr val="181818"/>
                </a:highlight>
              </a:rPr>
              <a:t>④比を数値で指示したら、</a:t>
            </a:r>
            <a:r>
              <a:rPr b="1" lang="ja" sz="1000">
                <a:solidFill>
                  <a:srgbClr val="CCCCCC"/>
                </a:solidFill>
                <a:highlight>
                  <a:srgbClr val="181818"/>
                </a:highlight>
              </a:rPr>
              <a:t>その数値を寸法線として図に描き込まれた</a:t>
            </a:r>
            <a:r>
              <a:rPr lang="ja" sz="1000">
                <a:solidFill>
                  <a:srgbClr val="CCCCCC"/>
                </a:solidFill>
                <a:highlight>
                  <a:srgbClr val="181818"/>
                </a:highlight>
              </a:rPr>
              <a:t>。寸法線は三次元化が立体として拾い、外接寸法が変わって縮尺まで狂う</a:t>
            </a:r>
            <a:endParaRPr sz="1000">
              <a:solidFill>
                <a:srgbClr val="CCCCCC"/>
              </a:solidFill>
              <a:highlight>
                <a:srgbClr val="181818"/>
              </a:highlight>
            </a:endParaRPr>
          </a:p>
          <a:p>
            <a:pPr indent="0" lvl="0" marL="0" rtl="0" algn="l">
              <a:lnSpc>
                <a:spcPct val="100000"/>
              </a:lnSpc>
              <a:spcBef>
                <a:spcPts val="0"/>
              </a:spcBef>
              <a:spcAft>
                <a:spcPts val="0"/>
              </a:spcAft>
              <a:buSzPts val="1100"/>
              <a:buFont typeface="Arial"/>
              <a:buNone/>
            </a:pPr>
            <a:r>
              <a:t/>
            </a:r>
            <a:endParaRPr>
              <a:solidFill>
                <a:schemeClr val="dk1"/>
              </a:solidFill>
            </a:endParaRPr>
          </a:p>
        </p:txBody>
      </p:sp>
      <p:sp>
        <p:nvSpPr>
          <p:cNvPr id="251" name="Google Shape;251;g3f6f0a30138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409ccd5bbe6_0_26: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rPr lang="ja"/>
              <a:t>2つ目の工程です。整形した絵を、シミュレータで動くモデルにします。4段階あります。</a:t>
            </a:r>
            <a:br>
              <a:rPr lang="ja"/>
            </a:br>
            <a:r>
              <a:rPr lang="ja"/>
              <a:t>1つ目、立体にする。Tripoという既存のサービスに絵を渡します。</a:t>
            </a:r>
            <a:br>
              <a:rPr lang="ja"/>
            </a:br>
            <a:r>
              <a:rPr lang="ja"/>
              <a:t>2つ目、関節を見つける。マゼンタの球を色で探します。</a:t>
            </a:r>
            <a:br>
              <a:rPr lang="ja"/>
            </a:br>
            <a:r>
              <a:rPr lang="ja"/>
              <a:t>3つ目、リンクに切り分ける。関節の高さを境界にして、メッシュを切ります。</a:t>
            </a:r>
            <a:br>
              <a:rPr lang="ja"/>
            </a:br>
            <a:r>
              <a:rPr lang="ja"/>
              <a:t>4つ目、寸法を測ってモデルにする。各リンクを直方体で囲み、長さと太さを取ります。</a:t>
            </a:r>
            <a:br>
              <a:rPr lang="ja"/>
            </a:br>
            <a:r>
              <a:rPr lang="ja"/>
              <a:t>手描き5枚のうち4枚が、ここまで通りました。真横から描いた4枚は4枚とも通っています。</a:t>
            </a:r>
            <a:br>
              <a:rPr lang="ja"/>
            </a:br>
            <a:r>
              <a:rPr lang="ja"/>
              <a:t>通らなかった1枚は、斜め45度から描いたものです。2回試して2回とも同じ失敗でした。</a:t>
            </a:r>
            <a:br>
              <a:rPr lang="ja"/>
            </a:br>
            <a:r>
              <a:rPr lang="ja"/>
              <a:t>立体化のサービスが斜めの線を奥行きと解釈して、腕が寝た状態で出力されます。</a:t>
            </a:r>
            <a:br>
              <a:rPr lang="ja"/>
            </a:br>
            <a:r>
              <a:rPr lang="ja"/>
              <a:t>3つ目の工程はリンクを高さで切るので、腕が寝ると関節が同じ高さに並んでしまい、原理的に切り分けられません。</a:t>
            </a:r>
            <a:br>
              <a:rPr lang="ja"/>
            </a:br>
            <a:r>
              <a:rPr lang="ja"/>
              <a:t>ただしこの場合、システムは失敗を検知して止まります。</a:t>
            </a:r>
            <a:br>
              <a:rPr lang="ja"/>
            </a:br>
            <a:r>
              <a:rPr lang="ja"/>
              <a:t>誤った形のまま先へ進むことはありません。</a:t>
            </a:r>
            <a:br>
              <a:rPr lang="ja"/>
            </a:br>
            <a:r>
              <a:rPr lang="ja"/>
              <a:t>次は、関節が3本以外の腕でも通るかを確かめます。</a:t>
            </a:r>
            <a:br>
              <a:rPr lang="ja"/>
            </a:br>
            <a:r>
              <a:rPr lang="ja"/>
              <a:t>いままで3本の腕しか試していません。</a:t>
            </a:r>
            <a:endParaRPr/>
          </a:p>
          <a:p>
            <a:pPr indent="0" lvl="0" marL="0" rtl="0" algn="l">
              <a:lnSpc>
                <a:spcPct val="115000"/>
              </a:lnSpc>
              <a:spcBef>
                <a:spcPts val="1200"/>
              </a:spcBef>
              <a:spcAft>
                <a:spcPts val="0"/>
              </a:spcAft>
              <a:buClr>
                <a:schemeClr val="dk1"/>
              </a:buClr>
              <a:buSzPts val="1100"/>
              <a:buFont typeface="Arial"/>
              <a:buNone/>
            </a:pPr>
            <a:r>
              <a:rPr lang="ja"/>
              <a:t>軸はどうやって定めているの？</a:t>
            </a:r>
            <a:endParaRPr sz="1100"/>
          </a:p>
          <a:p>
            <a:pPr indent="0" lvl="0" marL="0" rtl="0" algn="l">
              <a:lnSpc>
                <a:spcPct val="100000"/>
              </a:lnSpc>
              <a:spcBef>
                <a:spcPts val="0"/>
              </a:spcBef>
              <a:spcAft>
                <a:spcPts val="0"/>
              </a:spcAft>
              <a:buClr>
                <a:schemeClr val="dk1"/>
              </a:buClr>
              <a:buSzPts val="1100"/>
              <a:buFont typeface="Arial"/>
              <a:buNone/>
            </a:pPr>
            <a:r>
              <a:rPr lang="ja"/>
              <a:t>決め打ち。根本がz軸でそれ移行が全部y軸でお辞儀型。</a:t>
            </a:r>
            <a:br>
              <a:rPr lang="ja"/>
            </a:br>
            <a:r>
              <a:rPr lang="ja"/>
              <a:t>ただ、一応先の構想はあり二段階目が</a:t>
            </a:r>
            <a:r>
              <a:rPr lang="ja" sz="1000">
                <a:solidFill>
                  <a:srgbClr val="CCCCCC"/>
                </a:solidFill>
                <a:highlight>
                  <a:srgbClr val="181818"/>
                </a:highlight>
              </a:rPr>
              <a:t>主成分平面の法線から自動推定(????)、三段階目が軸そのものを最適化対象に入れること。原論文にコードはあるが、原論文でも未検証。</a:t>
            </a:r>
            <a:endParaRPr/>
          </a:p>
          <a:p>
            <a:pPr indent="0" lvl="0" marL="0" rtl="0" algn="l">
              <a:lnSpc>
                <a:spcPct val="100000"/>
              </a:lnSpc>
              <a:spcBef>
                <a:spcPts val="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rPr lang="ja"/>
              <a:t>なんでこの内容にしたか</a:t>
            </a:r>
            <a:endParaRPr/>
          </a:p>
          <a:p>
            <a:pPr indent="0" lvl="0" marL="0" rtl="0" algn="l">
              <a:lnSpc>
                <a:spcPct val="115000"/>
              </a:lnSpc>
              <a:spcBef>
                <a:spcPts val="100"/>
              </a:spcBef>
              <a:spcAft>
                <a:spcPts val="0"/>
              </a:spcAft>
              <a:buClr>
                <a:schemeClr val="dk1"/>
              </a:buClr>
              <a:buSzPts val="1100"/>
              <a:buFont typeface="Arial"/>
              <a:buNone/>
            </a:pPr>
            <a:r>
              <a:rPr b="1" lang="ja" sz="1000">
                <a:solidFill>
                  <a:srgbClr val="CCCCCC"/>
                </a:solidFill>
                <a:highlight>
                  <a:srgbClr val="181818"/>
                </a:highlight>
              </a:rPr>
              <a:t>① 絵の中の「比」だけが効きます。</a:t>
            </a:r>
            <a:r>
              <a:rPr lang="ja" sz="1000">
                <a:solidFill>
                  <a:srgbClr val="CCCCCC"/>
                </a:solidFill>
                <a:highlight>
                  <a:srgbClr val="181818"/>
                </a:highlight>
              </a:rPr>
              <a:t> 画素サイズも紙の実寸も効きません。出力は必ず最長辺が 1.0 に正規化されるからです。</a:t>
            </a:r>
            <a:r>
              <a:rPr b="1" lang="ja" sz="1000">
                <a:solidFill>
                  <a:srgbClr val="CCCCCC"/>
                </a:solidFill>
                <a:highlight>
                  <a:srgbClr val="181818"/>
                </a:highlight>
              </a:rPr>
              <a:t>当初は「台座の高さを 1 として」と指示していましたが、基準そのものが誤りでした。</a:t>
            </a:r>
            <a:endParaRPr b="1"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b="1" lang="ja" sz="1000">
                <a:solidFill>
                  <a:srgbClr val="CCCCCC"/>
                </a:solidFill>
                <a:highlight>
                  <a:srgbClr val="181818"/>
                </a:highlight>
              </a:rPr>
              <a:t>② 指定した純マゼンタは、そのままの色では出てきません。</a:t>
            </a:r>
            <a:r>
              <a:rPr lang="ja" sz="1000">
                <a:solidFill>
                  <a:srgbClr val="CCCCCC"/>
                </a:solidFill>
                <a:highlight>
                  <a:srgbClr val="181818"/>
                </a:highlight>
              </a:rPr>
              <a:t> 最大 86／チャネルずれます。公称色に固定しきい値をかけると 2 メッシュとも検出失敗、しきい値を手で広げると関節位置が最大 12.8 mm ずれる。</a:t>
            </a:r>
            <a:r>
              <a:rPr b="1" lang="ja" sz="1000">
                <a:solidFill>
                  <a:srgbClr val="CCCCCC"/>
                </a:solidFill>
                <a:highlight>
                  <a:srgbClr val="181818"/>
                </a:highlight>
              </a:rPr>
              <a:t>基準色をメッシュごとに推定して、初めて誤差 1 mm 以内</a:t>
            </a:r>
            <a:r>
              <a:rPr lang="ja" sz="1000">
                <a:solidFill>
                  <a:srgbClr val="CCCCCC"/>
                </a:solidFill>
                <a:highlight>
                  <a:srgbClr val="181818"/>
                </a:highlight>
              </a:rPr>
              <a:t>になりました。</a:t>
            </a:r>
            <a:endParaRPr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b="1" lang="ja" sz="1000">
                <a:solidFill>
                  <a:srgbClr val="CCCCCC"/>
                </a:solidFill>
                <a:highlight>
                  <a:srgbClr val="181818"/>
                </a:highlight>
              </a:rPr>
              <a:t>③ 腕が寝ると、関節がほぼ同じ高さに並んで原理的に切れません。</a:t>
            </a:r>
            <a:r>
              <a:rPr lang="ja" sz="1000">
                <a:solidFill>
                  <a:srgbClr val="CCCCCC"/>
                </a:solidFill>
                <a:highlight>
                  <a:srgbClr val="181818"/>
                </a:highlight>
              </a:rPr>
              <a:t> 検知して止まります。</a:t>
            </a:r>
            <a:endParaRPr sz="1000">
              <a:solidFill>
                <a:srgbClr val="CCCCCC"/>
              </a:solidFill>
              <a:highlight>
                <a:srgbClr val="181818"/>
              </a:highlight>
            </a:endParaRPr>
          </a:p>
          <a:p>
            <a:pPr indent="0" lvl="0" marL="0" rtl="0" algn="l">
              <a:lnSpc>
                <a:spcPct val="115000"/>
              </a:lnSpc>
              <a:spcBef>
                <a:spcPts val="200"/>
              </a:spcBef>
              <a:spcAft>
                <a:spcPts val="0"/>
              </a:spcAft>
              <a:buClr>
                <a:schemeClr val="dk1"/>
              </a:buClr>
              <a:buSzPts val="1100"/>
              <a:buFont typeface="Arial"/>
              <a:buNone/>
            </a:pPr>
            <a:r>
              <a:rPr b="1" lang="ja" sz="1000">
                <a:solidFill>
                  <a:srgbClr val="CCCCCC"/>
                </a:solidFill>
                <a:highlight>
                  <a:srgbClr val="181818"/>
                </a:highlight>
              </a:rPr>
              <a:t>④ 関節の球がリンクの長さに混入し、総リーチが 14 % 過大</a:t>
            </a:r>
            <a:r>
              <a:rPr lang="ja" sz="1000">
                <a:solidFill>
                  <a:srgbClr val="CCCCCC"/>
                </a:solidFill>
                <a:highlight>
                  <a:srgbClr val="181818"/>
                </a:highlight>
              </a:rPr>
              <a:t>になっていました。以後は測った値が本当にその形で実現するかを</a:t>
            </a:r>
            <a:r>
              <a:rPr b="1" lang="ja" sz="1000">
                <a:solidFill>
                  <a:srgbClr val="CCCCCC"/>
                </a:solidFill>
                <a:highlight>
                  <a:srgbClr val="181818"/>
                </a:highlight>
              </a:rPr>
              <a:t>別経路で毎回検算</a:t>
            </a:r>
            <a:r>
              <a:rPr lang="ja" sz="1000">
                <a:solidFill>
                  <a:srgbClr val="CCCCCC"/>
                </a:solidFill>
                <a:highlight>
                  <a:srgbClr val="181818"/>
                </a:highlight>
              </a:rPr>
              <a:t>しています。</a:t>
            </a:r>
            <a:endParaRPr sz="1000">
              <a:solidFill>
                <a:srgbClr val="CCCCCC"/>
              </a:solidFill>
              <a:highlight>
                <a:srgbClr val="181818"/>
              </a:highlight>
            </a:endParaRPr>
          </a:p>
          <a:p>
            <a:pPr indent="0" lvl="0" marL="0" rtl="0" algn="l">
              <a:lnSpc>
                <a:spcPct val="100000"/>
              </a:lnSpc>
              <a:spcBef>
                <a:spcPts val="200"/>
              </a:spcBef>
              <a:spcAft>
                <a:spcPts val="0"/>
              </a:spcAft>
              <a:buSzPts val="1100"/>
              <a:buFont typeface="Arial"/>
              <a:buNone/>
            </a:pPr>
            <a:r>
              <a:t/>
            </a:r>
            <a:endParaRPr/>
          </a:p>
        </p:txBody>
      </p:sp>
      <p:sp>
        <p:nvSpPr>
          <p:cNvPr id="261" name="Google Shape;261;g409ccd5bbe6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09ccd5bbe6_0_3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ja"/>
              <a:t>3つ目の工程で使う学習の枠組みは、Stackelberg PPO という既存手法です。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2つのフェーズを交互に回します。</a:t>
            </a:r>
            <a:endParaRPr/>
          </a:p>
          <a:p>
            <a:pPr indent="0" lvl="0" marL="0" rtl="0" algn="l">
              <a:spcBef>
                <a:spcPts val="0"/>
              </a:spcBef>
              <a:spcAft>
                <a:spcPts val="0"/>
              </a:spcAft>
              <a:buClr>
                <a:schemeClr val="dk1"/>
              </a:buClr>
              <a:buSzPts val="1100"/>
              <a:buFont typeface="Arial"/>
              <a:buNone/>
            </a:pPr>
            <a:r>
              <a:rPr lang="ja"/>
              <a:t>1つ目が形態設計フェーズで、先手であるリーダーが、</a:t>
            </a:r>
            <a:endParaRPr/>
          </a:p>
          <a:p>
            <a:pPr indent="0" lvl="0" marL="0" rtl="0" algn="l">
              <a:spcBef>
                <a:spcPts val="0"/>
              </a:spcBef>
              <a:spcAft>
                <a:spcPts val="0"/>
              </a:spcAft>
              <a:buClr>
                <a:schemeClr val="dk1"/>
              </a:buClr>
              <a:buSzPts val="1100"/>
              <a:buFont typeface="Arial"/>
              <a:buNone/>
            </a:pPr>
            <a:r>
              <a:rPr lang="ja"/>
              <a:t>関節の追加やリンク長の調整といった編集を繰り返し、体を決めます。</a:t>
            </a:r>
            <a:endParaRPr/>
          </a:p>
          <a:p>
            <a:pPr indent="0" lvl="0" marL="0" rtl="0" algn="l">
              <a:spcBef>
                <a:spcPts val="0"/>
              </a:spcBef>
              <a:spcAft>
                <a:spcPts val="0"/>
              </a:spcAft>
              <a:buClr>
                <a:schemeClr val="dk1"/>
              </a:buClr>
              <a:buSzPts val="1100"/>
              <a:buFont typeface="Arial"/>
              <a:buNone/>
            </a:pPr>
            <a:r>
              <a:rPr lang="ja"/>
              <a:t>2つ目が制御学習フェーズで、後手であるフォロワーが、</a:t>
            </a:r>
            <a:endParaRPr/>
          </a:p>
          <a:p>
            <a:pPr indent="0" lvl="0" marL="0" rtl="0" algn="l">
              <a:spcBef>
                <a:spcPts val="0"/>
              </a:spcBef>
              <a:spcAft>
                <a:spcPts val="0"/>
              </a:spcAft>
              <a:buClr>
                <a:schemeClr val="dk1"/>
              </a:buClr>
              <a:buSzPts val="1100"/>
              <a:buFont typeface="Arial"/>
              <a:buNone/>
            </a:pPr>
            <a:r>
              <a:rPr lang="ja"/>
              <a:t>その体でタスクを最もうまくこなす動かし方を学習します。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先手が決めた体の良し悪しは、後手がどれだけうまく動かせたかで評価されます。</a:t>
            </a:r>
            <a:endParaRPr/>
          </a:p>
          <a:p>
            <a:pPr indent="0" lvl="0" marL="0" rtl="0" algn="l">
              <a:spcBef>
                <a:spcPts val="0"/>
              </a:spcBef>
              <a:spcAft>
                <a:spcPts val="0"/>
              </a:spcAft>
              <a:buClr>
                <a:schemeClr val="dk1"/>
              </a:buClr>
              <a:buSzPts val="1100"/>
              <a:buFont typeface="Arial"/>
              <a:buNone/>
            </a:pPr>
            <a:r>
              <a:rPr lang="ja"/>
              <a:t>つまり形の評価に、制御の習熟が織り込まれます。本研究が判定に使いたいのはこの性質です。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 ただし本研究では、リーダーが関節を追加する機能は使いません。</a:t>
            </a:r>
            <a:endParaRPr/>
          </a:p>
          <a:p>
            <a:pPr indent="0" lvl="0" marL="0" rtl="0" algn="l">
              <a:spcBef>
                <a:spcPts val="0"/>
              </a:spcBef>
              <a:spcAft>
                <a:spcPts val="0"/>
              </a:spcAft>
              <a:buClr>
                <a:schemeClr val="dk1"/>
              </a:buClr>
              <a:buSzPts val="1100"/>
              <a:buFont typeface="Arial"/>
              <a:buNone/>
            </a:pPr>
            <a:r>
              <a:rPr lang="ja"/>
              <a:t>  スケッチが決めた構造をそのまま評価するのが目的なので、</a:t>
            </a:r>
            <a:endParaRPr/>
          </a:p>
          <a:p>
            <a:pPr indent="0" lvl="0" marL="0" rtl="0" algn="l">
              <a:spcBef>
                <a:spcPts val="0"/>
              </a:spcBef>
              <a:spcAft>
                <a:spcPts val="0"/>
              </a:spcAft>
              <a:buClr>
                <a:schemeClr val="dk1"/>
              </a:buClr>
              <a:buSzPts val="1100"/>
              <a:buFont typeface="Arial"/>
              <a:buNone/>
            </a:pPr>
            <a:r>
              <a:rPr lang="ja"/>
              <a:t>  勝手に関節を増やしたら、それはもう描かれた形の評価ではないからです。</a:t>
            </a:r>
            <a:endParaRPr/>
          </a:p>
          <a:p>
            <a:pPr indent="0" lvl="0" marL="0" rtl="0" algn="l">
              <a:lnSpc>
                <a:spcPct val="100000"/>
              </a:lnSpc>
              <a:spcBef>
                <a:spcPts val="0"/>
              </a:spcBef>
              <a:spcAft>
                <a:spcPts val="0"/>
              </a:spcAft>
              <a:buSzPts val="1100"/>
              <a:buFont typeface="Arial"/>
              <a:buNone/>
            </a:pPr>
            <a:r>
              <a:t/>
            </a:r>
            <a:endParaRPr/>
          </a:p>
        </p:txBody>
      </p:sp>
      <p:sp>
        <p:nvSpPr>
          <p:cNvPr id="273" name="Google Shape;273;g409ccd5bbe6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409ccd5bbe6_0_62: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sz="1000">
                <a:solidFill>
                  <a:schemeClr val="dk1"/>
                </a:solidFill>
              </a:rPr>
              <a:t>先程の研究を枠組みとして使った3つ目の工程です。2段階で調べます。</a:t>
            </a:r>
            <a:endParaRPr sz="1000">
              <a:solidFill>
                <a:schemeClr val="dk1"/>
              </a:solidFill>
            </a:endParaRPr>
          </a:p>
          <a:p>
            <a:pPr indent="0" lvl="0" marL="0" rtl="0" algn="l">
              <a:lnSpc>
                <a:spcPct val="100000"/>
              </a:lnSpc>
              <a:spcBef>
                <a:spcPts val="0"/>
              </a:spcBef>
              <a:spcAft>
                <a:spcPts val="0"/>
              </a:spcAft>
              <a:buSzPts val="1100"/>
              <a:buFont typeface="Arial"/>
              <a:buNone/>
            </a:pPr>
            <a:r>
              <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1段階目は、学習せずに棄却する段です。</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その腕を目一杯伸ばしても目標に届かないなら、学習を回さずに棄却します。</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どんな関節角度にしても届かない、という意味です。</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関節軸に平行なリンクは、その関節では振れないので、水平方向の到達には数えません。</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棄却するときは、腕全体を何倍に伸ばせばよいかという倍率も一緒に返します。</a:t>
            </a:r>
            <a:endParaRPr sz="1000">
              <a:solidFill>
                <a:schemeClr val="dk1"/>
              </a:solidFill>
            </a:endParaRPr>
          </a:p>
          <a:p>
            <a:pPr indent="0" lvl="0" marL="0" rtl="0" algn="l">
              <a:lnSpc>
                <a:spcPct val="100000"/>
              </a:lnSpc>
              <a:spcBef>
                <a:spcPts val="0"/>
              </a:spcBef>
              <a:spcAft>
                <a:spcPts val="0"/>
              </a:spcAft>
              <a:buSzPts val="1100"/>
              <a:buFont typeface="Arial"/>
              <a:buNone/>
            </a:pPr>
            <a:r>
              <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2段階目が、学習して検証を行う段です。</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形と動かし方を同時に最適化して、そのタスクでの成績を出します。</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最適化するのは、リンクの長さと向き、リンクの太さ、関節の力の強さの3つです。</a:t>
            </a:r>
            <a:endParaRPr sz="1000">
              <a:solidFill>
                <a:schemeClr val="dk1"/>
              </a:solidFill>
            </a:endParaRPr>
          </a:p>
          <a:p>
            <a:pPr indent="0" lvl="0" marL="0" rtl="0" algn="l">
              <a:lnSpc>
                <a:spcPct val="100000"/>
              </a:lnSpc>
              <a:spcBef>
                <a:spcPts val="0"/>
              </a:spcBef>
              <a:spcAft>
                <a:spcPts val="0"/>
              </a:spcAft>
              <a:buSzPts val="1100"/>
              <a:buFont typeface="Arial"/>
              <a:buNone/>
            </a:pPr>
            <a:r>
              <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関節の数とつながりは固定します。ここは意図的にそうしています。</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人が描いた形の筋の良さを判定するのが目的なので、</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勝手に関節を増やしたら、描かれた形の評価ではなくなるからです。</a:t>
            </a:r>
            <a:br>
              <a:rPr lang="ja" sz="1000">
                <a:solidFill>
                  <a:schemeClr val="dk1"/>
                </a:solidFill>
              </a:rPr>
            </a:br>
            <a:br>
              <a:rPr lang="ja" sz="1000">
                <a:solidFill>
                  <a:schemeClr val="dk1"/>
                </a:solidFill>
              </a:rPr>
            </a:br>
            <a:r>
              <a:rPr lang="ja" sz="1000">
                <a:solidFill>
                  <a:schemeClr val="dk1"/>
                </a:solidFill>
              </a:rPr>
              <a:t>注意：リンクは 0.15〜0.40 m なので、</a:t>
            </a:r>
            <a:r>
              <a:rPr b="1" lang="ja" sz="1000">
                <a:solidFill>
                  <a:schemeClr val="dk1"/>
                </a:solidFill>
              </a:rPr>
              <a:t>リンクより広い探索幅だし重さは48gしかないし、関節のトルクはその重さに対して強すぎる。</a:t>
            </a:r>
            <a:br>
              <a:rPr b="1" lang="ja" sz="1000">
                <a:solidFill>
                  <a:schemeClr val="dk1"/>
                </a:solidFill>
              </a:rPr>
            </a:br>
            <a:r>
              <a:rPr b="1" lang="ja" sz="1000">
                <a:solidFill>
                  <a:schemeClr val="dk1"/>
                </a:solidFill>
              </a:rPr>
              <a:t>つまり何もかも適当。先行研究の値を引き継いだだけ。ただすべて同じ物理空間でやっているから主張の逆転などは起こらないが実機などは更に遠くなった。</a:t>
            </a:r>
            <a:endParaRPr>
              <a:solidFill>
                <a:schemeClr val="dk1"/>
              </a:solidFill>
            </a:endParaRPr>
          </a:p>
          <a:p>
            <a:pPr indent="0" lvl="0" marL="0" rtl="0" algn="l">
              <a:lnSpc>
                <a:spcPct val="100000"/>
              </a:lnSpc>
              <a:spcBef>
                <a:spcPts val="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t/>
            </a:r>
            <a:endParaRPr/>
          </a:p>
          <a:p>
            <a:pPr indent="0" lvl="0" marL="0" rtl="0" algn="l">
              <a:lnSpc>
                <a:spcPct val="115000"/>
              </a:lnSpc>
              <a:spcBef>
                <a:spcPts val="100"/>
              </a:spcBef>
              <a:spcAft>
                <a:spcPts val="0"/>
              </a:spcAft>
              <a:buClr>
                <a:schemeClr val="dk1"/>
              </a:buClr>
              <a:buSzPts val="1100"/>
              <a:buFont typeface="Arial"/>
              <a:buNone/>
            </a:pPr>
            <a:r>
              <a:t/>
            </a:r>
            <a:endParaRPr b="1" sz="1000">
              <a:solidFill>
                <a:srgbClr val="CCCCCC"/>
              </a:solidFill>
              <a:highlight>
                <a:srgbClr val="181818"/>
              </a:highlight>
            </a:endParaRPr>
          </a:p>
          <a:p>
            <a:pPr indent="0" lvl="0" marL="0" rtl="0" algn="l">
              <a:lnSpc>
                <a:spcPct val="100000"/>
              </a:lnSpc>
              <a:spcBef>
                <a:spcPts val="200"/>
              </a:spcBef>
              <a:spcAft>
                <a:spcPts val="0"/>
              </a:spcAft>
              <a:buSzPts val="1100"/>
              <a:buFont typeface="Arial"/>
              <a:buNone/>
            </a:pPr>
            <a:r>
              <a:t/>
            </a:r>
            <a:endParaRPr/>
          </a:p>
        </p:txBody>
      </p:sp>
      <p:sp>
        <p:nvSpPr>
          <p:cNvPr id="283" name="Google Shape;283;g409ccd5bbe6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409ccd5bbe6_0_20: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ja"/>
              <a:t>4つ目の工程です。学習した結果から数値を測り、閾値と比べて指摘を返します。</a:t>
            </a:r>
            <a:endParaRPr/>
          </a:p>
          <a:p>
            <a:pPr indent="0" lvl="0" marL="0" rtl="0" algn="l">
              <a:spcBef>
                <a:spcPts val="0"/>
              </a:spcBef>
              <a:spcAft>
                <a:spcPts val="0"/>
              </a:spcAft>
              <a:buClr>
                <a:schemeClr val="dk1"/>
              </a:buClr>
              <a:buSzPts val="1100"/>
              <a:buFont typeface="Arial"/>
              <a:buNone/>
            </a:pPr>
            <a:r>
              <a:rPr lang="ja"/>
              <a:t>ここで生成AIは使っていません。すべて閾値との比較です。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1つ目は、収束した形から読む指摘です。</a:t>
            </a:r>
            <a:endParaRPr/>
          </a:p>
          <a:p>
            <a:pPr indent="0" lvl="0" marL="0" rtl="0" algn="l">
              <a:spcBef>
                <a:spcPts val="0"/>
              </a:spcBef>
              <a:spcAft>
                <a:spcPts val="0"/>
              </a:spcAft>
              <a:buClr>
                <a:schemeClr val="dk1"/>
              </a:buClr>
              <a:buSzPts val="1100"/>
              <a:buFont typeface="Arial"/>
              <a:buNone/>
            </a:pPr>
            <a:r>
              <a:rPr lang="ja"/>
              <a:t>関節の力とリンクの太さが、選べる範囲のどこに収束したかを見ます。</a:t>
            </a:r>
            <a:endParaRPr/>
          </a:p>
          <a:p>
            <a:pPr indent="0" lvl="0" marL="0" rtl="0" algn="l">
              <a:spcBef>
                <a:spcPts val="0"/>
              </a:spcBef>
              <a:spcAft>
                <a:spcPts val="0"/>
              </a:spcAft>
              <a:buClr>
                <a:schemeClr val="dk1"/>
              </a:buClr>
              <a:buSzPts val="1100"/>
              <a:buFont typeface="Arial"/>
              <a:buNone/>
            </a:pPr>
            <a:r>
              <a:rPr lang="ja"/>
              <a:t>たとえば力が上限に張り付いていれば、出力が足りていないと返します。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ここで一つ、気をつけている点があります。</a:t>
            </a:r>
            <a:endParaRPr/>
          </a:p>
          <a:p>
            <a:pPr indent="0" lvl="0" marL="0" rtl="0" algn="l">
              <a:spcBef>
                <a:spcPts val="0"/>
              </a:spcBef>
              <a:spcAft>
                <a:spcPts val="0"/>
              </a:spcAft>
              <a:buClr>
                <a:schemeClr val="dk1"/>
              </a:buClr>
              <a:buSzPts val="1100"/>
              <a:buFont typeface="Arial"/>
              <a:buNone/>
            </a:pPr>
            <a:r>
              <a:rPr lang="ja"/>
              <a:t>力も太さも下限に張り付いた場合、押すタスクなら</a:t>
            </a:r>
            <a:endParaRPr/>
          </a:p>
          <a:p>
            <a:pPr indent="0" lvl="0" marL="0" rtl="0" algn="l">
              <a:spcBef>
                <a:spcPts val="0"/>
              </a:spcBef>
              <a:spcAft>
                <a:spcPts val="0"/>
              </a:spcAft>
              <a:buClr>
                <a:schemeClr val="dk1"/>
              </a:buClr>
              <a:buSzPts val="1100"/>
              <a:buFont typeface="Arial"/>
              <a:buNone/>
            </a:pPr>
            <a:r>
              <a:rPr lang="ja"/>
              <a:t>「何をどう調整しても成績が上がらない兆候」として報告しますが、</a:t>
            </a:r>
            <a:endParaRPr/>
          </a:p>
          <a:p>
            <a:pPr indent="0" lvl="0" marL="0" rtl="0" algn="l">
              <a:spcBef>
                <a:spcPts val="0"/>
              </a:spcBef>
              <a:spcAft>
                <a:spcPts val="0"/>
              </a:spcAft>
              <a:buClr>
                <a:schemeClr val="dk1"/>
              </a:buClr>
              <a:buSzPts val="1100"/>
              <a:buFont typeface="Arial"/>
              <a:buNone/>
            </a:pPr>
            <a:r>
              <a:rPr lang="ja"/>
              <a:t>到達タスクでは「正常な最適解でもある」と返します。</a:t>
            </a:r>
            <a:endParaRPr/>
          </a:p>
          <a:p>
            <a:pPr indent="0" lvl="0" marL="0" rtl="0" algn="l">
              <a:spcBef>
                <a:spcPts val="0"/>
              </a:spcBef>
              <a:spcAft>
                <a:spcPts val="0"/>
              </a:spcAft>
              <a:buClr>
                <a:schemeClr val="dk1"/>
              </a:buClr>
              <a:buSzPts val="1100"/>
              <a:buFont typeface="Arial"/>
              <a:buNone/>
            </a:pPr>
            <a:r>
              <a:rPr lang="ja"/>
              <a:t>弱く細い方が、ブレずに狙いを定めやすいからです。</a:t>
            </a:r>
            <a:endParaRPr/>
          </a:p>
          <a:p>
            <a:pPr indent="0" lvl="0" marL="0" rtl="0" algn="l">
              <a:spcBef>
                <a:spcPts val="0"/>
              </a:spcBef>
              <a:spcAft>
                <a:spcPts val="0"/>
              </a:spcAft>
              <a:buClr>
                <a:schemeClr val="dk1"/>
              </a:buClr>
              <a:buSzPts val="1100"/>
              <a:buFont typeface="Arial"/>
              <a:buNone/>
            </a:pPr>
            <a:r>
              <a:rPr lang="ja"/>
              <a:t>同じ収束の形でも、タスクによって意味が変わるので、返す文を変えています。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2つ目は、動かし方から読む指摘です。</a:t>
            </a:r>
            <a:endParaRPr/>
          </a:p>
          <a:p>
            <a:pPr indent="0" lvl="0" marL="0" rtl="0" algn="l">
              <a:spcBef>
                <a:spcPts val="0"/>
              </a:spcBef>
              <a:spcAft>
                <a:spcPts val="0"/>
              </a:spcAft>
              <a:buClr>
                <a:schemeClr val="dk1"/>
              </a:buClr>
              <a:buSzPts val="1100"/>
              <a:buFont typeface="Arial"/>
              <a:buNone/>
            </a:pPr>
            <a:r>
              <a:rPr lang="ja"/>
              <a:t>実際に1エピソード走らせて、対象の速度や、各関節が可動域をどれだけ使ったかを測ります。</a:t>
            </a:r>
            <a:endParaRPr/>
          </a:p>
          <a:p>
            <a:pPr indent="0" lvl="0" marL="0" rtl="0" algn="l">
              <a:spcBef>
                <a:spcPts val="0"/>
              </a:spcBef>
              <a:spcAft>
                <a:spcPts val="0"/>
              </a:spcAft>
              <a:buClr>
                <a:schemeClr val="dk1"/>
              </a:buClr>
              <a:buSzPts val="1100"/>
              <a:buFont typeface="Arial"/>
              <a:buNone/>
            </a:pPr>
            <a:r>
              <a:rPr lang="ja"/>
              <a:t>可動域の10パーセントしか使っていない関節があれば、固定してよいと返します。</a:t>
            </a:r>
            <a:endParaRPr/>
          </a:p>
          <a:p>
            <a:pPr indent="0" lvl="0" marL="0" rtl="0" algn="l">
              <a:spcBef>
                <a:spcPts val="0"/>
              </a:spcBef>
              <a:spcAft>
                <a:spcPts val="0"/>
              </a:spcAft>
              <a:buClr>
                <a:schemeClr val="dk1"/>
              </a:buClr>
              <a:buSzPts val="1100"/>
              <a:buFont typeface="Arial"/>
              <a:buNone/>
            </a:pPr>
            <a:r>
              <a:rPr lang="ja"/>
              <a:t>また、一撃で吹き飛ばしている場合は、</a:t>
            </a:r>
            <a:endParaRPr/>
          </a:p>
          <a:p>
            <a:pPr indent="0" lvl="0" marL="0" rtl="0" algn="l">
              <a:spcBef>
                <a:spcPts val="0"/>
              </a:spcBef>
              <a:spcAft>
                <a:spcPts val="0"/>
              </a:spcAft>
              <a:buClr>
                <a:schemeClr val="dk1"/>
              </a:buClr>
              <a:buSzPts val="1100"/>
              <a:buFont typeface="Arial"/>
              <a:buNone/>
            </a:pPr>
            <a:r>
              <a:rPr lang="ja"/>
              <a:t>狙った位置に止めたいならタスクの選び方を変えては、と返します。</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Font typeface="Arial"/>
              <a:buNone/>
            </a:pPr>
            <a:r>
              <a:t/>
            </a:r>
            <a:endParaRPr/>
          </a:p>
          <a:p>
            <a:pPr indent="0" lvl="0" marL="0" rtl="0" algn="l">
              <a:lnSpc>
                <a:spcPct val="100000"/>
              </a:lnSpc>
              <a:spcBef>
                <a:spcPts val="0"/>
              </a:spcBef>
              <a:spcAft>
                <a:spcPts val="0"/>
              </a:spcAft>
              <a:buSzPts val="1100"/>
              <a:buFont typeface="Arial"/>
              <a:buNone/>
            </a:pPr>
            <a:r>
              <a:rPr lang="ja"/>
              <a:t>フィードバックはどうやってだしている？(詳しくはdocs/</a:t>
            </a:r>
            <a:r>
              <a:rPr lang="ja"/>
              <a:t>設計/設計診断</a:t>
            </a:r>
            <a:r>
              <a:rPr lang="ja"/>
              <a:t>.md)</a:t>
            </a:r>
            <a:endParaRPr/>
          </a:p>
          <a:p>
            <a:pPr indent="0" lvl="0" marL="0" rtl="0" algn="l">
              <a:lnSpc>
                <a:spcPct val="100000"/>
              </a:lnSpc>
              <a:spcBef>
                <a:spcPts val="0"/>
              </a:spcBef>
              <a:spcAft>
                <a:spcPts val="0"/>
              </a:spcAft>
              <a:buSzPts val="1100"/>
              <a:buFont typeface="Arial"/>
              <a:buNone/>
            </a:pPr>
            <a:r>
              <a:rPr lang="ja"/>
              <a:t>二層は形状の指摘</a:t>
            </a:r>
            <a:endParaRPr/>
          </a:p>
          <a:p>
            <a:pPr indent="0" lvl="0" marL="0" rtl="0" algn="l">
              <a:lnSpc>
                <a:spcPct val="100000"/>
              </a:lnSpc>
              <a:spcBef>
                <a:spcPts val="0"/>
              </a:spcBef>
              <a:spcAft>
                <a:spcPts val="0"/>
              </a:spcAft>
              <a:buSzPts val="1100"/>
              <a:buFont typeface="Arial"/>
              <a:buNone/>
            </a:pPr>
            <a:r>
              <a:rPr lang="ja"/>
              <a:t>太さとギア比をifで深刻度別にアドバイス</a:t>
            </a:r>
            <a:endParaRPr/>
          </a:p>
          <a:p>
            <a:pPr indent="0" lvl="0" marL="0" rtl="0" algn="l">
              <a:lnSpc>
                <a:spcPct val="100000"/>
              </a:lnSpc>
              <a:spcBef>
                <a:spcPts val="0"/>
              </a:spcBef>
              <a:spcAft>
                <a:spcPts val="0"/>
              </a:spcAft>
              <a:buSzPts val="1100"/>
              <a:buFont typeface="Arial"/>
              <a:buNone/>
            </a:pPr>
            <a:r>
              <a:rPr lang="ja">
                <a:solidFill>
                  <a:schemeClr val="dk1"/>
                </a:solidFill>
              </a:rPr>
              <a:t>例えば</a:t>
            </a:r>
            <a:r>
              <a:rPr lang="ja" sz="1000">
                <a:solidFill>
                  <a:schemeClr val="dk1"/>
                </a:solidFill>
              </a:rPr>
              <a:t>ギア比も太さも下限 かつ 押しタスクだと深刻度;fatalで「強い出力が有利なはずなのに最弱を選んでいます。何をどう調整しても成績が上がらない兆候です。形そのものを変えてください」となる。</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三層は制御の指摘</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結</a:t>
            </a:r>
            <a:r>
              <a:rPr lang="ja">
                <a:solidFill>
                  <a:schemeClr val="dk1"/>
                </a:solidFill>
              </a:rPr>
              <a:t>果でアドバイス</a:t>
            </a:r>
            <a:endParaRPr>
              <a:solidFill>
                <a:schemeClr val="dk1"/>
              </a:solidFill>
            </a:endParaRPr>
          </a:p>
          <a:p>
            <a:pPr indent="0" lvl="0" marL="0" rtl="0" algn="l">
              <a:lnSpc>
                <a:spcPct val="100000"/>
              </a:lnSpc>
              <a:spcBef>
                <a:spcPts val="0"/>
              </a:spcBef>
              <a:spcAft>
                <a:spcPts val="0"/>
              </a:spcAft>
              <a:buSzPts val="1100"/>
              <a:buFont typeface="Arial"/>
              <a:buNone/>
            </a:pPr>
            <a:r>
              <a:rPr lang="ja">
                <a:solidFill>
                  <a:schemeClr val="dk1"/>
                </a:solidFill>
              </a:rPr>
              <a:t>例えばpusherで移動量&lt;1mmのときは</a:t>
            </a:r>
            <a:r>
              <a:rPr lang="ja" sz="1000">
                <a:solidFill>
                  <a:schemeClr val="dk1"/>
                </a:solidFill>
              </a:rPr>
              <a:t>「対象がまったく動いていません（触れられていない可能性）」</a:t>
            </a:r>
            <a:endParaRPr sz="1000">
              <a:solidFill>
                <a:schemeClr val="dk1"/>
              </a:solidFill>
            </a:endParaRPr>
          </a:p>
          <a:p>
            <a:pPr indent="0" lvl="0" marL="0" rtl="0" algn="l">
              <a:lnSpc>
                <a:spcPct val="100000"/>
              </a:lnSpc>
              <a:spcBef>
                <a:spcPts val="0"/>
              </a:spcBef>
              <a:spcAft>
                <a:spcPts val="0"/>
              </a:spcAft>
              <a:buSzPts val="1100"/>
              <a:buFont typeface="Arial"/>
              <a:buNone/>
            </a:pPr>
            <a:r>
              <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ちなみにif文の閾値に根拠はないよ〜</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rgbClr val="CCCCCC"/>
                </a:solidFill>
                <a:highlight>
                  <a:srgbClr val="181818"/>
                </a:highlight>
              </a:rPr>
              <a:t>いちおう2seedでやったけど根拠と言えるとこまでできてない</a:t>
            </a:r>
            <a:endParaRPr sz="1000">
              <a:solidFill>
                <a:srgbClr val="CCCCCC"/>
              </a:solidFill>
              <a:highlight>
                <a:srgbClr val="181818"/>
              </a:highlight>
            </a:endParaRPr>
          </a:p>
        </p:txBody>
      </p:sp>
      <p:sp>
        <p:nvSpPr>
          <p:cNvPr id="294" name="Google Shape;294;g409ccd5bbe6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6f0a30138_0_35: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304" name="Google Shape;304;g3f6f0a30138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409ccd5bbe6_0_147: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00000"/>
              </a:lnSpc>
              <a:spcBef>
                <a:spcPts val="0"/>
              </a:spcBef>
              <a:spcAft>
                <a:spcPts val="0"/>
              </a:spcAft>
              <a:buSzPts val="1100"/>
              <a:buFont typeface="Arial"/>
              <a:buNone/>
            </a:pPr>
            <a:r>
              <a:rPr lang="ja" sz="1000">
                <a:solidFill>
                  <a:schemeClr val="dk1"/>
                </a:solidFill>
              </a:rPr>
              <a:t>障害物を避けるリーチはリーチの深みになるのでは？</a:t>
            </a:r>
            <a:br>
              <a:rPr lang="ja" sz="1000">
                <a:solidFill>
                  <a:schemeClr val="dk1"/>
                </a:solidFill>
              </a:rPr>
            </a:br>
            <a:r>
              <a:rPr lang="ja" sz="1000">
                <a:solidFill>
                  <a:schemeClr val="dk1"/>
                </a:solidFill>
              </a:rPr>
              <a:t>先生的にはsimで終るなら派手さはほしい。simtorealなら地味でも現実でできたからいいよねになる。</a:t>
            </a:r>
            <a:br>
              <a:rPr lang="ja" sz="1000">
                <a:solidFill>
                  <a:schemeClr val="dk1"/>
                </a:solidFill>
              </a:rPr>
            </a:br>
            <a:r>
              <a:rPr lang="ja" sz="1000">
                <a:solidFill>
                  <a:schemeClr val="dk1"/>
                </a:solidFill>
              </a:rPr>
              <a:t>でも派手さを求めて複雑なタスクになるとどうしても報酬を追い求める研究になってしまって、それは研究の主題ではないように思える。</a:t>
            </a:r>
            <a:br>
              <a:rPr lang="ja" sz="1000">
                <a:solidFill>
                  <a:schemeClr val="dk1"/>
                </a:solidFill>
              </a:rPr>
            </a:br>
            <a:r>
              <a:rPr lang="ja" sz="1000">
                <a:solidFill>
                  <a:schemeClr val="dk1"/>
                </a:solidFill>
              </a:rPr>
              <a:t>派手さもありつつ、そこまで報酬を頑張らなくていいいい感じを考える。</a:t>
            </a:r>
            <a:endParaRPr sz="1000">
              <a:solidFill>
                <a:schemeClr val="dk1"/>
              </a:solidFill>
            </a:endParaRPr>
          </a:p>
          <a:p>
            <a:pPr indent="0" lvl="0" marL="0" rtl="0" algn="l">
              <a:lnSpc>
                <a:spcPct val="100000"/>
              </a:lnSpc>
              <a:spcBef>
                <a:spcPts val="0"/>
              </a:spcBef>
              <a:spcAft>
                <a:spcPts val="0"/>
              </a:spcAft>
              <a:buSzPts val="1100"/>
              <a:buFont typeface="Arial"/>
              <a:buNone/>
            </a:pPr>
            <a:r>
              <a:rPr lang="ja" sz="1000">
                <a:solidFill>
                  <a:schemeClr val="dk1"/>
                </a:solidFill>
              </a:rPr>
              <a:t>また、今は関節3つだけど4つでも確かさは保証されるか等、研究としては色んなロボットに対して頑健さを示したいよね。</a:t>
            </a:r>
            <a:endParaRPr sz="1000">
              <a:solidFill>
                <a:schemeClr val="dk1"/>
              </a:solidFill>
            </a:endParaRPr>
          </a:p>
        </p:txBody>
      </p:sp>
      <p:sp>
        <p:nvSpPr>
          <p:cNvPr id="313" name="Google Shape;313;g409ccd5bbe6_0_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409ccd5bbe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409ccd5bbe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409ccd5bbe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409ccd5bbe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409ccd5bbe6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409ccd5bbe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失敗して止まったけどなんでシステム側は失敗ってわかった？</a:t>
            </a:r>
            <a:r>
              <a:rPr lang="ja"/>
              <a:t>A3</a:t>
            </a:r>
            <a:r>
              <a:rPr lang="ja"/>
              <a:t>はどんな形状でどんな例外だった？</a:t>
            </a:r>
            <a:endParaRPr/>
          </a:p>
          <a:p>
            <a:pPr indent="0" lvl="0" marL="0" rtl="0" algn="l">
              <a:spcBef>
                <a:spcPts val="0"/>
              </a:spcBef>
              <a:spcAft>
                <a:spcPts val="0"/>
              </a:spcAft>
              <a:buClr>
                <a:schemeClr val="dk1"/>
              </a:buClr>
              <a:buSzPts val="1100"/>
              <a:buFont typeface="Arial"/>
              <a:buNone/>
            </a:pPr>
            <a:r>
              <a:rPr lang="ja"/>
              <a:t>分割は、ポリゴンの重心の高さ、つまりZ座標で切っています。</a:t>
            </a:r>
            <a:endParaRPr/>
          </a:p>
          <a:p>
            <a:pPr indent="0" lvl="0" marL="0" rtl="0" algn="l">
              <a:spcBef>
                <a:spcPts val="0"/>
              </a:spcBef>
              <a:spcAft>
                <a:spcPts val="0"/>
              </a:spcAft>
              <a:buClr>
                <a:schemeClr val="dk1"/>
              </a:buClr>
              <a:buSzPts val="1100"/>
              <a:buFont typeface="Arial"/>
              <a:buNone/>
            </a:pPr>
            <a:r>
              <a:rPr lang="ja"/>
              <a:t>関節のZ座標が、そのまま切る境界になります。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落ちた1枚は、関節が3つとも1センチ以内に並んでいました。</a:t>
            </a:r>
            <a:endParaRPr/>
          </a:p>
          <a:p>
            <a:pPr indent="0" lvl="0" marL="0" rtl="0" algn="l">
              <a:spcBef>
                <a:spcPts val="0"/>
              </a:spcBef>
              <a:spcAft>
                <a:spcPts val="0"/>
              </a:spcAft>
              <a:buClr>
                <a:schemeClr val="dk1"/>
              </a:buClr>
              <a:buSzPts val="1100"/>
              <a:buFont typeface="Arial"/>
              <a:buNone/>
            </a:pPr>
            <a:r>
              <a:rPr lang="ja"/>
              <a:t>そうすると境界と境界の間が潰れて、その区間にポリゴンが1枚も入りません。</a:t>
            </a:r>
            <a:endParaRPr/>
          </a:p>
          <a:p>
            <a:pPr indent="0" lvl="0" marL="0" rtl="0" algn="l">
              <a:spcBef>
                <a:spcPts val="0"/>
              </a:spcBef>
              <a:spcAft>
                <a:spcPts val="0"/>
              </a:spcAft>
              <a:buClr>
                <a:schemeClr val="dk1"/>
              </a:buClr>
              <a:buSzPts val="1100"/>
              <a:buFont typeface="Arial"/>
              <a:buNone/>
            </a:pPr>
            <a:r>
              <a:rPr lang="ja"/>
              <a:t>そこで例外を出して止まります。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ここが大事なところで、「推定がおかしい」と判断したわけではありません。</a:t>
            </a:r>
            <a:endParaRPr/>
          </a:p>
          <a:p>
            <a:pPr indent="0" lvl="0" marL="0" rtl="0" algn="l">
              <a:spcBef>
                <a:spcPts val="0"/>
              </a:spcBef>
              <a:spcAft>
                <a:spcPts val="0"/>
              </a:spcAft>
              <a:buClr>
                <a:schemeClr val="dk1"/>
              </a:buClr>
              <a:buSzPts val="1100"/>
              <a:buFont typeface="Arial"/>
              <a:buNone/>
            </a:pPr>
            <a:r>
              <a:rPr lang="ja"/>
              <a:t>ポリゴンが0枚なら0枚なので、閾値も判断も要りません。</a:t>
            </a:r>
            <a:endParaRPr/>
          </a:p>
          <a:p>
            <a:pPr indent="0" lvl="0" marL="0" rtl="0" algn="l">
              <a:spcBef>
                <a:spcPts val="0"/>
              </a:spcBef>
              <a:spcAft>
                <a:spcPts val="0"/>
              </a:spcAft>
              <a:buClr>
                <a:schemeClr val="dk1"/>
              </a:buClr>
              <a:buSzPts val="1100"/>
              <a:buFont typeface="Arial"/>
              <a:buNone/>
            </a:pPr>
            <a:r>
              <a:rPr lang="ja"/>
              <a:t>分割という操作がそもそも成立しないことが、機械的に確定します。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形については、そのスケッチだけ斜め45度から描いていました。</a:t>
            </a:r>
            <a:endParaRPr/>
          </a:p>
          <a:p>
            <a:pPr indent="0" lvl="0" marL="0" rtl="0" algn="l">
              <a:spcBef>
                <a:spcPts val="0"/>
              </a:spcBef>
              <a:spcAft>
                <a:spcPts val="0"/>
              </a:spcAft>
              <a:buClr>
                <a:schemeClr val="dk1"/>
              </a:buClr>
              <a:buSzPts val="1100"/>
              <a:buFont typeface="Arial"/>
              <a:buNone/>
            </a:pPr>
            <a:r>
              <a:rPr lang="ja"/>
              <a:t>三次元化のサービスが、その斜めの線を「上へ伸びる」ではなく</a:t>
            </a:r>
            <a:endParaRPr/>
          </a:p>
          <a:p>
            <a:pPr indent="0" lvl="0" marL="0" rtl="0" algn="l">
              <a:spcBef>
                <a:spcPts val="0"/>
              </a:spcBef>
              <a:spcAft>
                <a:spcPts val="0"/>
              </a:spcAft>
              <a:buClr>
                <a:schemeClr val="dk1"/>
              </a:buClr>
              <a:buSzPts val="1100"/>
              <a:buFont typeface="Arial"/>
              <a:buNone/>
            </a:pPr>
            <a:r>
              <a:rPr lang="ja"/>
              <a:t>「奥へ伸びる」と解釈しました。</a:t>
            </a:r>
            <a:endParaRPr/>
          </a:p>
          <a:p>
            <a:pPr indent="0" lvl="0" marL="0" rtl="0" algn="l">
              <a:spcBef>
                <a:spcPts val="0"/>
              </a:spcBef>
              <a:spcAft>
                <a:spcPts val="0"/>
              </a:spcAft>
              <a:buClr>
                <a:schemeClr val="dk1"/>
              </a:buClr>
              <a:buSzPts val="1100"/>
              <a:buFont typeface="Arial"/>
              <a:buNone/>
            </a:pPr>
            <a:r>
              <a:rPr lang="ja"/>
              <a:t>結果、立体の一番長い方向が奥行きになり、鉛直方向の広がりが半分以下になりました。</a:t>
            </a:r>
            <a:endParaRPr/>
          </a:p>
          <a:p>
            <a:pPr indent="0" lvl="0" marL="0" rtl="0" algn="l">
              <a:spcBef>
                <a:spcPts val="0"/>
              </a:spcBef>
              <a:spcAft>
                <a:spcPts val="0"/>
              </a:spcAft>
              <a:buClr>
                <a:schemeClr val="dk1"/>
              </a:buClr>
              <a:buSzPts val="1100"/>
              <a:buFont typeface="Arial"/>
              <a:buNone/>
            </a:pPr>
            <a:r>
              <a:rPr lang="ja"/>
              <a:t>関節のZ座標の差は、通った4枚が0.36から0.63あるのに対して、この1枚だけ0.14でした。</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異常は実は2つ同時に出ていて、関節が4個検出されてもいました。本来3個です。</a:t>
            </a:r>
            <a:endParaRPr/>
          </a:p>
          <a:p>
            <a:pPr indent="0" lvl="0" marL="0" rtl="0" algn="l">
              <a:spcBef>
                <a:spcPts val="0"/>
              </a:spcBef>
              <a:spcAft>
                <a:spcPts val="0"/>
              </a:spcAft>
              <a:buClr>
                <a:schemeClr val="dk1"/>
              </a:buClr>
              <a:buSzPts val="1100"/>
              <a:buFont typeface="Arial"/>
              <a:buNone/>
            </a:pPr>
            <a:r>
              <a:rPr lang="ja"/>
              <a:t>数が合わない時点でも止まります。</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ja"/>
              <a:t>もし関節の位置を推定する方式だったら、寝た腕に対しても</a:t>
            </a:r>
            <a:endParaRPr/>
          </a:p>
          <a:p>
            <a:pPr indent="0" lvl="0" marL="0" rtl="0" algn="l">
              <a:spcBef>
                <a:spcPts val="0"/>
              </a:spcBef>
              <a:spcAft>
                <a:spcPts val="0"/>
              </a:spcAft>
              <a:buClr>
                <a:schemeClr val="dk1"/>
              </a:buClr>
              <a:buSzPts val="1100"/>
              <a:buFont typeface="Arial"/>
              <a:buNone/>
            </a:pPr>
            <a:r>
              <a:rPr lang="ja"/>
              <a:t>それらしい3個を返して、そのまま先へ進んでいたはずです。</a:t>
            </a:r>
            <a:endParaRPr/>
          </a:p>
          <a:p>
            <a:pPr indent="0" lvl="0" marL="0" rtl="0" algn="l">
              <a:spcBef>
                <a:spcPts val="0"/>
              </a:spcBef>
              <a:spcAft>
                <a:spcPts val="0"/>
              </a:spcAft>
              <a:buClr>
                <a:schemeClr val="dk1"/>
              </a:buClr>
              <a:buSzPts val="1100"/>
              <a:buFont typeface="Arial"/>
              <a:buNone/>
            </a:pPr>
            <a:r>
              <a:rPr lang="ja"/>
              <a:t>間違った形のまま4時間学習して、あとから「なぜか成績が悪い」となります。</a:t>
            </a:r>
            <a:endParaRPr/>
          </a:p>
          <a:p>
            <a:pPr indent="0" lvl="0" marL="0" rtl="0" algn="l">
              <a:spcBef>
                <a:spcPts val="0"/>
              </a:spcBef>
              <a:spcAft>
                <a:spcPts val="0"/>
              </a:spcAft>
              <a:buClr>
                <a:schemeClr val="dk1"/>
              </a:buClr>
              <a:buSzPts val="1100"/>
              <a:buFont typeface="Arial"/>
              <a:buNone/>
            </a:pPr>
            <a:r>
              <a:rPr lang="ja"/>
              <a:t>色を探す方式なので、その場で止まりました。</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409ccd5bbe6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409ccd5bbe6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
              </a:spcBef>
              <a:spcAft>
                <a:spcPts val="0"/>
              </a:spcAft>
              <a:buNone/>
            </a:pPr>
            <a:r>
              <a:rPr lang="ja" sz="1000">
                <a:solidFill>
                  <a:schemeClr val="dk1"/>
                </a:solidFill>
              </a:rPr>
              <a:t>カプセルで表せない形がある</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腕の各パーツは、物理計算では</a:t>
            </a:r>
            <a:r>
              <a:rPr b="1" lang="ja" sz="1000">
                <a:solidFill>
                  <a:schemeClr val="dk1"/>
                </a:solidFill>
              </a:rPr>
              <a:t>カプセル</a:t>
            </a:r>
            <a:r>
              <a:rPr lang="ja" sz="1000">
                <a:solidFill>
                  <a:schemeClr val="dk1"/>
                </a:solidFill>
              </a:rPr>
              <a:t>という形に置き換わります。円柱の両端を半球にした、カプセル錠みたいな形です。</a:t>
            </a:r>
            <a:r>
              <a:rPr b="1" lang="ja" sz="1000">
                <a:solidFill>
                  <a:schemeClr val="dk1"/>
                </a:solidFill>
              </a:rPr>
              <a:t>シミュレータが見るのはこの形だけ</a:t>
            </a:r>
            <a:r>
              <a:rPr lang="ja" sz="1000">
                <a:solidFill>
                  <a:schemeClr val="dk1"/>
                </a:solidFill>
              </a:rPr>
              <a:t>で、元の3Dの形は見ていません。</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棒のようなパーツならよく合います。問題は</a:t>
            </a:r>
            <a:r>
              <a:rPr b="1" lang="ja" sz="1000">
                <a:solidFill>
                  <a:schemeClr val="dk1"/>
                </a:solidFill>
              </a:rPr>
              <a:t>平たい手先</a:t>
            </a:r>
            <a:r>
              <a:rPr lang="ja" sz="1000">
                <a:solidFill>
                  <a:schemeClr val="dk1"/>
                </a:solidFill>
              </a:rPr>
              <a:t>です。平たい板を丸い筒で包もうとすると、はみ出すか、筒を太くしすぎるかのどちらかになります。B1 の手先は</a:t>
            </a:r>
            <a:r>
              <a:rPr b="1" lang="ja" sz="1000">
                <a:solidFill>
                  <a:schemeClr val="dk1"/>
                </a:solidFill>
              </a:rPr>
              <a:t>7割がはみ出しています</a:t>
            </a:r>
            <a:r>
              <a:rPr lang="ja" sz="1000">
                <a:solidFill>
                  <a:schemeClr val="dk1"/>
                </a:solidFill>
              </a:rPr>
              <a:t>。つまり物理の側は、実際には平たい板なのに、細い棒だと思って計算しています。</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これが効くのは、</a:t>
            </a:r>
            <a:r>
              <a:rPr b="1" lang="ja" sz="1000">
                <a:solidFill>
                  <a:schemeClr val="dk1"/>
                </a:solidFill>
              </a:rPr>
              <a:t>手先は対象に触る部分</a:t>
            </a:r>
            <a:r>
              <a:rPr lang="ja" sz="1000">
                <a:solidFill>
                  <a:schemeClr val="dk1"/>
                </a:solidFill>
              </a:rPr>
              <a:t>だからです。押すタスクでは接触の形が結果に効きます。</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箱の形を使えば解決します。ただし</a:t>
            </a:r>
            <a:r>
              <a:rPr b="1" lang="ja" sz="1000">
                <a:solidFill>
                  <a:schemeClr val="dk1"/>
                </a:solidFill>
              </a:rPr>
              <a:t>学習の枠組みが設計変数として扱えるのはカプセルと球だけ</a:t>
            </a:r>
            <a:r>
              <a:rPr lang="ja" sz="1000">
                <a:solidFill>
                  <a:schemeClr val="dk1"/>
                </a:solidFill>
              </a:rPr>
              <a:t>です。箱も書けますが見た目専用で物理には入りません。変えるには探索する変数そのものを広げることになり、</a:t>
            </a:r>
            <a:r>
              <a:rPr b="1" lang="ja" sz="1000">
                <a:solidFill>
                  <a:schemeClr val="dk1"/>
                </a:solidFill>
              </a:rPr>
              <a:t>過去の実験すべてと比較できなくなります</a:t>
            </a:r>
            <a:r>
              <a:rPr lang="ja" sz="1000">
                <a:solidFill>
                  <a:schemeClr val="dk1"/>
                </a:solidFill>
              </a:rPr>
              <a:t>。ですので直さず、限界として書きます。</a:t>
            </a:r>
            <a:endParaRPr sz="1000">
              <a:solidFill>
                <a:schemeClr val="dk1"/>
              </a:solidFill>
            </a:endParaRPr>
          </a:p>
          <a:p>
            <a:pPr indent="0" lvl="0" marL="0" rtl="0" algn="l">
              <a:spcBef>
                <a:spcPts val="200"/>
              </a:spcBef>
              <a:spcAft>
                <a:spcPts val="0"/>
              </a:spcAft>
              <a:buNone/>
            </a:pPr>
            <a:r>
              <a:t/>
            </a:r>
            <a:endParaRPr>
              <a:solidFill>
                <a:schemeClr val="dk1"/>
              </a:solidFill>
            </a:endParaRPr>
          </a:p>
          <a:p>
            <a:pPr indent="0" lvl="0" marL="0" rtl="0" algn="l">
              <a:spcBef>
                <a:spcPts val="0"/>
              </a:spcBef>
              <a:spcAft>
                <a:spcPts val="0"/>
              </a:spcAft>
              <a:buNone/>
            </a:pPr>
            <a:r>
              <a:rPr lang="ja">
                <a:solidFill>
                  <a:schemeClr val="dk1"/>
                </a:solidFill>
              </a:rPr>
              <a:t>間違ったときに通さない</a:t>
            </a:r>
            <a:endParaRPr>
              <a:solidFill>
                <a:schemeClr val="dk1"/>
              </a:solidFill>
            </a:endParaRPr>
          </a:p>
          <a:p>
            <a:pPr indent="0" lvl="0" marL="0" rtl="0" algn="l">
              <a:lnSpc>
                <a:spcPct val="115000"/>
              </a:lnSpc>
              <a:spcBef>
                <a:spcPts val="100"/>
              </a:spcBef>
              <a:spcAft>
                <a:spcPts val="0"/>
              </a:spcAft>
              <a:buClr>
                <a:schemeClr val="dk1"/>
              </a:buClr>
              <a:buSzPts val="1100"/>
              <a:buFont typeface="Arial"/>
              <a:buNone/>
            </a:pPr>
            <a:r>
              <a:rPr lang="ja" sz="1000">
                <a:solidFill>
                  <a:schemeClr val="dk1"/>
                </a:solidFill>
              </a:rPr>
              <a:t>こういう心配があります。</a:t>
            </a:r>
            <a:r>
              <a:rPr b="1" lang="ja" sz="1000">
                <a:solidFill>
                  <a:schemeClr val="dk1"/>
                </a:solidFill>
              </a:rPr>
              <a:t>抽出がおかしな結果を出したとき、誰かが教えてくれるのか。</a:t>
            </a:r>
            <a:r>
              <a:rPr lang="ja" sz="1000">
                <a:solidFill>
                  <a:schemeClr val="dk1"/>
                </a:solidFill>
              </a:rPr>
              <a:t> 以前は誰も教えてくれませんでした。平たい手先が細い棒になっても、そのまま次の工程へ流れていきました。</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いまは</a:t>
            </a:r>
            <a:r>
              <a:rPr b="1" lang="ja" sz="1000">
                <a:solidFill>
                  <a:schemeClr val="dk1"/>
                </a:solidFill>
              </a:rPr>
              <a:t>はみ出した割合をその場で計算して表示し、出力ファイルにも残します</a:t>
            </a:r>
            <a:r>
              <a:rPr lang="ja" sz="1000">
                <a:solidFill>
                  <a:schemeClr val="dk1"/>
                </a:solidFill>
              </a:rPr>
              <a:t>。ですので黙ってはいません。</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b="1" lang="ja" sz="1000">
                <a:solidFill>
                  <a:schemeClr val="dk1"/>
                </a:solidFill>
              </a:rPr>
              <a:t>ただし止まりません。</a:t>
            </a:r>
            <a:r>
              <a:rPr lang="ja" sz="1000">
                <a:solidFill>
                  <a:schemeClr val="dk1"/>
                </a:solidFill>
              </a:rPr>
              <a:t> 止めるには「何パーセント以上はエラー」という線が要ります。ところが測ってみると、</a:t>
            </a:r>
            <a:r>
              <a:rPr b="1" lang="ja" sz="1000">
                <a:solidFill>
                  <a:schemeClr val="dk1"/>
                </a:solidFill>
              </a:rPr>
              <a:t>土台の部分はどれも3割から6割はみ出していて、それが正常</a:t>
            </a:r>
            <a:r>
              <a:rPr lang="ja" sz="1000">
                <a:solidFill>
                  <a:schemeClr val="dk1"/>
                </a:solidFill>
              </a:rPr>
              <a:t>です。立方体に近いのでカプセルでは覆えないからです。単純な線を引くと</a:t>
            </a:r>
            <a:r>
              <a:rPr b="1" lang="ja" sz="1000">
                <a:solidFill>
                  <a:schemeClr val="dk1"/>
                </a:solidFill>
              </a:rPr>
              <a:t>土台が全部エラーになります</a:t>
            </a:r>
            <a:r>
              <a:rPr lang="ja" sz="1000">
                <a:solidFill>
                  <a:schemeClr val="dk1"/>
                </a:solidFill>
              </a:rPr>
              <a:t>。</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正しく線を引くには「土台は除く」とか「部位ごとに基準を変える」といった判断が要ります。</a:t>
            </a:r>
            <a:r>
              <a:rPr b="1" lang="ja" sz="1000">
                <a:solidFill>
                  <a:schemeClr val="dk1"/>
                </a:solidFill>
              </a:rPr>
              <a:t>それはまさに、一度失敗した『根拠のない閾値』と同じ形です</a:t>
            </a:r>
            <a:r>
              <a:rPr lang="ja" sz="1000">
                <a:solidFill>
                  <a:schemeClr val="dk1"/>
                </a:solidFill>
              </a:rPr>
              <a:t>。ですので今は線を置かず、値を出すところまでにしています。</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分割の工程は、分けられないときに例外を出して止まります。</a:t>
            </a:r>
            <a:r>
              <a:rPr b="1" lang="ja" sz="1000">
                <a:solidFill>
                  <a:schemeClr val="dk1"/>
                </a:solidFill>
              </a:rPr>
              <a:t>そことはまだ揃っていません。</a:t>
            </a:r>
            <a:endParaRPr b="1" sz="1000">
              <a:solidFill>
                <a:schemeClr val="dk1"/>
              </a:solidFill>
            </a:endParaRPr>
          </a:p>
          <a:p>
            <a:pPr indent="0" lvl="0" marL="0" rtl="0" algn="l">
              <a:spcBef>
                <a:spcPts val="200"/>
              </a:spcBef>
              <a:spcAft>
                <a:spcPts val="0"/>
              </a:spcAft>
              <a:buNone/>
            </a:pPr>
            <a:r>
              <a:t/>
            </a:r>
            <a:endParaRPr>
              <a:solidFill>
                <a:schemeClr val="dk1"/>
              </a:solidFill>
            </a:endParaRPr>
          </a:p>
          <a:p>
            <a:pPr indent="0" lvl="0" marL="0" rtl="0" algn="l">
              <a:spcBef>
                <a:spcPts val="0"/>
              </a:spcBef>
              <a:spcAft>
                <a:spcPts val="0"/>
              </a:spcAft>
              <a:buNone/>
            </a:pPr>
            <a:r>
              <a:rPr lang="ja">
                <a:solidFill>
                  <a:schemeClr val="dk1"/>
                </a:solidFill>
              </a:rPr>
              <a:t>geom_sizeの探索範囲が実態と合うか</a:t>
            </a:r>
            <a:endParaRPr>
              <a:solidFill>
                <a:schemeClr val="dk1"/>
              </a:solidFill>
            </a:endParaRPr>
          </a:p>
          <a:p>
            <a:pPr indent="0" lvl="0" marL="0" rtl="0" algn="l">
              <a:lnSpc>
                <a:spcPct val="115000"/>
              </a:lnSpc>
              <a:spcBef>
                <a:spcPts val="100"/>
              </a:spcBef>
              <a:spcAft>
                <a:spcPts val="0"/>
              </a:spcAft>
              <a:buClr>
                <a:schemeClr val="dk1"/>
              </a:buClr>
              <a:buSzPts val="1100"/>
              <a:buFont typeface="Arial"/>
              <a:buNone/>
            </a:pPr>
            <a:r>
              <a:rPr lang="ja" sz="1000">
                <a:solidFill>
                  <a:schemeClr val="dk1"/>
                </a:solidFill>
              </a:rPr>
              <a:t>出力ファイルに「太さは3センチから10センチの範囲で探す」という一行が入ります。</a:t>
            </a:r>
            <a:r>
              <a:rPr b="1" lang="ja" sz="1000">
                <a:solidFill>
                  <a:schemeClr val="dk1"/>
                </a:solidFill>
              </a:rPr>
              <a:t>設定に見えます。</a:t>
            </a:r>
            <a:endParaRPr b="1"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ところが</a:t>
            </a:r>
            <a:r>
              <a:rPr b="1" lang="ja" sz="1000">
                <a:solidFill>
                  <a:schemeClr val="dk1"/>
                </a:solidFill>
              </a:rPr>
              <a:t>それを読むコードがどこにもありません</a:t>
            </a:r>
            <a:r>
              <a:rPr lang="ja" sz="1000">
                <a:solidFill>
                  <a:schemeClr val="dk1"/>
                </a:solidFill>
              </a:rPr>
              <a:t>。書き出されるだけで、誰も使っていません。しかも</a:t>
            </a:r>
            <a:r>
              <a:rPr b="1" lang="ja" sz="1000">
                <a:solidFill>
                  <a:schemeClr val="dk1"/>
                </a:solidFill>
              </a:rPr>
              <a:t>実際に取り出した太さがその範囲の外に出ます</a:t>
            </a:r>
            <a:r>
              <a:rPr lang="ja" sz="1000">
                <a:solidFill>
                  <a:schemeClr val="dk1"/>
                </a:solidFill>
              </a:rPr>
              <a:t>。B1 の土台は15センチです。</a:t>
            </a:r>
            <a:endParaRPr sz="1000">
              <a:solidFill>
                <a:schemeClr val="dk1"/>
              </a:solidFill>
            </a:endParaRPr>
          </a:p>
          <a:p>
            <a:pPr indent="0" lvl="0" marL="0" rtl="0" algn="l">
              <a:lnSpc>
                <a:spcPct val="115000"/>
              </a:lnSpc>
              <a:spcBef>
                <a:spcPts val="200"/>
              </a:spcBef>
              <a:spcAft>
                <a:spcPts val="0"/>
              </a:spcAft>
              <a:buClr>
                <a:schemeClr val="dk1"/>
              </a:buClr>
              <a:buSzPts val="1100"/>
              <a:buFont typeface="Arial"/>
              <a:buNone/>
            </a:pPr>
            <a:r>
              <a:rPr lang="ja" sz="1000">
                <a:solidFill>
                  <a:schemeClr val="dk1"/>
                </a:solidFill>
              </a:rPr>
              <a:t>つまり</a:t>
            </a:r>
            <a:r>
              <a:rPr b="1" lang="ja" sz="1000">
                <a:solidFill>
                  <a:schemeClr val="dk1"/>
                </a:solidFill>
              </a:rPr>
              <a:t>何も説明していない札が貼ってある状態</a:t>
            </a:r>
            <a:r>
              <a:rPr lang="ja" sz="1000">
                <a:solidFill>
                  <a:schemeClr val="dk1"/>
                </a:solidFill>
              </a:rPr>
              <a:t>です。ファイルを読んだ人は本当の探索範囲だと思って誤解します。消すか、実際の範囲に合わせるかを決めるだけなので、</a:t>
            </a:r>
            <a:r>
              <a:rPr b="1" lang="ja" sz="1000">
                <a:solidFill>
                  <a:schemeClr val="dk1"/>
                </a:solidFill>
              </a:rPr>
              <a:t>一行の判断で済みます</a:t>
            </a:r>
            <a:r>
              <a:rPr lang="ja" sz="1000">
                <a:solidFill>
                  <a:schemeClr val="dk1"/>
                </a:solidFill>
              </a:rPr>
              <a:t>。</a:t>
            </a:r>
            <a:endParaRPr sz="1000">
              <a:solidFill>
                <a:schemeClr val="dk1"/>
              </a:solidFill>
            </a:endParaRPr>
          </a:p>
          <a:p>
            <a:pPr indent="0" lvl="0" marL="0" rtl="0" algn="l">
              <a:spcBef>
                <a:spcPts val="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409ccd5bbe6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409ccd5bbe6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公称=実効とは？</a:t>
            </a:r>
            <a:br>
              <a:rPr lang="ja"/>
            </a:br>
            <a:r>
              <a:rPr lang="ja" sz="1000">
                <a:solidFill>
                  <a:schemeClr val="dk1"/>
                </a:solidFill>
              </a:rPr>
              <a:t>モデルのファイルには、腕の長さが2か所に書いてあります。ひとつは見た目の長さ、もうひとつは関節をどこに取り付けるかです。ロボットが実際に動くときに効くのは、関節の位置の方だけです。見た目は計算に入りません。</a:t>
            </a:r>
            <a:endParaRPr sz="1000">
              <a:solidFill>
                <a:schemeClr val="dk1"/>
              </a:solidFill>
            </a:endParaRPr>
          </a:p>
          <a:p>
            <a:pPr indent="0" lvl="0" marL="0" rtl="0" algn="l">
              <a:lnSpc>
                <a:spcPct val="115000"/>
              </a:lnSpc>
              <a:spcBef>
                <a:spcPts val="100"/>
              </a:spcBef>
              <a:spcAft>
                <a:spcPts val="0"/>
              </a:spcAft>
              <a:buClr>
                <a:schemeClr val="dk1"/>
              </a:buClr>
              <a:buSzPts val="1100"/>
              <a:buFont typeface="Arial"/>
              <a:buNone/>
            </a:pPr>
            <a:r>
              <a:rPr lang="ja" sz="1000">
                <a:solidFill>
                  <a:schemeClr val="dk1"/>
                </a:solidFill>
              </a:rPr>
              <a:t>生成器が見た目だけを伸ばして、関節の位置を元のまま残していました。だから</a:t>
            </a:r>
            <a:r>
              <a:rPr b="1" lang="ja" sz="1000">
                <a:solidFill>
                  <a:schemeClr val="dk1"/>
                </a:solidFill>
              </a:rPr>
              <a:t>80センチと書いてある腕が、実際には50センチしか届きませんでした</a:t>
            </a:r>
            <a:r>
              <a:rPr lang="ja" sz="1000">
                <a:solidFill>
                  <a:schemeClr val="dk1"/>
                </a:solidFill>
              </a:rPr>
              <a:t>。リンクだけが伸びて、関節が動かないので、腕が折り重なった形になっていたんです。</a:t>
            </a:r>
            <a:br>
              <a:rPr lang="ja" sz="1000">
                <a:solidFill>
                  <a:schemeClr val="dk1"/>
                </a:solidFill>
              </a:rPr>
            </a:br>
            <a:r>
              <a:rPr lang="ja" sz="1000">
                <a:solidFill>
                  <a:schemeClr val="dk1"/>
                </a:solidFill>
              </a:rPr>
              <a:t>気づいたのは、2回まわした学習が小数点2桁までぴったり同じ値を出したからです。おかしいと思って計算し直したら、50センチの腕だと仮定したときだけ数字が合いました。</a:t>
            </a:r>
            <a:br>
              <a:rPr lang="ja" sz="1000">
                <a:solidFill>
                  <a:schemeClr val="dk1"/>
                </a:solidFill>
              </a:rPr>
            </a:br>
            <a:r>
              <a:rPr lang="ja" sz="1000">
                <a:solidFill>
                  <a:schemeClr val="dk1"/>
                </a:solidFill>
              </a:rPr>
              <a:t>いまは、書いてある長さと実際に届く長さが一致するかを、毎回機械で確かめています。</a:t>
            </a:r>
            <a:endParaRPr sz="1000">
              <a:solidFill>
                <a:schemeClr val="dk1"/>
              </a:solidFill>
            </a:endParaRPr>
          </a:p>
          <a:p>
            <a:pPr indent="0" lvl="0" marL="0" rtl="0" algn="l">
              <a:spcBef>
                <a:spcPts val="200"/>
              </a:spcBef>
              <a:spcAft>
                <a:spcPts val="0"/>
              </a:spcAft>
              <a:buNone/>
            </a:pPr>
            <a:br>
              <a:rPr lang="ja"/>
            </a:br>
            <a:r>
              <a:rPr lang="ja"/>
              <a:t>表示用と物理の一致が手描き版ではずれていたとは？</a:t>
            </a:r>
            <a:br>
              <a:rPr lang="ja"/>
            </a:br>
            <a:r>
              <a:rPr lang="ja" sz="1000">
                <a:solidFill>
                  <a:schemeClr val="dk1"/>
                </a:solidFill>
              </a:rPr>
              <a:t>ホッケー台には2つのファイルがありました。ひとつは画面に映すためのもの、もうひとつは実際に物理計算で使うものです。最初は映すだけのつもりだったので、映像用を手で書きました。</a:t>
            </a:r>
            <a:endParaRPr sz="1000">
              <a:solidFill>
                <a:schemeClr val="dk1"/>
              </a:solidFill>
            </a:endParaRPr>
          </a:p>
          <a:p>
            <a:pPr indent="0" lvl="0" marL="0" rtl="0" algn="l">
              <a:lnSpc>
                <a:spcPct val="115000"/>
              </a:lnSpc>
              <a:spcBef>
                <a:spcPts val="100"/>
              </a:spcBef>
              <a:spcAft>
                <a:spcPts val="0"/>
              </a:spcAft>
              <a:buClr>
                <a:schemeClr val="dk1"/>
              </a:buClr>
              <a:buSzPts val="1100"/>
              <a:buFont typeface="Arial"/>
              <a:buNone/>
            </a:pPr>
            <a:r>
              <a:rPr lang="ja" sz="1000">
                <a:solidFill>
                  <a:schemeClr val="dk1"/>
                </a:solidFill>
              </a:rPr>
              <a:t>あとから方針が変わって、壁を物理にも入れることになりました。そこで計算用に本物ができたんですが、手で書いた映像用が残ったまま、中身がずれていました。壁の位置が5センチ、ゴールの幅が10センチ違っていました。</a:t>
            </a:r>
            <a:br>
              <a:rPr lang="ja" sz="1000">
                <a:solidFill>
                  <a:schemeClr val="dk1"/>
                </a:solidFill>
              </a:rPr>
            </a:br>
            <a:r>
              <a:rPr lang="ja" sz="1000">
                <a:solidFill>
                  <a:schemeClr val="dk1"/>
                </a:solidFill>
              </a:rPr>
              <a:t>一番効いたのは3つ目です。ゴールの前に置いた板が、映像の方に描かれていませんでした。この実験は「まっすぐ入らないので壁で反射させて入れられるか」を見るものです。板が映っていない映像を見ても、なぜ反射が必要なのかが分かりません。</a:t>
            </a:r>
            <a:br>
              <a:rPr lang="ja" sz="1000">
                <a:solidFill>
                  <a:schemeClr val="dk1"/>
                </a:solidFill>
              </a:rPr>
            </a:br>
            <a:r>
              <a:rPr lang="ja" sz="1000">
                <a:solidFill>
                  <a:schemeClr val="dk1"/>
                </a:solidFill>
              </a:rPr>
              <a:t>いまは計算用のファイルから映像用を自動で作っています。同じ数字から両方を出すので、ずれようがありません。</a:t>
            </a:r>
            <a:endParaRPr sz="1000">
              <a:solidFill>
                <a:schemeClr val="dk1"/>
              </a:solidFill>
            </a:endParaRPr>
          </a:p>
          <a:p>
            <a:pPr indent="0" lvl="0" marL="0" rtl="0" algn="l">
              <a:spcBef>
                <a:spcPts val="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409ccd5bbe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409ccd5bbe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形態集合を順序づけるっていうのは？</a:t>
            </a:r>
            <a:br>
              <a:rPr lang="ja"/>
            </a:br>
            <a:r>
              <a:rPr lang="ja"/>
              <a:t>⇒そもそも学習の結果が「合格不合格の0,1でなく点数という結果なので複数の候補がないと比較して論じれない」ため複数の候補で実験できて優劣を確認できたということ。</a:t>
            </a:r>
            <a:br>
              <a:rPr lang="ja"/>
            </a:br>
            <a:r>
              <a:rPr lang="ja"/>
              <a:t>　</a:t>
            </a:r>
            <a:r>
              <a:rPr lang="ja"/>
              <a:t>(ここでいう複数の候補というのは1つのスケッチからスケールを0.5 倍、1.1 倍、1.8 倍に縮尺したもの)</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順位ってなに？</a:t>
            </a:r>
            <a:endParaRPr/>
          </a:p>
          <a:p>
            <a:pPr indent="0" lvl="0" marL="0" rtl="0" algn="l">
              <a:spcBef>
                <a:spcPts val="0"/>
              </a:spcBef>
              <a:spcAft>
                <a:spcPts val="0"/>
              </a:spcAft>
              <a:buNone/>
            </a:pPr>
            <a:r>
              <a:rPr lang="ja"/>
              <a:t>⇒複数の候補ごとのそのタスクにおける最終スコアの順位。</a:t>
            </a:r>
            <a:br>
              <a:rPr lang="ja"/>
            </a:br>
            <a:r>
              <a:rPr lang="ja"/>
              <a:t>　</a:t>
            </a:r>
            <a:r>
              <a:rPr lang="ja" sz="1000">
                <a:solidFill>
                  <a:srgbClr val="CCCCCC"/>
                </a:solidFill>
                <a:highlight>
                  <a:srgbClr val="313131"/>
                </a:highlight>
              </a:rPr>
              <a:t>縮尺の違いによるあるタスクにおける順位はSEED値が変わっても変化しないって横型では言えたけど縦型では言えなかった。</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順位がタスクで反転するのは</a:t>
            </a:r>
            <a:endParaRPr/>
          </a:p>
          <a:p>
            <a:pPr indent="0" lvl="0" marL="0" rtl="0" algn="l">
              <a:spcBef>
                <a:spcPts val="0"/>
              </a:spcBef>
              <a:spcAft>
                <a:spcPts val="0"/>
              </a:spcAft>
              <a:buNone/>
            </a:pPr>
            <a:r>
              <a:rPr lang="ja"/>
              <a:t>タスクによらずただただ長いほうが有利なんじゃないの？っていう疑問を消すためのもの</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この根拠の数字はどこのアドレス？</a:t>
            </a:r>
            <a:endParaRPr/>
          </a:p>
          <a:p>
            <a:pPr indent="0" lvl="0" marL="0" rtl="0" algn="l">
              <a:spcBef>
                <a:spcPts val="0"/>
              </a:spcBef>
              <a:spcAft>
                <a:spcPts val="0"/>
              </a:spcAft>
              <a:buNone/>
            </a:pPr>
            <a:r>
              <a:rPr lang="ja" u="sng">
                <a:solidFill>
                  <a:schemeClr val="hlink"/>
                </a:solidFill>
              </a:rPr>
              <a:t>⇒</a:t>
            </a:r>
            <a:r>
              <a:rPr lang="ja" u="sng">
                <a:solidFill>
                  <a:schemeClr val="hlink"/>
                </a:solidFill>
                <a:hlinkClick r:id="rId2"/>
              </a:rPr>
              <a:t>実験系譜MDにあるよ</a:t>
            </a:r>
            <a:endParaRPr/>
          </a:p>
          <a:p>
            <a:pPr indent="0" lvl="0" marL="0" rtl="0" algn="l">
              <a:spcBef>
                <a:spcPts val="0"/>
              </a:spcBef>
              <a:spcAft>
                <a:spcPts val="0"/>
              </a:spcAft>
              <a:buNone/>
            </a:pPr>
            <a:br>
              <a:rPr lang="ja"/>
            </a:br>
            <a:r>
              <a:rPr lang="ja"/>
              <a:t>横のアームのSEED値によらない順位付けは2SEEDで結論づけたくせに、縦型のSEEDの主張をひっくり返すためには膨大な数データを集めないといけないのはなぜ？</a:t>
            </a:r>
            <a:br>
              <a:rPr lang="ja"/>
            </a:br>
            <a:r>
              <a:rPr lang="ja"/>
              <a:t>主張におけるデータの数は同じでないといけなくない？</a:t>
            </a:r>
            <a:endParaRPr/>
          </a:p>
          <a:p>
            <a:pPr indent="0" lvl="0" marL="0" rtl="0" algn="l">
              <a:spcBef>
                <a:spcPts val="0"/>
              </a:spcBef>
              <a:spcAft>
                <a:spcPts val="0"/>
              </a:spcAft>
              <a:buNone/>
            </a:pPr>
            <a:r>
              <a:rPr lang="ja"/>
              <a:t>⇒だから絶対的な事実であるとは言わないよーあくまで</a:t>
            </a:r>
            <a:r>
              <a:rPr lang="ja" sz="1000">
                <a:solidFill>
                  <a:srgbClr val="CCCCCC"/>
                </a:solidFill>
                <a:highlight>
                  <a:srgbClr val="181818"/>
                </a:highlight>
              </a:rPr>
              <a:t>「2 seed の間で一貫性が確認された」に留める</a:t>
            </a:r>
            <a:endParaRPr sz="1000">
              <a:solidFill>
                <a:srgbClr val="CCCCCC"/>
              </a:solidFill>
              <a:highlight>
                <a:srgbClr val="181818"/>
              </a:highlight>
            </a:endParaRPr>
          </a:p>
          <a:p>
            <a:pPr indent="0" lvl="0" marL="0" rtl="0" algn="l">
              <a:spcBef>
                <a:spcPts val="0"/>
              </a:spcBef>
              <a:spcAft>
                <a:spcPts val="0"/>
              </a:spcAft>
              <a:buNone/>
            </a:pPr>
            <a:r>
              <a:rPr b="1" lang="ja" sz="1000">
                <a:solidFill>
                  <a:srgbClr val="CCCCCC"/>
                </a:solidFill>
                <a:highlight>
                  <a:srgbClr val="181818"/>
                </a:highlight>
              </a:rPr>
              <a:t>　立証と反証では必要な数が違います。</a:t>
            </a:r>
            <a:r>
              <a:rPr lang="ja" sz="1000">
                <a:solidFill>
                  <a:srgbClr val="CCCCCC"/>
                </a:solidFill>
                <a:highlight>
                  <a:srgbClr val="181818"/>
                </a:highlight>
              </a:rPr>
              <a:t> 「順序がある」は全部が揃って初めて言えますが、「順序はない」は1つ崩れれば言えます。ここは非対称でよく、非対称でないと反例が意味を持たなくなります。</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pusherは長いリンクでギア出力も高いバット戦術。</a:t>
            </a:r>
            <a:endParaRPr/>
          </a:p>
          <a:p>
            <a:pPr indent="0" lvl="0" marL="0" rtl="0" algn="l">
              <a:spcBef>
                <a:spcPts val="0"/>
              </a:spcBef>
              <a:spcAft>
                <a:spcPts val="0"/>
              </a:spcAft>
              <a:buNone/>
            </a:pPr>
            <a:r>
              <a:rPr lang="ja"/>
              <a:t>reachrは太く短くギア出力も最低</a:t>
            </a:r>
            <a:endParaRPr/>
          </a:p>
          <a:p>
            <a:pPr indent="0" lvl="0" marL="0" rtl="0" algn="l">
              <a:spcBef>
                <a:spcPts val="0"/>
              </a:spcBef>
              <a:spcAft>
                <a:spcPts val="0"/>
              </a:spcAft>
              <a:buNone/>
            </a:pPr>
            <a:r>
              <a:rPr lang="ja"/>
              <a:t>⇒タスクごとに最適な形状と戦略を見つけ出したといえる。</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また、TARGET PUSHERは</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f6f0a30138_0_9:notes"/>
          <p:cNvSpPr txBox="1"/>
          <p:nvPr>
            <p:ph idx="1" type="body"/>
          </p:nvPr>
        </p:nvSpPr>
        <p:spPr>
          <a:xfrm>
            <a:off x="685800" y="4343400"/>
            <a:ext cx="5486100" cy="41145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Clr>
                <a:schemeClr val="dk1"/>
              </a:buClr>
              <a:buSzPts val="1100"/>
              <a:buFont typeface="Arial"/>
              <a:buNone/>
            </a:pPr>
            <a:r>
              <a:t/>
            </a:r>
            <a:endParaRPr sz="1100"/>
          </a:p>
          <a:p>
            <a:pPr indent="0" lvl="0" marL="0" rtl="0" algn="l">
              <a:lnSpc>
                <a:spcPct val="100000"/>
              </a:lnSpc>
              <a:spcBef>
                <a:spcPts val="0"/>
              </a:spcBef>
              <a:spcAft>
                <a:spcPts val="0"/>
              </a:spcAft>
              <a:buSzPts val="1100"/>
              <a:buFont typeface="Arial"/>
              <a:buNone/>
            </a:pPr>
            <a:r>
              <a:t/>
            </a:r>
            <a:endParaRPr sz="1100"/>
          </a:p>
        </p:txBody>
      </p:sp>
      <p:sp>
        <p:nvSpPr>
          <p:cNvPr id="368" name="Google Shape;368;g3f6f0a30138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58" name="Shape 58"/>
        <p:cNvGrpSpPr/>
        <p:nvPr/>
      </p:nvGrpSpPr>
      <p:grpSpPr>
        <a:xfrm>
          <a:off x="0" y="0"/>
          <a:ext cx="0" cy="0"/>
          <a:chOff x="0" y="0"/>
          <a:chExt cx="0" cy="0"/>
        </a:xfrm>
      </p:grpSpPr>
      <p:sp>
        <p:nvSpPr>
          <p:cNvPr id="59" name="Google Shape;59;p14"/>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1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61" name="Google Shape;61;p14"/>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2" name="Shape 62"/>
        <p:cNvGrpSpPr/>
        <p:nvPr/>
      </p:nvGrpSpPr>
      <p:grpSpPr>
        <a:xfrm>
          <a:off x="0" y="0"/>
          <a:ext cx="0" cy="0"/>
          <a:chOff x="0" y="0"/>
          <a:chExt cx="0" cy="0"/>
        </a:xfrm>
      </p:grpSpPr>
      <p:sp>
        <p:nvSpPr>
          <p:cNvPr id="63" name="Google Shape;63;p15"/>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5"/>
          <p:cNvSpPr txBox="1"/>
          <p:nvPr>
            <p:ph idx="1" type="subTitle"/>
          </p:nvPr>
        </p:nvSpPr>
        <p:spPr>
          <a:xfrm>
            <a:off x="685800" y="1275210"/>
            <a:ext cx="7772100" cy="308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5"/>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1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67" name="Google Shape;67;p15"/>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8" name="Shape 68"/>
        <p:cNvGrpSpPr/>
        <p:nvPr/>
      </p:nvGrpSpPr>
      <p:grpSpPr>
        <a:xfrm>
          <a:off x="0" y="0"/>
          <a:ext cx="0" cy="0"/>
          <a:chOff x="0" y="0"/>
          <a:chExt cx="0" cy="0"/>
        </a:xfrm>
      </p:grpSpPr>
      <p:sp>
        <p:nvSpPr>
          <p:cNvPr id="69" name="Google Shape;69;p16"/>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16"/>
          <p:cNvSpPr txBox="1"/>
          <p:nvPr>
            <p:ph idx="1" type="body"/>
          </p:nvPr>
        </p:nvSpPr>
        <p:spPr>
          <a:xfrm>
            <a:off x="685800" y="1275210"/>
            <a:ext cx="77721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1" name="Google Shape;71;p16"/>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6"/>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73" name="Google Shape;73;p16"/>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17"/>
          <p:cNvSpPr txBox="1"/>
          <p:nvPr>
            <p:ph idx="1" type="body"/>
          </p:nvPr>
        </p:nvSpPr>
        <p:spPr>
          <a:xfrm>
            <a:off x="6858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7" name="Google Shape;77;p17"/>
          <p:cNvSpPr txBox="1"/>
          <p:nvPr>
            <p:ph idx="2" type="body"/>
          </p:nvPr>
        </p:nvSpPr>
        <p:spPr>
          <a:xfrm>
            <a:off x="46683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78" name="Google Shape;78;p17"/>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17"/>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80" name="Google Shape;80;p17"/>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8"/>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8"/>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85" name="Google Shape;85;p18"/>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6" name="Shape 86"/>
        <p:cNvGrpSpPr/>
        <p:nvPr/>
      </p:nvGrpSpPr>
      <p:grpSpPr>
        <a:xfrm>
          <a:off x="0" y="0"/>
          <a:ext cx="0" cy="0"/>
          <a:chOff x="0" y="0"/>
          <a:chExt cx="0" cy="0"/>
        </a:xfrm>
      </p:grpSpPr>
      <p:sp>
        <p:nvSpPr>
          <p:cNvPr id="87" name="Google Shape;87;p19"/>
          <p:cNvSpPr txBox="1"/>
          <p:nvPr>
            <p:ph idx="1" type="subTitle"/>
          </p:nvPr>
        </p:nvSpPr>
        <p:spPr>
          <a:xfrm>
            <a:off x="468180" y="33210"/>
            <a:ext cx="7272000" cy="311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9"/>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9" name="Google Shape;89;p1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90" name="Google Shape;90;p19"/>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91" name="Shape 91"/>
        <p:cNvGrpSpPr/>
        <p:nvPr/>
      </p:nvGrpSpPr>
      <p:grpSpPr>
        <a:xfrm>
          <a:off x="0" y="0"/>
          <a:ext cx="0" cy="0"/>
          <a:chOff x="0" y="0"/>
          <a:chExt cx="0" cy="0"/>
        </a:xfrm>
      </p:grpSpPr>
      <p:sp>
        <p:nvSpPr>
          <p:cNvPr id="92" name="Google Shape;92;p20"/>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3" name="Google Shape;93;p20"/>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4" name="Google Shape;94;p20"/>
          <p:cNvSpPr txBox="1"/>
          <p:nvPr>
            <p:ph idx="2" type="body"/>
          </p:nvPr>
        </p:nvSpPr>
        <p:spPr>
          <a:xfrm>
            <a:off x="46683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5" name="Google Shape;95;p20"/>
          <p:cNvSpPr txBox="1"/>
          <p:nvPr>
            <p:ph idx="3" type="body"/>
          </p:nvPr>
        </p:nvSpPr>
        <p:spPr>
          <a:xfrm>
            <a:off x="6858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96" name="Google Shape;96;p20"/>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7" name="Google Shape;97;p2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98" name="Google Shape;98;p20"/>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9" name="Shape 99"/>
        <p:cNvGrpSpPr/>
        <p:nvPr/>
      </p:nvGrpSpPr>
      <p:grpSpPr>
        <a:xfrm>
          <a:off x="0" y="0"/>
          <a:ext cx="0" cy="0"/>
          <a:chOff x="0" y="0"/>
          <a:chExt cx="0" cy="0"/>
        </a:xfrm>
      </p:grpSpPr>
      <p:sp>
        <p:nvSpPr>
          <p:cNvPr id="100" name="Google Shape;100;p21"/>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21"/>
          <p:cNvSpPr txBox="1"/>
          <p:nvPr>
            <p:ph idx="1" type="body"/>
          </p:nvPr>
        </p:nvSpPr>
        <p:spPr>
          <a:xfrm>
            <a:off x="685800" y="1275210"/>
            <a:ext cx="3792600" cy="3085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2" name="Google Shape;102;p21"/>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3" name="Google Shape;103;p21"/>
          <p:cNvSpPr txBox="1"/>
          <p:nvPr>
            <p:ph idx="3" type="body"/>
          </p:nvPr>
        </p:nvSpPr>
        <p:spPr>
          <a:xfrm>
            <a:off x="46683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04" name="Google Shape;104;p21"/>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21"/>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06" name="Google Shape;106;p21"/>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07" name="Shape 107"/>
        <p:cNvGrpSpPr/>
        <p:nvPr/>
      </p:nvGrpSpPr>
      <p:grpSpPr>
        <a:xfrm>
          <a:off x="0" y="0"/>
          <a:ext cx="0" cy="0"/>
          <a:chOff x="0" y="0"/>
          <a:chExt cx="0" cy="0"/>
        </a:xfrm>
      </p:grpSpPr>
      <p:sp>
        <p:nvSpPr>
          <p:cNvPr id="108" name="Google Shape;108;p22"/>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22"/>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0" name="Google Shape;110;p22"/>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1" name="Google Shape;111;p22"/>
          <p:cNvSpPr txBox="1"/>
          <p:nvPr>
            <p:ph idx="3" type="body"/>
          </p:nvPr>
        </p:nvSpPr>
        <p:spPr>
          <a:xfrm>
            <a:off x="685800" y="28871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2" name="Google Shape;112;p22"/>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22"/>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14" name="Google Shape;114;p22"/>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15" name="Shape 115"/>
        <p:cNvGrpSpPr/>
        <p:nvPr/>
      </p:nvGrpSpPr>
      <p:grpSpPr>
        <a:xfrm>
          <a:off x="0" y="0"/>
          <a:ext cx="0" cy="0"/>
          <a:chOff x="0" y="0"/>
          <a:chExt cx="0" cy="0"/>
        </a:xfrm>
      </p:grpSpPr>
      <p:sp>
        <p:nvSpPr>
          <p:cNvPr id="116" name="Google Shape;116;p23"/>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23"/>
          <p:cNvSpPr txBox="1"/>
          <p:nvPr>
            <p:ph idx="1" type="body"/>
          </p:nvPr>
        </p:nvSpPr>
        <p:spPr>
          <a:xfrm>
            <a:off x="685800" y="12752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8" name="Google Shape;118;p23"/>
          <p:cNvSpPr txBox="1"/>
          <p:nvPr>
            <p:ph idx="2" type="body"/>
          </p:nvPr>
        </p:nvSpPr>
        <p:spPr>
          <a:xfrm>
            <a:off x="685800" y="2887110"/>
            <a:ext cx="77721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19" name="Google Shape;119;p23"/>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2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21" name="Google Shape;121;p23"/>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2" name="Shape 122"/>
        <p:cNvGrpSpPr/>
        <p:nvPr/>
      </p:nvGrpSpPr>
      <p:grpSpPr>
        <a:xfrm>
          <a:off x="0" y="0"/>
          <a:ext cx="0" cy="0"/>
          <a:chOff x="0" y="0"/>
          <a:chExt cx="0" cy="0"/>
        </a:xfrm>
      </p:grpSpPr>
      <p:sp>
        <p:nvSpPr>
          <p:cNvPr id="123" name="Google Shape;123;p24"/>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24"/>
          <p:cNvSpPr txBox="1"/>
          <p:nvPr>
            <p:ph idx="1" type="body"/>
          </p:nvPr>
        </p:nvSpPr>
        <p:spPr>
          <a:xfrm>
            <a:off x="6858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5" name="Google Shape;125;p24"/>
          <p:cNvSpPr txBox="1"/>
          <p:nvPr>
            <p:ph idx="2" type="body"/>
          </p:nvPr>
        </p:nvSpPr>
        <p:spPr>
          <a:xfrm>
            <a:off x="4668300" y="12752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6" name="Google Shape;126;p24"/>
          <p:cNvSpPr txBox="1"/>
          <p:nvPr>
            <p:ph idx="3" type="body"/>
          </p:nvPr>
        </p:nvSpPr>
        <p:spPr>
          <a:xfrm>
            <a:off x="6858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7" name="Google Shape;127;p24"/>
          <p:cNvSpPr txBox="1"/>
          <p:nvPr>
            <p:ph idx="4" type="body"/>
          </p:nvPr>
        </p:nvSpPr>
        <p:spPr>
          <a:xfrm>
            <a:off x="4668300" y="2887110"/>
            <a:ext cx="379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8" name="Google Shape;128;p24"/>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2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30" name="Google Shape;130;p24"/>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31" name="Shape 131"/>
        <p:cNvGrpSpPr/>
        <p:nvPr/>
      </p:nvGrpSpPr>
      <p:grpSpPr>
        <a:xfrm>
          <a:off x="0" y="0"/>
          <a:ext cx="0" cy="0"/>
          <a:chOff x="0" y="0"/>
          <a:chExt cx="0" cy="0"/>
        </a:xfrm>
      </p:grpSpPr>
      <p:sp>
        <p:nvSpPr>
          <p:cNvPr id="132" name="Google Shape;132;p25"/>
          <p:cNvSpPr txBox="1"/>
          <p:nvPr>
            <p:ph type="title"/>
          </p:nvPr>
        </p:nvSpPr>
        <p:spPr>
          <a:xfrm>
            <a:off x="468180" y="33210"/>
            <a:ext cx="7272000" cy="6711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25"/>
          <p:cNvSpPr txBox="1"/>
          <p:nvPr>
            <p:ph idx="1" type="body"/>
          </p:nvPr>
        </p:nvSpPr>
        <p:spPr>
          <a:xfrm>
            <a:off x="68580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4" name="Google Shape;134;p25"/>
          <p:cNvSpPr txBox="1"/>
          <p:nvPr>
            <p:ph idx="2" type="body"/>
          </p:nvPr>
        </p:nvSpPr>
        <p:spPr>
          <a:xfrm>
            <a:off x="331344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5" name="Google Shape;135;p25"/>
          <p:cNvSpPr txBox="1"/>
          <p:nvPr>
            <p:ph idx="3" type="body"/>
          </p:nvPr>
        </p:nvSpPr>
        <p:spPr>
          <a:xfrm>
            <a:off x="5941350" y="12752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6" name="Google Shape;136;p25"/>
          <p:cNvSpPr txBox="1"/>
          <p:nvPr>
            <p:ph idx="4" type="body"/>
          </p:nvPr>
        </p:nvSpPr>
        <p:spPr>
          <a:xfrm>
            <a:off x="68580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7" name="Google Shape;137;p25"/>
          <p:cNvSpPr txBox="1"/>
          <p:nvPr>
            <p:ph idx="5" type="body"/>
          </p:nvPr>
        </p:nvSpPr>
        <p:spPr>
          <a:xfrm>
            <a:off x="331344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8" name="Google Shape;138;p25"/>
          <p:cNvSpPr txBox="1"/>
          <p:nvPr>
            <p:ph idx="6" type="body"/>
          </p:nvPr>
        </p:nvSpPr>
        <p:spPr>
          <a:xfrm>
            <a:off x="5941350" y="2887110"/>
            <a:ext cx="2502600" cy="14718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100"/>
              <a:buNone/>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39" name="Google Shape;139;p25"/>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0" name="Google Shape;140;p2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141" name="Google Shape;141;p25"/>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4.png"/><Relationship Id="rId2" Type="http://schemas.openxmlformats.org/officeDocument/2006/relationships/image" Target="../media/image1.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theme" Target="../theme/theme3.xml"/><Relationship Id="rId14" Type="http://schemas.openxmlformats.org/officeDocument/2006/relationships/slideLayout" Target="../slideLayouts/slideLayout2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1">
            <a:alphaModFix/>
          </a:blip>
          <a:srcRect b="0" l="0" r="0" t="0"/>
          <a:stretch/>
        </p:blipFill>
        <p:spPr>
          <a:xfrm>
            <a:off x="1620" y="1080"/>
            <a:ext cx="6856650" cy="748710"/>
          </a:xfrm>
          <a:prstGeom prst="rect">
            <a:avLst/>
          </a:prstGeom>
          <a:noFill/>
          <a:ln>
            <a:noFill/>
          </a:ln>
        </p:spPr>
      </p:pic>
      <p:pic>
        <p:nvPicPr>
          <p:cNvPr id="52" name="Google Shape;52;p13"/>
          <p:cNvPicPr preferRelativeResize="0"/>
          <p:nvPr/>
        </p:nvPicPr>
        <p:blipFill rotWithShape="1">
          <a:blip r:embed="rId2">
            <a:alphaModFix/>
          </a:blip>
          <a:srcRect b="0" l="0" r="0" t="0"/>
          <a:stretch/>
        </p:blipFill>
        <p:spPr>
          <a:xfrm>
            <a:off x="7362090" y="443880"/>
            <a:ext cx="1241459" cy="303210"/>
          </a:xfrm>
          <a:prstGeom prst="rect">
            <a:avLst/>
          </a:prstGeom>
          <a:noFill/>
          <a:ln>
            <a:noFill/>
          </a:ln>
        </p:spPr>
      </p:pic>
      <p:sp>
        <p:nvSpPr>
          <p:cNvPr id="53" name="Google Shape;53;p13"/>
          <p:cNvSpPr txBox="1"/>
          <p:nvPr>
            <p:ph type="title"/>
          </p:nvPr>
        </p:nvSpPr>
        <p:spPr>
          <a:xfrm>
            <a:off x="1142910" y="841860"/>
            <a:ext cx="6857700" cy="1790700"/>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13"/>
          <p:cNvSpPr txBox="1"/>
          <p:nvPr>
            <p:ph idx="10" type="dt"/>
          </p:nvPr>
        </p:nvSpPr>
        <p:spPr>
          <a:xfrm>
            <a:off x="685800" y="4686390"/>
            <a:ext cx="1905000" cy="3426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13"/>
          <p:cNvSpPr txBox="1"/>
          <p:nvPr>
            <p:ph idx="11" type="ftr"/>
          </p:nvPr>
        </p:nvSpPr>
        <p:spPr>
          <a:xfrm>
            <a:off x="3124170" y="4686390"/>
            <a:ext cx="2895300" cy="342600"/>
          </a:xfrm>
          <a:prstGeom prst="rect">
            <a:avLst/>
          </a:prstGeom>
          <a:noFill/>
          <a:ln>
            <a:noFill/>
          </a:ln>
        </p:spPr>
        <p:txBody>
          <a:bodyPr anchorCtr="0" anchor="t"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6" name="Google Shape;56;p1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sp>
        <p:nvSpPr>
          <p:cNvPr id="57" name="Google Shape;57;p13"/>
          <p:cNvSpPr txBox="1"/>
          <p:nvPr>
            <p:ph idx="1" type="body"/>
          </p:nvPr>
        </p:nvSpPr>
        <p:spPr>
          <a:xfrm>
            <a:off x="457110" y="1203390"/>
            <a:ext cx="8229300" cy="29832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4.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9.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2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ja"/>
              <a:t>増沢さんゼミ_0911</a:t>
            </a:r>
            <a:endParaRPr/>
          </a:p>
        </p:txBody>
      </p:sp>
      <p:sp>
        <p:nvSpPr>
          <p:cNvPr id="147" name="Google Shape;147;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a:t>秋田光志朗</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134156" y="168557"/>
            <a:ext cx="8924100" cy="2670600"/>
          </a:xfrm>
          <a:prstGeom prst="rect">
            <a:avLst/>
          </a:prstGeom>
          <a:noFill/>
          <a:ln>
            <a:noFill/>
          </a:ln>
        </p:spPr>
        <p:txBody>
          <a:bodyPr anchorCtr="0" anchor="b" bIns="0" lIns="0" spcFirstLastPara="1" rIns="0" wrap="square" tIns="0">
            <a:normAutofit/>
          </a:bodyPr>
          <a:lstStyle/>
          <a:p>
            <a:pPr indent="0" lvl="0" marL="0" rtl="0" algn="ctr">
              <a:lnSpc>
                <a:spcPct val="90000"/>
              </a:lnSpc>
              <a:spcBef>
                <a:spcPts val="0"/>
              </a:spcBef>
              <a:spcAft>
                <a:spcPts val="0"/>
              </a:spcAft>
              <a:buClr>
                <a:srgbClr val="000000"/>
              </a:buClr>
              <a:buSzPts val="4100"/>
              <a:buFont typeface="Arial"/>
              <a:buNone/>
            </a:pPr>
            <a:r>
              <a:rPr lang="ja" sz="3200"/>
              <a:t>手描きスケッチからロボットモデルを</a:t>
            </a:r>
            <a:br>
              <a:rPr lang="ja" sz="3200"/>
            </a:br>
            <a:r>
              <a:rPr lang="ja" sz="3200"/>
              <a:t>生成するシステムの開発</a:t>
            </a:r>
            <a:endParaRPr sz="3200"/>
          </a:p>
        </p:txBody>
      </p:sp>
      <p:sp>
        <p:nvSpPr>
          <p:cNvPr id="153" name="Google Shape;153;p27"/>
          <p:cNvSpPr txBox="1"/>
          <p:nvPr>
            <p:ph idx="1" type="subTitle"/>
          </p:nvPr>
        </p:nvSpPr>
        <p:spPr>
          <a:xfrm>
            <a:off x="2125350" y="3902569"/>
            <a:ext cx="6944100" cy="1957200"/>
          </a:xfrm>
          <a:prstGeom prst="rect">
            <a:avLst/>
          </a:prstGeom>
          <a:noFill/>
          <a:ln>
            <a:noFill/>
          </a:ln>
        </p:spPr>
        <p:txBody>
          <a:bodyPr anchorCtr="0" anchor="t" bIns="0" lIns="0" spcFirstLastPara="1" rIns="0" wrap="square" tIns="0">
            <a:normAutofit/>
          </a:bodyPr>
          <a:lstStyle/>
          <a:p>
            <a:pPr indent="0" lvl="0" marL="0" marR="0" rtl="0" algn="r">
              <a:lnSpc>
                <a:spcPct val="90000"/>
              </a:lnSpc>
              <a:spcBef>
                <a:spcPts val="0"/>
              </a:spcBef>
              <a:spcAft>
                <a:spcPts val="0"/>
              </a:spcAft>
              <a:buClr>
                <a:srgbClr val="000000"/>
              </a:buClr>
              <a:buSzPts val="1800"/>
              <a:buFont typeface="Arial"/>
              <a:buNone/>
            </a:pPr>
            <a:r>
              <a:rPr lang="ja" sz="1800"/>
              <a:t>豊橋技術科学大学</a:t>
            </a:r>
            <a:endParaRPr sz="1800"/>
          </a:p>
          <a:p>
            <a:pPr indent="0" lvl="0" marL="0" marR="0" rtl="0" algn="r">
              <a:lnSpc>
                <a:spcPct val="90000"/>
              </a:lnSpc>
              <a:spcBef>
                <a:spcPts val="0"/>
              </a:spcBef>
              <a:spcAft>
                <a:spcPts val="0"/>
              </a:spcAft>
              <a:buClr>
                <a:srgbClr val="000000"/>
              </a:buClr>
              <a:buSzPts val="1800"/>
              <a:buFont typeface="Arial"/>
              <a:buNone/>
            </a:pPr>
            <a:r>
              <a:rPr b="0" i="0" lang="ja" sz="1800" u="none" cap="none" strike="noStrike">
                <a:solidFill>
                  <a:srgbClr val="000000"/>
                </a:solidFill>
                <a:latin typeface="Arial"/>
                <a:ea typeface="Arial"/>
                <a:cs typeface="Arial"/>
                <a:sym typeface="Arial"/>
              </a:rPr>
              <a:t>情報・ロボットシステム研究室</a:t>
            </a:r>
            <a:endParaRPr sz="1800"/>
          </a:p>
          <a:p>
            <a:pPr indent="0" lvl="0" marL="0" marR="0" rtl="0" algn="r">
              <a:lnSpc>
                <a:spcPct val="90000"/>
              </a:lnSpc>
              <a:spcBef>
                <a:spcPts val="0"/>
              </a:spcBef>
              <a:spcAft>
                <a:spcPts val="0"/>
              </a:spcAft>
              <a:buClr>
                <a:srgbClr val="000000"/>
              </a:buClr>
              <a:buSzPts val="1800"/>
              <a:buFont typeface="Arial"/>
              <a:buNone/>
            </a:pPr>
            <a:r>
              <a:rPr lang="ja" sz="1800"/>
              <a:t>秋田光志朗,</a:t>
            </a:r>
            <a:r>
              <a:rPr b="0" i="0" lang="ja" sz="1800" u="none" cap="none" strike="noStrike">
                <a:solidFill>
                  <a:srgbClr val="000000"/>
                </a:solidFill>
                <a:latin typeface="Arial"/>
                <a:ea typeface="Arial"/>
                <a:cs typeface="Arial"/>
                <a:sym typeface="Arial"/>
              </a:rPr>
              <a:t>垣内洋平</a:t>
            </a:r>
            <a:endParaRPr sz="1800"/>
          </a:p>
          <a:p>
            <a:pPr indent="0" lvl="0" marL="0" marR="0" rtl="0" algn="r">
              <a:lnSpc>
                <a:spcPct val="90000"/>
              </a:lnSpc>
              <a:spcBef>
                <a:spcPts val="800"/>
              </a:spcBef>
              <a:spcAft>
                <a:spcPts val="0"/>
              </a:spcAft>
              <a:buClr>
                <a:srgbClr val="000000"/>
              </a:buClr>
              <a:buSzPts val="1800"/>
              <a:buFont typeface="Arial"/>
              <a:buNone/>
            </a:pPr>
            <a:r>
              <a:t/>
            </a:r>
            <a:endParaRPr sz="1800"/>
          </a:p>
        </p:txBody>
      </p:sp>
      <p:sp>
        <p:nvSpPr>
          <p:cNvPr id="154" name="Google Shape;154;p27"/>
          <p:cNvSpPr txBox="1"/>
          <p:nvPr>
            <p:ph idx="12" type="sldNum"/>
          </p:nvPr>
        </p:nvSpPr>
        <p:spPr>
          <a:xfrm>
            <a:off x="8680579" y="4943423"/>
            <a:ext cx="402300" cy="1320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8"/>
          <p:cNvPicPr preferRelativeResize="0"/>
          <p:nvPr/>
        </p:nvPicPr>
        <p:blipFill rotWithShape="1">
          <a:blip r:embed="rId3">
            <a:alphaModFix/>
          </a:blip>
          <a:srcRect b="0" l="0" r="0" t="0"/>
          <a:stretch/>
        </p:blipFill>
        <p:spPr>
          <a:xfrm>
            <a:off x="911450" y="2571748"/>
            <a:ext cx="1600599" cy="1597875"/>
          </a:xfrm>
          <a:prstGeom prst="rect">
            <a:avLst/>
          </a:prstGeom>
          <a:noFill/>
          <a:ln>
            <a:noFill/>
          </a:ln>
        </p:spPr>
      </p:pic>
      <p:sp>
        <p:nvSpPr>
          <p:cNvPr id="160" name="Google Shape;160;p28"/>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b="0" i="0" lang="ja" sz="3000" u="none" cap="none" strike="noStrike">
                <a:solidFill>
                  <a:srgbClr val="000000"/>
                </a:solidFill>
                <a:latin typeface="Arial"/>
                <a:ea typeface="Arial"/>
                <a:cs typeface="Arial"/>
                <a:sym typeface="Arial"/>
              </a:rPr>
              <a:t>研究背景</a:t>
            </a:r>
            <a:endParaRPr b="0" i="0" sz="3000" u="none" cap="none" strike="noStrike">
              <a:solidFill>
                <a:srgbClr val="000000"/>
              </a:solidFill>
              <a:latin typeface="Arial"/>
              <a:ea typeface="Arial"/>
              <a:cs typeface="Arial"/>
              <a:sym typeface="Arial"/>
            </a:endParaRPr>
          </a:p>
        </p:txBody>
      </p:sp>
      <p:sp>
        <p:nvSpPr>
          <p:cNvPr id="161" name="Google Shape;161;p28"/>
          <p:cNvSpPr txBox="1"/>
          <p:nvPr>
            <p:ph idx="4294967295" type="body"/>
          </p:nvPr>
        </p:nvSpPr>
        <p:spPr>
          <a:xfrm>
            <a:off x="164767" y="813845"/>
            <a:ext cx="8786700" cy="15390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100"/>
              <a:t>ロボティクスではAIによるプログラム開発の高速化が進む一方，検証に必要な機体モデル設計は依然として専門性が高い領域である</a:t>
            </a:r>
            <a:endParaRPr sz="1800"/>
          </a:p>
          <a:p>
            <a:pPr indent="0" lvl="0" marL="0" marR="0" rtl="0" algn="l">
              <a:lnSpc>
                <a:spcPct val="115000"/>
              </a:lnSpc>
              <a:spcBef>
                <a:spcPts val="800"/>
              </a:spcBef>
              <a:spcAft>
                <a:spcPts val="0"/>
              </a:spcAft>
              <a:buSzPts val="1100"/>
              <a:buNone/>
            </a:pPr>
            <a:r>
              <a:t/>
            </a:r>
            <a:endParaRPr sz="1800"/>
          </a:p>
        </p:txBody>
      </p:sp>
      <p:sp>
        <p:nvSpPr>
          <p:cNvPr id="162" name="Google Shape;162;p28"/>
          <p:cNvSpPr/>
          <p:nvPr/>
        </p:nvSpPr>
        <p:spPr>
          <a:xfrm>
            <a:off x="509900" y="1715350"/>
            <a:ext cx="2829900" cy="637500"/>
          </a:xfrm>
          <a:prstGeom prst="wedgeEllipseCallout">
            <a:avLst>
              <a:gd fmla="val -20833" name="adj1"/>
              <a:gd fmla="val 6250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ロボットを使って</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やりたいアイデア</a:t>
            </a:r>
            <a:endParaRPr b="0" i="0" sz="1400" u="none" cap="none" strike="noStrike">
              <a:solidFill>
                <a:srgbClr val="000000"/>
              </a:solidFill>
              <a:latin typeface="Arial"/>
              <a:ea typeface="Arial"/>
              <a:cs typeface="Arial"/>
              <a:sym typeface="Arial"/>
            </a:endParaRPr>
          </a:p>
        </p:txBody>
      </p:sp>
      <p:sp>
        <p:nvSpPr>
          <p:cNvPr id="163" name="Google Shape;163;p28"/>
          <p:cNvSpPr/>
          <p:nvPr/>
        </p:nvSpPr>
        <p:spPr>
          <a:xfrm rot="-1459700">
            <a:off x="3185431" y="2367646"/>
            <a:ext cx="1168789" cy="484573"/>
          </a:xfrm>
          <a:prstGeom prst="right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8"/>
          <p:cNvSpPr/>
          <p:nvPr/>
        </p:nvSpPr>
        <p:spPr>
          <a:xfrm rot="1661850">
            <a:off x="3199483" y="3377452"/>
            <a:ext cx="1154036" cy="484563"/>
          </a:xfrm>
          <a:prstGeom prst="rightArrow">
            <a:avLst>
              <a:gd fmla="val 50000" name="adj1"/>
              <a:gd fmla="val 500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5" name="Google Shape;165;p28"/>
          <p:cNvPicPr preferRelativeResize="0"/>
          <p:nvPr/>
        </p:nvPicPr>
        <p:blipFill rotWithShape="1">
          <a:blip r:embed="rId4">
            <a:alphaModFix/>
          </a:blip>
          <a:srcRect b="0" l="0" r="0" t="0"/>
          <a:stretch/>
        </p:blipFill>
        <p:spPr>
          <a:xfrm>
            <a:off x="4794950" y="1643825"/>
            <a:ext cx="1251000" cy="1251000"/>
          </a:xfrm>
          <a:prstGeom prst="rect">
            <a:avLst/>
          </a:prstGeom>
          <a:noFill/>
          <a:ln>
            <a:noFill/>
          </a:ln>
        </p:spPr>
      </p:pic>
      <p:sp>
        <p:nvSpPr>
          <p:cNvPr id="166" name="Google Shape;166;p28"/>
          <p:cNvSpPr txBox="1"/>
          <p:nvPr/>
        </p:nvSpPr>
        <p:spPr>
          <a:xfrm>
            <a:off x="4321300" y="2894825"/>
            <a:ext cx="43341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AIにより高速化されたロボットプログラミング</a:t>
            </a:r>
            <a:endParaRPr b="0" i="0" sz="1400" u="none" cap="none" strike="noStrike">
              <a:solidFill>
                <a:srgbClr val="000000"/>
              </a:solidFill>
              <a:latin typeface="Arial"/>
              <a:ea typeface="Arial"/>
              <a:cs typeface="Arial"/>
              <a:sym typeface="Arial"/>
            </a:endParaRPr>
          </a:p>
        </p:txBody>
      </p:sp>
      <p:pic>
        <p:nvPicPr>
          <p:cNvPr id="167" name="Google Shape;167;p28"/>
          <p:cNvPicPr preferRelativeResize="0"/>
          <p:nvPr/>
        </p:nvPicPr>
        <p:blipFill rotWithShape="1">
          <a:blip r:embed="rId5">
            <a:alphaModFix/>
          </a:blip>
          <a:srcRect b="0" l="0" r="0" t="0"/>
          <a:stretch/>
        </p:blipFill>
        <p:spPr>
          <a:xfrm>
            <a:off x="4794950" y="3308475"/>
            <a:ext cx="1539000" cy="1539000"/>
          </a:xfrm>
          <a:prstGeom prst="rect">
            <a:avLst/>
          </a:prstGeom>
          <a:noFill/>
          <a:ln>
            <a:noFill/>
          </a:ln>
        </p:spPr>
      </p:pic>
      <p:sp>
        <p:nvSpPr>
          <p:cNvPr id="168" name="Google Shape;168;p28"/>
          <p:cNvSpPr txBox="1"/>
          <p:nvPr/>
        </p:nvSpPr>
        <p:spPr>
          <a:xfrm>
            <a:off x="4747750" y="4722550"/>
            <a:ext cx="3212400" cy="31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プログラムを試す機体モデルの設計</a:t>
            </a:r>
            <a:endParaRPr b="0" i="0" sz="1400" u="none" cap="none" strike="noStrike">
              <a:solidFill>
                <a:srgbClr val="000000"/>
              </a:solidFill>
              <a:latin typeface="Arial"/>
              <a:ea typeface="Arial"/>
              <a:cs typeface="Arial"/>
              <a:sym typeface="Arial"/>
            </a:endParaRPr>
          </a:p>
        </p:txBody>
      </p:sp>
      <p:sp>
        <p:nvSpPr>
          <p:cNvPr id="169" name="Google Shape;169;p28"/>
          <p:cNvSpPr/>
          <p:nvPr/>
        </p:nvSpPr>
        <p:spPr>
          <a:xfrm>
            <a:off x="6045950" y="1637116"/>
            <a:ext cx="2829900" cy="637500"/>
          </a:xfrm>
          <a:prstGeom prst="wedgeEllipseCallout">
            <a:avLst>
              <a:gd fmla="val -47650" name="adj1"/>
              <a:gd fmla="val 7118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アイデアをすぐに</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形にできる！</a:t>
            </a:r>
            <a:endParaRPr b="0" i="0" sz="1400" u="none" cap="none" strike="noStrike">
              <a:solidFill>
                <a:srgbClr val="000000"/>
              </a:solidFill>
              <a:latin typeface="Arial"/>
              <a:ea typeface="Arial"/>
              <a:cs typeface="Arial"/>
              <a:sym typeface="Arial"/>
            </a:endParaRPr>
          </a:p>
        </p:txBody>
      </p:sp>
      <p:sp>
        <p:nvSpPr>
          <p:cNvPr id="170" name="Google Shape;170;p28"/>
          <p:cNvSpPr/>
          <p:nvPr/>
        </p:nvSpPr>
        <p:spPr>
          <a:xfrm>
            <a:off x="6218075" y="3319814"/>
            <a:ext cx="2829900" cy="637500"/>
          </a:xfrm>
          <a:prstGeom prst="wedgeEllipseCallout">
            <a:avLst>
              <a:gd fmla="val -47650" name="adj1"/>
              <a:gd fmla="val 71180"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でも、試すロボットのモデルが作れない…</a:t>
            </a:r>
            <a:endParaRPr b="0" i="0" sz="1400" u="none" cap="none" strike="noStrike">
              <a:solidFill>
                <a:srgbClr val="000000"/>
              </a:solidFill>
              <a:latin typeface="Arial"/>
              <a:ea typeface="Arial"/>
              <a:cs typeface="Arial"/>
              <a:sym typeface="Arial"/>
            </a:endParaRPr>
          </a:p>
        </p:txBody>
      </p:sp>
      <p:sp>
        <p:nvSpPr>
          <p:cNvPr id="171" name="Google Shape;171;p2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現状の課題</a:t>
            </a:r>
            <a:endParaRPr b="0" i="0" sz="3000" u="none" cap="none" strike="noStrike">
              <a:solidFill>
                <a:srgbClr val="000000"/>
              </a:solidFill>
              <a:latin typeface="Arial"/>
              <a:ea typeface="Arial"/>
              <a:cs typeface="Arial"/>
              <a:sym typeface="Arial"/>
            </a:endParaRPr>
          </a:p>
        </p:txBody>
      </p:sp>
      <p:sp>
        <p:nvSpPr>
          <p:cNvPr id="177" name="Google Shape;177;p29"/>
          <p:cNvSpPr txBox="1"/>
          <p:nvPr>
            <p:ph idx="4294967295" type="body"/>
          </p:nvPr>
        </p:nvSpPr>
        <p:spPr>
          <a:xfrm>
            <a:off x="164775" y="813848"/>
            <a:ext cx="8786700" cy="9522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000"/>
              <a:t>プログラム検証用の機体モデル作成(CAD)には機械工学の高度な専門知識が求められ、ハード非専門のソフトエンジニアにとって大きな壁となっている</a:t>
            </a:r>
            <a:endParaRPr sz="2000"/>
          </a:p>
        </p:txBody>
      </p:sp>
      <p:pic>
        <p:nvPicPr>
          <p:cNvPr id="178" name="Google Shape;178;p29"/>
          <p:cNvPicPr preferRelativeResize="0"/>
          <p:nvPr/>
        </p:nvPicPr>
        <p:blipFill rotWithShape="1">
          <a:blip r:embed="rId3">
            <a:alphaModFix/>
          </a:blip>
          <a:srcRect b="0" l="0" r="0" t="0"/>
          <a:stretch/>
        </p:blipFill>
        <p:spPr>
          <a:xfrm>
            <a:off x="961978" y="2844816"/>
            <a:ext cx="2466575" cy="1939375"/>
          </a:xfrm>
          <a:prstGeom prst="rect">
            <a:avLst/>
          </a:prstGeom>
          <a:noFill/>
          <a:ln cap="flat" cmpd="sng" w="28575">
            <a:solidFill>
              <a:srgbClr val="000000"/>
            </a:solidFill>
            <a:prstDash val="solid"/>
            <a:round/>
            <a:headEnd len="sm" w="sm" type="none"/>
            <a:tailEnd len="sm" w="sm" type="none"/>
          </a:ln>
        </p:spPr>
      </p:pic>
      <p:sp>
        <p:nvSpPr>
          <p:cNvPr id="179" name="Google Shape;179;p29"/>
          <p:cNvSpPr/>
          <p:nvPr/>
        </p:nvSpPr>
        <p:spPr>
          <a:xfrm>
            <a:off x="24103" y="2524666"/>
            <a:ext cx="1676400" cy="671100"/>
          </a:xfrm>
          <a:prstGeom prst="wedgeEllipseCallout">
            <a:avLst>
              <a:gd fmla="val 38587" name="adj1"/>
              <a:gd fmla="val 58076"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関節可動域?</a:t>
            </a:r>
            <a:endParaRPr b="1" i="0" sz="1400" u="none" cap="none" strike="noStrike">
              <a:solidFill>
                <a:srgbClr val="000000"/>
              </a:solidFill>
              <a:latin typeface="Arial"/>
              <a:ea typeface="Arial"/>
              <a:cs typeface="Arial"/>
              <a:sym typeface="Arial"/>
            </a:endParaRPr>
          </a:p>
        </p:txBody>
      </p:sp>
      <p:sp>
        <p:nvSpPr>
          <p:cNvPr id="180" name="Google Shape;180;p29"/>
          <p:cNvSpPr/>
          <p:nvPr/>
        </p:nvSpPr>
        <p:spPr>
          <a:xfrm>
            <a:off x="2754928" y="2482563"/>
            <a:ext cx="1676400" cy="671100"/>
          </a:xfrm>
          <a:prstGeom prst="wedgeEllipseCallout">
            <a:avLst>
              <a:gd fmla="val -44266" name="adj1"/>
              <a:gd fmla="val 52462"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関節軸方向?</a:t>
            </a:r>
            <a:endParaRPr b="1" i="0" sz="1400" u="none" cap="none" strike="noStrike">
              <a:solidFill>
                <a:srgbClr val="000000"/>
              </a:solidFill>
              <a:latin typeface="Arial"/>
              <a:ea typeface="Arial"/>
              <a:cs typeface="Arial"/>
              <a:sym typeface="Arial"/>
            </a:endParaRPr>
          </a:p>
        </p:txBody>
      </p:sp>
      <p:sp>
        <p:nvSpPr>
          <p:cNvPr id="181" name="Google Shape;181;p29"/>
          <p:cNvSpPr/>
          <p:nvPr/>
        </p:nvSpPr>
        <p:spPr>
          <a:xfrm>
            <a:off x="24103" y="3743916"/>
            <a:ext cx="1465850" cy="671100"/>
          </a:xfrm>
          <a:prstGeom prst="wedgeEllipseCallout">
            <a:avLst>
              <a:gd fmla="val 57285" name="adj1"/>
              <a:gd fmla="val -45641"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強度設計?</a:t>
            </a:r>
            <a:endParaRPr b="1" i="0" sz="1400" u="none" cap="none" strike="noStrike">
              <a:solidFill>
                <a:srgbClr val="000000"/>
              </a:solidFill>
              <a:latin typeface="Arial"/>
              <a:ea typeface="Arial"/>
              <a:cs typeface="Arial"/>
              <a:sym typeface="Arial"/>
            </a:endParaRPr>
          </a:p>
        </p:txBody>
      </p:sp>
      <p:sp>
        <p:nvSpPr>
          <p:cNvPr id="182" name="Google Shape;182;p29"/>
          <p:cNvSpPr txBox="1"/>
          <p:nvPr/>
        </p:nvSpPr>
        <p:spPr>
          <a:xfrm>
            <a:off x="777586" y="1876000"/>
            <a:ext cx="3276000" cy="4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CAD設計に求められる専門知識</a:t>
            </a:r>
            <a:endParaRPr b="0" i="0" sz="1700" u="none" cap="none" strike="noStrike">
              <a:solidFill>
                <a:srgbClr val="000000"/>
              </a:solidFill>
              <a:latin typeface="Arial"/>
              <a:ea typeface="Arial"/>
              <a:cs typeface="Arial"/>
              <a:sym typeface="Arial"/>
            </a:endParaRPr>
          </a:p>
        </p:txBody>
      </p:sp>
      <p:pic>
        <p:nvPicPr>
          <p:cNvPr id="183" name="Google Shape;183;p29"/>
          <p:cNvPicPr preferRelativeResize="0"/>
          <p:nvPr/>
        </p:nvPicPr>
        <p:blipFill rotWithShape="1">
          <a:blip r:embed="rId4">
            <a:alphaModFix/>
          </a:blip>
          <a:srcRect b="7042" l="4742" r="4597" t="8726"/>
          <a:stretch/>
        </p:blipFill>
        <p:spPr>
          <a:xfrm>
            <a:off x="4639538" y="2811758"/>
            <a:ext cx="3746952" cy="1968449"/>
          </a:xfrm>
          <a:prstGeom prst="rect">
            <a:avLst/>
          </a:prstGeom>
          <a:noFill/>
          <a:ln>
            <a:noFill/>
          </a:ln>
        </p:spPr>
      </p:pic>
      <p:sp>
        <p:nvSpPr>
          <p:cNvPr id="184" name="Google Shape;184;p29"/>
          <p:cNvSpPr/>
          <p:nvPr/>
        </p:nvSpPr>
        <p:spPr>
          <a:xfrm>
            <a:off x="4252130" y="2275378"/>
            <a:ext cx="2388600" cy="536400"/>
          </a:xfrm>
          <a:prstGeom prst="wedgeEllipseCallout">
            <a:avLst>
              <a:gd fmla="val 17184" name="adj1"/>
              <a:gd fmla="val 71696"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すぐ検証したい!</a:t>
            </a:r>
            <a:endParaRPr b="1" i="0" sz="1400" u="none" cap="none" strike="noStrike">
              <a:solidFill>
                <a:srgbClr val="000000"/>
              </a:solidFill>
              <a:latin typeface="Arial"/>
              <a:ea typeface="Arial"/>
              <a:cs typeface="Arial"/>
              <a:sym typeface="Arial"/>
            </a:endParaRPr>
          </a:p>
        </p:txBody>
      </p:sp>
      <p:sp>
        <p:nvSpPr>
          <p:cNvPr id="185" name="Google Shape;185;p29"/>
          <p:cNvSpPr/>
          <p:nvPr/>
        </p:nvSpPr>
        <p:spPr>
          <a:xfrm>
            <a:off x="6590680" y="2485552"/>
            <a:ext cx="2176800" cy="471900"/>
          </a:xfrm>
          <a:prstGeom prst="wedgeEllipseCallout">
            <a:avLst>
              <a:gd fmla="val -44266" name="adj1"/>
              <a:gd fmla="val 52462" name="adj2"/>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ja" sz="1400" u="none" cap="none" strike="noStrike">
                <a:solidFill>
                  <a:srgbClr val="000000"/>
                </a:solidFill>
                <a:latin typeface="Arial"/>
                <a:ea typeface="Arial"/>
                <a:cs typeface="Arial"/>
                <a:sym typeface="Arial"/>
              </a:rPr>
              <a:t>まずは試したい!</a:t>
            </a:r>
            <a:endParaRPr b="1" i="0" sz="1400" u="none" cap="none" strike="noStrike">
              <a:solidFill>
                <a:srgbClr val="000000"/>
              </a:solidFill>
              <a:latin typeface="Arial"/>
              <a:ea typeface="Arial"/>
              <a:cs typeface="Arial"/>
              <a:sym typeface="Arial"/>
            </a:endParaRPr>
          </a:p>
        </p:txBody>
      </p:sp>
      <p:sp>
        <p:nvSpPr>
          <p:cNvPr id="186" name="Google Shape;186;p29"/>
          <p:cNvSpPr txBox="1"/>
          <p:nvPr/>
        </p:nvSpPr>
        <p:spPr>
          <a:xfrm>
            <a:off x="5448900" y="1876000"/>
            <a:ext cx="2868600" cy="42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ja" sz="1700" u="none" cap="none" strike="noStrike">
                <a:solidFill>
                  <a:srgbClr val="000000"/>
                </a:solidFill>
                <a:latin typeface="Arial"/>
                <a:ea typeface="Arial"/>
                <a:cs typeface="Arial"/>
                <a:sym typeface="Arial"/>
              </a:rPr>
              <a:t>プログラム開発側のニーズ</a:t>
            </a:r>
            <a:endParaRPr b="0" i="0" sz="1700" u="none" cap="none" strike="noStrike">
              <a:solidFill>
                <a:srgbClr val="000000"/>
              </a:solidFill>
              <a:latin typeface="Arial"/>
              <a:ea typeface="Arial"/>
              <a:cs typeface="Arial"/>
              <a:sym typeface="Arial"/>
            </a:endParaRPr>
          </a:p>
        </p:txBody>
      </p:sp>
      <p:pic>
        <p:nvPicPr>
          <p:cNvPr id="187" name="Google Shape;187;p29"/>
          <p:cNvPicPr preferRelativeResize="0"/>
          <p:nvPr/>
        </p:nvPicPr>
        <p:blipFill rotWithShape="1">
          <a:blip r:embed="rId5">
            <a:alphaModFix/>
          </a:blip>
          <a:srcRect b="0" l="0" r="0" t="0"/>
          <a:stretch/>
        </p:blipFill>
        <p:spPr>
          <a:xfrm>
            <a:off x="3463353" y="3970750"/>
            <a:ext cx="641800" cy="851950"/>
          </a:xfrm>
          <a:prstGeom prst="rect">
            <a:avLst/>
          </a:prstGeom>
          <a:noFill/>
          <a:ln>
            <a:noFill/>
          </a:ln>
        </p:spPr>
      </p:pic>
      <p:pic>
        <p:nvPicPr>
          <p:cNvPr id="188" name="Google Shape;188;p29"/>
          <p:cNvPicPr preferRelativeResize="0"/>
          <p:nvPr/>
        </p:nvPicPr>
        <p:blipFill rotWithShape="1">
          <a:blip r:embed="rId6">
            <a:alphaModFix/>
          </a:blip>
          <a:srcRect b="0" l="0" r="0" t="0"/>
          <a:stretch/>
        </p:blipFill>
        <p:spPr>
          <a:xfrm>
            <a:off x="8386478" y="3898039"/>
            <a:ext cx="588100" cy="882161"/>
          </a:xfrm>
          <a:prstGeom prst="rect">
            <a:avLst/>
          </a:prstGeom>
          <a:noFill/>
          <a:ln>
            <a:noFill/>
          </a:ln>
        </p:spPr>
      </p:pic>
      <p:sp>
        <p:nvSpPr>
          <p:cNvPr id="189" name="Google Shape;189;p2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000"/>
              <a:buFont typeface="Arial"/>
              <a:buNone/>
            </a:pPr>
            <a:r>
              <a:rPr lang="ja" sz="3000"/>
              <a:t>関連研究</a:t>
            </a:r>
            <a:endParaRPr sz="3000"/>
          </a:p>
        </p:txBody>
      </p:sp>
      <p:sp>
        <p:nvSpPr>
          <p:cNvPr id="195" name="Google Shape;195;p30"/>
          <p:cNvSpPr txBox="1"/>
          <p:nvPr>
            <p:ph idx="4294967295" type="body"/>
          </p:nvPr>
        </p:nvSpPr>
        <p:spPr>
          <a:xfrm>
            <a:off x="162244" y="812175"/>
            <a:ext cx="8902200" cy="795900"/>
          </a:xfrm>
          <a:prstGeom prst="rect">
            <a:avLst/>
          </a:prstGeom>
          <a:noFill/>
          <a:ln>
            <a:noFill/>
          </a:ln>
        </p:spPr>
        <p:txBody>
          <a:bodyPr anchorCtr="0" anchor="t" bIns="34275" lIns="68575" spcFirstLastPara="1" rIns="68575" wrap="square" tIns="34275">
            <a:noAutofit/>
          </a:bodyPr>
          <a:lstStyle/>
          <a:p>
            <a:pPr indent="0" lvl="0" marL="0" marR="0" rtl="0" algn="l">
              <a:lnSpc>
                <a:spcPct val="95000"/>
              </a:lnSpc>
              <a:spcBef>
                <a:spcPts val="800"/>
              </a:spcBef>
              <a:spcAft>
                <a:spcPts val="0"/>
              </a:spcAft>
              <a:buSzPts val="1100"/>
              <a:buNone/>
            </a:pPr>
            <a:r>
              <a:rPr lang="ja" sz="2100"/>
              <a:t>RobotSketch: </a:t>
            </a:r>
            <a:endParaRPr sz="2100"/>
          </a:p>
          <a:p>
            <a:pPr indent="0" lvl="0" marL="0" marR="0" rtl="0" algn="l">
              <a:lnSpc>
                <a:spcPct val="95000"/>
              </a:lnSpc>
              <a:spcBef>
                <a:spcPts val="800"/>
              </a:spcBef>
              <a:spcAft>
                <a:spcPts val="0"/>
              </a:spcAft>
              <a:buSzPts val="1100"/>
              <a:buNone/>
            </a:pPr>
            <a:r>
              <a:rPr lang="ja" sz="2100"/>
              <a:t>An Interactive Showcase of Superfast Design of Legged Robots</a:t>
            </a:r>
            <a:endParaRPr sz="2100"/>
          </a:p>
          <a:p>
            <a:pPr indent="0" lvl="0" marL="0" marR="0" rtl="0" algn="l">
              <a:lnSpc>
                <a:spcPct val="95000"/>
              </a:lnSpc>
              <a:spcBef>
                <a:spcPts val="800"/>
              </a:spcBef>
              <a:spcAft>
                <a:spcPts val="0"/>
              </a:spcAft>
              <a:buSzPts val="1100"/>
              <a:buNone/>
            </a:pPr>
            <a:r>
              <a:rPr lang="ja" sz="2100"/>
              <a:t>⇒VR(Virtual Reality)で3Dロボットスケッチを行い、ロボットは強化学習で最適な歩行動作を行う</a:t>
            </a:r>
            <a:endParaRPr sz="2100"/>
          </a:p>
        </p:txBody>
      </p:sp>
      <p:pic>
        <p:nvPicPr>
          <p:cNvPr id="196" name="Google Shape;196;p30"/>
          <p:cNvPicPr preferRelativeResize="0"/>
          <p:nvPr/>
        </p:nvPicPr>
        <p:blipFill rotWithShape="1">
          <a:blip r:embed="rId3">
            <a:alphaModFix/>
          </a:blip>
          <a:srcRect b="0" l="0" r="0" t="0"/>
          <a:stretch/>
        </p:blipFill>
        <p:spPr>
          <a:xfrm>
            <a:off x="162253" y="2387164"/>
            <a:ext cx="8756305" cy="1362949"/>
          </a:xfrm>
          <a:prstGeom prst="rect">
            <a:avLst/>
          </a:prstGeom>
          <a:noFill/>
          <a:ln>
            <a:noFill/>
          </a:ln>
        </p:spPr>
      </p:pic>
      <p:sp>
        <p:nvSpPr>
          <p:cNvPr id="197" name="Google Shape;197;p30"/>
          <p:cNvSpPr txBox="1"/>
          <p:nvPr/>
        </p:nvSpPr>
        <p:spPr>
          <a:xfrm>
            <a:off x="162244" y="3718736"/>
            <a:ext cx="8629500" cy="4581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chemeClr val="dk1"/>
              </a:buClr>
              <a:buSzPts val="800"/>
              <a:buFont typeface="Arial"/>
              <a:buNone/>
            </a:pPr>
            <a:r>
              <a:rPr b="0" i="0" lang="ja" sz="600" u="none" cap="none" strike="noStrike">
                <a:solidFill>
                  <a:srgbClr val="000000"/>
                </a:solidFill>
                <a:latin typeface="Arial"/>
                <a:ea typeface="Arial"/>
                <a:cs typeface="Arial"/>
                <a:sym typeface="Arial"/>
              </a:rPr>
              <a:t>RobotSketch: An Interactive Showcase of Superfast Design of Legged Robots　Joon Hyub Lee, Hyunsik Oh, Junwoo Yoon, Seung-Jun Lee, Taegyu Jin, Jemin Hwangbo, Seok-Hyung Bae　KAIST（韓国科学技術院）SIGGRAPH Emerging Technologies ’24, July 27–August 01, 2024, Denver, CO, USA　ACM ISBN: 979-8-4007-0524-3/24/07</a:t>
            </a:r>
            <a:endParaRPr b="0" i="0" sz="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Arial"/>
              <a:ea typeface="Arial"/>
              <a:cs typeface="Arial"/>
              <a:sym typeface="Arial"/>
            </a:endParaRPr>
          </a:p>
        </p:txBody>
      </p:sp>
      <p:sp>
        <p:nvSpPr>
          <p:cNvPr id="198" name="Google Shape;198;p30"/>
          <p:cNvSpPr txBox="1"/>
          <p:nvPr>
            <p:ph idx="4294967295" type="body"/>
          </p:nvPr>
        </p:nvSpPr>
        <p:spPr>
          <a:xfrm>
            <a:off x="578282" y="4203853"/>
            <a:ext cx="8902200" cy="795900"/>
          </a:xfrm>
          <a:prstGeom prst="rect">
            <a:avLst/>
          </a:prstGeom>
          <a:noFill/>
          <a:ln>
            <a:noFill/>
          </a:ln>
        </p:spPr>
        <p:txBody>
          <a:bodyPr anchorCtr="0" anchor="t" bIns="34275" lIns="68575" spcFirstLastPara="1" rIns="68575" wrap="square" tIns="34275">
            <a:noAutofit/>
          </a:bodyPr>
          <a:lstStyle/>
          <a:p>
            <a:pPr indent="0" lvl="0" marL="0" marR="0" rtl="0" algn="l">
              <a:lnSpc>
                <a:spcPct val="95000"/>
              </a:lnSpc>
              <a:spcBef>
                <a:spcPts val="800"/>
              </a:spcBef>
              <a:spcAft>
                <a:spcPts val="0"/>
              </a:spcAft>
              <a:buSzPts val="1100"/>
              <a:buNone/>
            </a:pPr>
            <a:r>
              <a:rPr lang="ja" sz="2100"/>
              <a:t>関節配置など「物理的整合性」は人間が考える必要があり、</a:t>
            </a:r>
            <a:br>
              <a:rPr lang="ja" sz="2100"/>
            </a:br>
            <a:r>
              <a:rPr lang="ja" sz="2100"/>
              <a:t>依然としてハードウェアの専門知識が必須</a:t>
            </a:r>
            <a:endParaRPr sz="2100"/>
          </a:p>
        </p:txBody>
      </p:sp>
      <p:sp>
        <p:nvSpPr>
          <p:cNvPr id="199" name="Google Shape;199;p30"/>
          <p:cNvSpPr/>
          <p:nvPr/>
        </p:nvSpPr>
        <p:spPr>
          <a:xfrm>
            <a:off x="242584" y="4333370"/>
            <a:ext cx="335700" cy="283500"/>
          </a:xfrm>
          <a:prstGeom prst="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0" name="Google Shape;200;p3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目的</a:t>
            </a:r>
            <a:endParaRPr b="0" i="0" sz="3000" u="none" cap="none" strike="noStrike">
              <a:solidFill>
                <a:srgbClr val="000000"/>
              </a:solidFill>
              <a:latin typeface="Arial"/>
              <a:ea typeface="Arial"/>
              <a:cs typeface="Arial"/>
              <a:sym typeface="Arial"/>
            </a:endParaRPr>
          </a:p>
        </p:txBody>
      </p:sp>
      <p:sp>
        <p:nvSpPr>
          <p:cNvPr id="206" name="Google Shape;206;p31"/>
          <p:cNvSpPr txBox="1"/>
          <p:nvPr>
            <p:ph idx="4294967295" type="body"/>
          </p:nvPr>
        </p:nvSpPr>
        <p:spPr>
          <a:xfrm>
            <a:off x="164775" y="813847"/>
            <a:ext cx="8786700" cy="830700"/>
          </a:xfrm>
          <a:prstGeom prst="rect">
            <a:avLst/>
          </a:prstGeom>
          <a:noFill/>
          <a:ln>
            <a:noFill/>
          </a:ln>
        </p:spPr>
        <p:txBody>
          <a:bodyPr anchorCtr="0" anchor="t" bIns="34275" lIns="68575" spcFirstLastPara="1" rIns="68575" wrap="square" tIns="34275">
            <a:normAutofit fontScale="92500" lnSpcReduction="10000"/>
          </a:bodyPr>
          <a:lstStyle/>
          <a:p>
            <a:pPr indent="0" lvl="0" marL="0" marR="0" rtl="0" algn="l">
              <a:lnSpc>
                <a:spcPct val="115000"/>
              </a:lnSpc>
              <a:spcBef>
                <a:spcPts val="800"/>
              </a:spcBef>
              <a:spcAft>
                <a:spcPts val="0"/>
              </a:spcAft>
              <a:buSzPct val="56628"/>
              <a:buNone/>
            </a:pPr>
            <a:r>
              <a:rPr lang="ja" sz="2100"/>
              <a:t>ハードウェアの知識がない人でも、直感的にロボットを設計し、</a:t>
            </a:r>
            <a:br>
              <a:rPr lang="ja" sz="2100"/>
            </a:br>
            <a:r>
              <a:rPr lang="ja" sz="2100"/>
              <a:t>即座にアイデアをシミュレーション検証できる環境を構築する</a:t>
            </a:r>
            <a:endParaRPr sz="1800"/>
          </a:p>
        </p:txBody>
      </p:sp>
      <p:sp>
        <p:nvSpPr>
          <p:cNvPr id="207" name="Google Shape;207;p31"/>
          <p:cNvSpPr/>
          <p:nvPr/>
        </p:nvSpPr>
        <p:spPr>
          <a:xfrm>
            <a:off x="209081" y="1797039"/>
            <a:ext cx="335700" cy="283500"/>
          </a:xfrm>
          <a:prstGeom prst="rightArrow">
            <a:avLst>
              <a:gd fmla="val 50000" name="adj1"/>
              <a:gd fmla="val 50000" name="adj2"/>
            </a:avLst>
          </a:prstGeom>
          <a:solidFill>
            <a:srgbClr val="A4C2F4"/>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8" name="Google Shape;208;p31"/>
          <p:cNvSpPr txBox="1"/>
          <p:nvPr>
            <p:ph idx="4294967295" type="body"/>
          </p:nvPr>
        </p:nvSpPr>
        <p:spPr>
          <a:xfrm>
            <a:off x="544767" y="1622746"/>
            <a:ext cx="8786700" cy="1539000"/>
          </a:xfrm>
          <a:prstGeom prst="rect">
            <a:avLst/>
          </a:prstGeom>
          <a:noFill/>
          <a:ln>
            <a:noFill/>
          </a:ln>
        </p:spPr>
        <p:txBody>
          <a:bodyPr anchorCtr="0" anchor="t" bIns="34275" lIns="68575" spcFirstLastPara="1" rIns="68575" wrap="square" tIns="34275">
            <a:normAutofit/>
          </a:bodyPr>
          <a:lstStyle/>
          <a:p>
            <a:pPr indent="0" lvl="0" marL="0" marR="0" rtl="0" algn="l">
              <a:lnSpc>
                <a:spcPct val="115000"/>
              </a:lnSpc>
              <a:spcBef>
                <a:spcPts val="800"/>
              </a:spcBef>
              <a:spcAft>
                <a:spcPts val="0"/>
              </a:spcAft>
              <a:buSzPts val="1100"/>
              <a:buNone/>
            </a:pPr>
            <a:r>
              <a:rPr lang="ja" sz="2100"/>
              <a:t>本研究では直感的なロボット設計の手法として</a:t>
            </a:r>
            <a:r>
              <a:rPr b="1" lang="ja" sz="2100">
                <a:solidFill>
                  <a:srgbClr val="FF0000"/>
                </a:solidFill>
              </a:rPr>
              <a:t>「手描き」</a:t>
            </a:r>
            <a:r>
              <a:rPr lang="ja" sz="2100"/>
              <a:t>を提案</a:t>
            </a:r>
            <a:endParaRPr sz="1800"/>
          </a:p>
          <a:p>
            <a:pPr indent="0" lvl="0" marL="0" marR="0" rtl="0" algn="l">
              <a:lnSpc>
                <a:spcPct val="115000"/>
              </a:lnSpc>
              <a:spcBef>
                <a:spcPts val="800"/>
              </a:spcBef>
              <a:spcAft>
                <a:spcPts val="0"/>
              </a:spcAft>
              <a:buSzPts val="1100"/>
              <a:buNone/>
            </a:pPr>
            <a:r>
              <a:t/>
            </a:r>
            <a:endParaRPr sz="1800"/>
          </a:p>
        </p:txBody>
      </p:sp>
      <p:pic>
        <p:nvPicPr>
          <p:cNvPr id="209" name="Google Shape;209;p31" title="IMG_5367.jpg"/>
          <p:cNvPicPr preferRelativeResize="0"/>
          <p:nvPr/>
        </p:nvPicPr>
        <p:blipFill rotWithShape="1">
          <a:blip r:embed="rId3">
            <a:alphaModFix/>
          </a:blip>
          <a:srcRect b="30192" l="19616" r="33790" t="33171"/>
          <a:stretch/>
        </p:blipFill>
        <p:spPr>
          <a:xfrm>
            <a:off x="387925" y="2529300"/>
            <a:ext cx="1813375" cy="1900974"/>
          </a:xfrm>
          <a:prstGeom prst="rect">
            <a:avLst/>
          </a:prstGeom>
          <a:noFill/>
          <a:ln>
            <a:noFill/>
          </a:ln>
        </p:spPr>
      </p:pic>
      <p:pic>
        <p:nvPicPr>
          <p:cNvPr id="210" name="Google Shape;210;p31" title="修士システム図_粒度2.drawio.png"/>
          <p:cNvPicPr preferRelativeResize="0"/>
          <p:nvPr/>
        </p:nvPicPr>
        <p:blipFill rotWithShape="1">
          <a:blip r:embed="rId4">
            <a:alphaModFix/>
          </a:blip>
          <a:srcRect b="0" l="0" r="0" t="0"/>
          <a:stretch/>
        </p:blipFill>
        <p:spPr>
          <a:xfrm>
            <a:off x="2891570" y="2558677"/>
            <a:ext cx="3021785" cy="1842225"/>
          </a:xfrm>
          <a:prstGeom prst="rect">
            <a:avLst/>
          </a:prstGeom>
          <a:noFill/>
          <a:ln cap="flat" cmpd="sng" w="28575">
            <a:solidFill>
              <a:srgbClr val="000000"/>
            </a:solidFill>
            <a:prstDash val="solid"/>
            <a:round/>
            <a:headEnd len="sm" w="sm" type="none"/>
            <a:tailEnd len="sm" w="sm" type="none"/>
          </a:ln>
        </p:spPr>
      </p:pic>
      <p:pic>
        <p:nvPicPr>
          <p:cNvPr id="211" name="Google Shape;211;p31"/>
          <p:cNvPicPr preferRelativeResize="0"/>
          <p:nvPr/>
        </p:nvPicPr>
        <p:blipFill rotWithShape="1">
          <a:blip r:embed="rId5">
            <a:alphaModFix/>
          </a:blip>
          <a:srcRect b="0" l="0" r="0" t="0"/>
          <a:stretch/>
        </p:blipFill>
        <p:spPr>
          <a:xfrm>
            <a:off x="6678655" y="2558674"/>
            <a:ext cx="2156370" cy="1842225"/>
          </a:xfrm>
          <a:prstGeom prst="rect">
            <a:avLst/>
          </a:prstGeom>
          <a:noFill/>
          <a:ln>
            <a:noFill/>
          </a:ln>
        </p:spPr>
      </p:pic>
      <p:cxnSp>
        <p:nvCxnSpPr>
          <p:cNvPr id="212" name="Google Shape;212;p31"/>
          <p:cNvCxnSpPr>
            <a:stCxn id="209" idx="3"/>
            <a:endCxn id="210" idx="1"/>
          </p:cNvCxnSpPr>
          <p:nvPr/>
        </p:nvCxnSpPr>
        <p:spPr>
          <a:xfrm>
            <a:off x="2201300" y="3479787"/>
            <a:ext cx="690300" cy="0"/>
          </a:xfrm>
          <a:prstGeom prst="straightConnector1">
            <a:avLst/>
          </a:prstGeom>
          <a:noFill/>
          <a:ln cap="flat" cmpd="sng" w="28575">
            <a:solidFill>
              <a:srgbClr val="000000"/>
            </a:solidFill>
            <a:prstDash val="solid"/>
            <a:round/>
            <a:headEnd len="sm" w="sm" type="none"/>
            <a:tailEnd len="med" w="med" type="triangle"/>
          </a:ln>
        </p:spPr>
      </p:cxnSp>
      <p:cxnSp>
        <p:nvCxnSpPr>
          <p:cNvPr id="213" name="Google Shape;213;p31"/>
          <p:cNvCxnSpPr>
            <a:stCxn id="210" idx="3"/>
            <a:endCxn id="211" idx="1"/>
          </p:cNvCxnSpPr>
          <p:nvPr/>
        </p:nvCxnSpPr>
        <p:spPr>
          <a:xfrm>
            <a:off x="5913355" y="3479789"/>
            <a:ext cx="765300" cy="0"/>
          </a:xfrm>
          <a:prstGeom prst="straightConnector1">
            <a:avLst/>
          </a:prstGeom>
          <a:noFill/>
          <a:ln cap="flat" cmpd="sng" w="28575">
            <a:solidFill>
              <a:srgbClr val="000000"/>
            </a:solidFill>
            <a:prstDash val="solid"/>
            <a:round/>
            <a:headEnd len="sm" w="sm" type="none"/>
            <a:tailEnd len="med" w="med" type="triangle"/>
          </a:ln>
        </p:spPr>
      </p:cxnSp>
      <p:sp>
        <p:nvSpPr>
          <p:cNvPr id="214" name="Google Shape;214;p31"/>
          <p:cNvSpPr txBox="1"/>
          <p:nvPr/>
        </p:nvSpPr>
        <p:spPr>
          <a:xfrm>
            <a:off x="2861750" y="2529950"/>
            <a:ext cx="3091200" cy="1901100"/>
          </a:xfrm>
          <a:prstGeom prst="rect">
            <a:avLst/>
          </a:prstGeom>
          <a:solidFill>
            <a:schemeClr val="lt1"/>
          </a:solid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ja" sz="3200" u="none" cap="none" strike="noStrike">
                <a:solidFill>
                  <a:srgbClr val="000000"/>
                </a:solidFill>
                <a:latin typeface="Arial"/>
                <a:ea typeface="Arial"/>
                <a:cs typeface="Arial"/>
                <a:sym typeface="Arial"/>
              </a:rPr>
              <a:t>提案システム</a:t>
            </a:r>
            <a:endParaRPr b="0" i="0" sz="3200" u="none" cap="none" strike="noStrike">
              <a:solidFill>
                <a:srgbClr val="000000"/>
              </a:solidFill>
              <a:latin typeface="Arial"/>
              <a:ea typeface="Arial"/>
              <a:cs typeface="Arial"/>
              <a:sym typeface="Arial"/>
            </a:endParaRPr>
          </a:p>
        </p:txBody>
      </p:sp>
      <p:sp>
        <p:nvSpPr>
          <p:cNvPr id="215" name="Google Shape;215;p31"/>
          <p:cNvSpPr txBox="1"/>
          <p:nvPr/>
        </p:nvSpPr>
        <p:spPr>
          <a:xfrm>
            <a:off x="474413" y="4431050"/>
            <a:ext cx="1640400" cy="28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手描きのスケッチ</a:t>
            </a:r>
            <a:endParaRPr b="0" i="0" sz="1400" u="none" cap="none" strike="noStrike">
              <a:solidFill>
                <a:srgbClr val="000000"/>
              </a:solidFill>
              <a:latin typeface="Arial"/>
              <a:ea typeface="Arial"/>
              <a:cs typeface="Arial"/>
              <a:sym typeface="Arial"/>
            </a:endParaRPr>
          </a:p>
        </p:txBody>
      </p:sp>
      <p:sp>
        <p:nvSpPr>
          <p:cNvPr id="216" name="Google Shape;216;p31"/>
          <p:cNvSpPr txBox="1"/>
          <p:nvPr/>
        </p:nvSpPr>
        <p:spPr>
          <a:xfrm>
            <a:off x="6905738" y="4431050"/>
            <a:ext cx="1702200" cy="283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ja" sz="1400" u="none" cap="none" strike="noStrike">
                <a:solidFill>
                  <a:srgbClr val="000000"/>
                </a:solidFill>
                <a:latin typeface="Arial"/>
                <a:ea typeface="Arial"/>
                <a:cs typeface="Arial"/>
                <a:sym typeface="Arial"/>
              </a:rPr>
              <a:t>シミュレーション</a:t>
            </a:r>
            <a:br>
              <a:rPr b="0" i="0" lang="ja" sz="1400" u="none" cap="none" strike="noStrike">
                <a:solidFill>
                  <a:srgbClr val="000000"/>
                </a:solidFill>
                <a:latin typeface="Arial"/>
                <a:ea typeface="Arial"/>
                <a:cs typeface="Arial"/>
                <a:sym typeface="Arial"/>
              </a:rPr>
            </a:br>
            <a:r>
              <a:rPr b="0" i="0" lang="ja" sz="1400" u="none" cap="none" strike="noStrike">
                <a:solidFill>
                  <a:srgbClr val="000000"/>
                </a:solidFill>
                <a:latin typeface="Arial"/>
                <a:ea typeface="Arial"/>
                <a:cs typeface="Arial"/>
                <a:sym typeface="Arial"/>
              </a:rPr>
              <a:t>ロボットモデル</a:t>
            </a:r>
            <a:endParaRPr b="0" i="0" sz="1400" u="none" cap="none" strike="noStrike">
              <a:solidFill>
                <a:srgbClr val="000000"/>
              </a:solidFill>
              <a:latin typeface="Arial"/>
              <a:ea typeface="Arial"/>
              <a:cs typeface="Arial"/>
              <a:sym typeface="Arial"/>
            </a:endParaRPr>
          </a:p>
        </p:txBody>
      </p:sp>
      <p:sp>
        <p:nvSpPr>
          <p:cNvPr id="217" name="Google Shape;217;p31"/>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32" title="研究の位置づけ.drawio.png"/>
          <p:cNvPicPr preferRelativeResize="0"/>
          <p:nvPr/>
        </p:nvPicPr>
        <p:blipFill rotWithShape="1">
          <a:blip r:embed="rId3">
            <a:alphaModFix/>
          </a:blip>
          <a:srcRect b="0" l="0" r="0" t="16757"/>
          <a:stretch/>
        </p:blipFill>
        <p:spPr>
          <a:xfrm>
            <a:off x="205201" y="792775"/>
            <a:ext cx="8733599" cy="4256750"/>
          </a:xfrm>
          <a:prstGeom prst="rect">
            <a:avLst/>
          </a:prstGeom>
          <a:noFill/>
          <a:ln>
            <a:noFill/>
          </a:ln>
        </p:spPr>
      </p:pic>
      <p:sp>
        <p:nvSpPr>
          <p:cNvPr id="223" name="Google Shape;223;p32"/>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ロボット設計における位置づけ</a:t>
            </a:r>
            <a:endParaRPr b="0" i="0" sz="3000" u="none" cap="none" strike="noStrike">
              <a:solidFill>
                <a:srgbClr val="000000"/>
              </a:solidFill>
              <a:latin typeface="Arial"/>
              <a:ea typeface="Arial"/>
              <a:cs typeface="Arial"/>
              <a:sym typeface="Arial"/>
            </a:endParaRPr>
          </a:p>
        </p:txBody>
      </p:sp>
      <p:sp>
        <p:nvSpPr>
          <p:cNvPr id="224" name="Google Shape;224;p32"/>
          <p:cNvSpPr/>
          <p:nvPr/>
        </p:nvSpPr>
        <p:spPr>
          <a:xfrm flipH="1">
            <a:off x="2481650" y="1704350"/>
            <a:ext cx="1408200" cy="603000"/>
          </a:xfrm>
          <a:prstGeom prst="wedgeRectCallout">
            <a:avLst>
              <a:gd fmla="val 43046" name="adj1"/>
              <a:gd fmla="val -73254"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rgbClr val="000000"/>
                </a:solidFill>
                <a:latin typeface="Arial"/>
                <a:ea typeface="Arial"/>
                <a:cs typeface="Arial"/>
                <a:sym typeface="Arial"/>
              </a:rPr>
              <a:t>時間はかかるが</a:t>
            </a:r>
            <a:br>
              <a:rPr b="1" i="0" lang="ja" sz="1200" u="none" cap="none" strike="noStrike">
                <a:solidFill>
                  <a:srgbClr val="000000"/>
                </a:solidFill>
                <a:latin typeface="Arial"/>
                <a:ea typeface="Arial"/>
                <a:cs typeface="Arial"/>
                <a:sym typeface="Arial"/>
              </a:rPr>
            </a:br>
            <a:r>
              <a:rPr b="1" i="0" lang="ja" sz="1200" u="none" cap="none" strike="noStrike">
                <a:solidFill>
                  <a:srgbClr val="000000"/>
                </a:solidFill>
                <a:latin typeface="Arial"/>
                <a:ea typeface="Arial"/>
                <a:cs typeface="Arial"/>
                <a:sym typeface="Arial"/>
              </a:rPr>
              <a:t>量産を見据えた</a:t>
            </a:r>
            <a:br>
              <a:rPr b="1" i="0" lang="ja" sz="1200" u="none" cap="none" strike="noStrike">
                <a:solidFill>
                  <a:srgbClr val="000000"/>
                </a:solidFill>
                <a:latin typeface="Arial"/>
                <a:ea typeface="Arial"/>
                <a:cs typeface="Arial"/>
                <a:sym typeface="Arial"/>
              </a:rPr>
            </a:br>
            <a:r>
              <a:rPr b="1" i="0" lang="ja" sz="1200" u="none" cap="none" strike="noStrike">
                <a:solidFill>
                  <a:srgbClr val="000000"/>
                </a:solidFill>
                <a:latin typeface="Arial"/>
                <a:ea typeface="Arial"/>
                <a:cs typeface="Arial"/>
                <a:sym typeface="Arial"/>
              </a:rPr>
              <a:t>精密な設計</a:t>
            </a:r>
            <a:endParaRPr b="1" i="0" sz="1200" u="none" cap="none" strike="noStrike">
              <a:solidFill>
                <a:srgbClr val="000000"/>
              </a:solidFill>
              <a:latin typeface="Arial"/>
              <a:ea typeface="Arial"/>
              <a:cs typeface="Arial"/>
              <a:sym typeface="Arial"/>
            </a:endParaRPr>
          </a:p>
        </p:txBody>
      </p:sp>
      <p:sp>
        <p:nvSpPr>
          <p:cNvPr id="225" name="Google Shape;225;p32"/>
          <p:cNvSpPr/>
          <p:nvPr/>
        </p:nvSpPr>
        <p:spPr>
          <a:xfrm flipH="1">
            <a:off x="5685700" y="1470300"/>
            <a:ext cx="1564200" cy="442800"/>
          </a:xfrm>
          <a:prstGeom prst="wedgeRectCallout">
            <a:avLst>
              <a:gd fmla="val 59059" name="adj1"/>
              <a:gd fmla="val 95828" name="adj2"/>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1" i="0" lang="ja" sz="1200" u="none" cap="none" strike="noStrike">
                <a:solidFill>
                  <a:schemeClr val="dk1"/>
                </a:solidFill>
                <a:latin typeface="Arial"/>
                <a:ea typeface="Arial"/>
                <a:cs typeface="Arial"/>
                <a:sym typeface="Arial"/>
              </a:rPr>
              <a:t>立体的に設計する</a:t>
            </a:r>
            <a:br>
              <a:rPr b="1" i="0" lang="ja" sz="1200" u="none" cap="none" strike="noStrike">
                <a:solidFill>
                  <a:schemeClr val="dk1"/>
                </a:solidFill>
                <a:latin typeface="Arial"/>
                <a:ea typeface="Arial"/>
                <a:cs typeface="Arial"/>
                <a:sym typeface="Arial"/>
              </a:rPr>
            </a:br>
            <a:r>
              <a:rPr b="1" i="0" lang="ja" sz="1200" u="none" cap="none" strike="noStrike">
                <a:solidFill>
                  <a:schemeClr val="dk1"/>
                </a:solidFill>
                <a:latin typeface="Arial"/>
                <a:ea typeface="Arial"/>
                <a:cs typeface="Arial"/>
                <a:sym typeface="Arial"/>
              </a:rPr>
              <a:t>ことで直感的に操作</a:t>
            </a:r>
            <a:endParaRPr b="0" i="0" sz="1400" u="none" cap="none" strike="noStrike">
              <a:solidFill>
                <a:srgbClr val="000000"/>
              </a:solidFill>
              <a:latin typeface="Arial"/>
              <a:ea typeface="Arial"/>
              <a:cs typeface="Arial"/>
              <a:sym typeface="Arial"/>
            </a:endParaRPr>
          </a:p>
        </p:txBody>
      </p:sp>
      <p:sp>
        <p:nvSpPr>
          <p:cNvPr id="226" name="Google Shape;226;p32"/>
          <p:cNvSpPr/>
          <p:nvPr/>
        </p:nvSpPr>
        <p:spPr>
          <a:xfrm flipH="1">
            <a:off x="7112975" y="2300775"/>
            <a:ext cx="1950300" cy="603000"/>
          </a:xfrm>
          <a:prstGeom prst="wedgeRectCallout">
            <a:avLst>
              <a:gd fmla="val 41039" name="adj1"/>
              <a:gd fmla="val 91898" name="adj2"/>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ja" sz="1200" u="none" cap="none" strike="noStrike">
                <a:solidFill>
                  <a:schemeClr val="dk1"/>
                </a:solidFill>
                <a:latin typeface="Arial"/>
                <a:ea typeface="Arial"/>
                <a:cs typeface="Arial"/>
                <a:sym typeface="Arial"/>
              </a:rPr>
              <a:t>スケッチを用いて数分でアイデアを即時検証</a:t>
            </a:r>
            <a:br>
              <a:rPr b="1" i="0" lang="ja" sz="1200" u="none" cap="none" strike="noStrike">
                <a:solidFill>
                  <a:schemeClr val="dk1"/>
                </a:solidFill>
                <a:latin typeface="Arial"/>
                <a:ea typeface="Arial"/>
                <a:cs typeface="Arial"/>
                <a:sym typeface="Arial"/>
              </a:rPr>
            </a:br>
            <a:r>
              <a:rPr b="1" i="0" lang="ja" sz="1200" u="none" cap="none" strike="noStrike">
                <a:solidFill>
                  <a:srgbClr val="FF0000"/>
                </a:solidFill>
                <a:latin typeface="Arial"/>
                <a:ea typeface="Arial"/>
                <a:cs typeface="Arial"/>
                <a:sym typeface="Arial"/>
              </a:rPr>
              <a:t>(フェーズ０)</a:t>
            </a:r>
            <a:endParaRPr b="1" i="0" sz="1400" u="none" cap="none" strike="noStrike">
              <a:solidFill>
                <a:srgbClr val="FF0000"/>
              </a:solidFill>
              <a:latin typeface="Arial"/>
              <a:ea typeface="Arial"/>
              <a:cs typeface="Arial"/>
              <a:sym typeface="Arial"/>
            </a:endParaRPr>
          </a:p>
        </p:txBody>
      </p:sp>
      <p:sp>
        <p:nvSpPr>
          <p:cNvPr id="227" name="Google Shape;227;p32"/>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システムフロー概要</a:t>
            </a:r>
            <a:endParaRPr b="0" i="0" sz="3000" u="none" cap="none" strike="noStrike">
              <a:solidFill>
                <a:srgbClr val="000000"/>
              </a:solidFill>
              <a:latin typeface="Arial"/>
              <a:ea typeface="Arial"/>
              <a:cs typeface="Arial"/>
              <a:sym typeface="Arial"/>
            </a:endParaRPr>
          </a:p>
        </p:txBody>
      </p:sp>
      <p:sp>
        <p:nvSpPr>
          <p:cNvPr id="233" name="Google Shape;233;p33"/>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34" name="Google Shape;234;p33"/>
          <p:cNvSpPr txBox="1"/>
          <p:nvPr/>
        </p:nvSpPr>
        <p:spPr>
          <a:xfrm>
            <a:off x="-89200" y="3446950"/>
            <a:ext cx="17151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a:t>ユーザースケッチ</a:t>
            </a:r>
            <a:endParaRPr/>
          </a:p>
        </p:txBody>
      </p:sp>
      <p:sp>
        <p:nvSpPr>
          <p:cNvPr id="235" name="Google Shape;235;p33"/>
          <p:cNvSpPr txBox="1"/>
          <p:nvPr/>
        </p:nvSpPr>
        <p:spPr>
          <a:xfrm>
            <a:off x="2659375" y="4718975"/>
            <a:ext cx="28896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solidFill>
                  <a:srgbClr val="6B4C9A"/>
                </a:solidFill>
              </a:rPr>
              <a:t>④フィードバックを返す</a:t>
            </a:r>
            <a:endParaRPr b="1">
              <a:solidFill>
                <a:srgbClr val="6B4C9A"/>
              </a:solidFill>
            </a:endParaRPr>
          </a:p>
        </p:txBody>
      </p:sp>
      <p:pic>
        <p:nvPicPr>
          <p:cNvPr id="236" name="Google Shape;236;p33"/>
          <p:cNvPicPr preferRelativeResize="0"/>
          <p:nvPr/>
        </p:nvPicPr>
        <p:blipFill rotWithShape="1">
          <a:blip r:embed="rId3">
            <a:alphaModFix/>
          </a:blip>
          <a:srcRect b="17641" l="16271" r="28422" t="0"/>
          <a:stretch/>
        </p:blipFill>
        <p:spPr>
          <a:xfrm>
            <a:off x="99550" y="991925"/>
            <a:ext cx="1262600" cy="2490475"/>
          </a:xfrm>
          <a:prstGeom prst="rect">
            <a:avLst/>
          </a:prstGeom>
          <a:noFill/>
          <a:ln cap="flat" cmpd="sng" w="19050">
            <a:solidFill>
              <a:schemeClr val="dk2"/>
            </a:solidFill>
            <a:prstDash val="solid"/>
            <a:round/>
            <a:headEnd len="sm" w="sm" type="none"/>
            <a:tailEnd len="sm" w="sm" type="none"/>
          </a:ln>
        </p:spPr>
      </p:pic>
      <p:pic>
        <p:nvPicPr>
          <p:cNvPr id="237" name="Google Shape;237;p33"/>
          <p:cNvPicPr preferRelativeResize="0"/>
          <p:nvPr/>
        </p:nvPicPr>
        <p:blipFill rotWithShape="1">
          <a:blip r:embed="rId4">
            <a:alphaModFix/>
          </a:blip>
          <a:srcRect b="0" l="25354" r="31255" t="0"/>
          <a:stretch/>
        </p:blipFill>
        <p:spPr>
          <a:xfrm>
            <a:off x="4154390" y="991925"/>
            <a:ext cx="1046493" cy="2443448"/>
          </a:xfrm>
          <a:prstGeom prst="rect">
            <a:avLst/>
          </a:prstGeom>
          <a:noFill/>
          <a:ln cap="flat" cmpd="sng" w="28575">
            <a:solidFill>
              <a:srgbClr val="2A7F7F"/>
            </a:solidFill>
            <a:prstDash val="solid"/>
            <a:round/>
            <a:headEnd len="sm" w="sm" type="none"/>
            <a:tailEnd len="sm" w="sm" type="none"/>
          </a:ln>
        </p:spPr>
      </p:pic>
      <p:pic>
        <p:nvPicPr>
          <p:cNvPr id="238" name="Google Shape;238;p33"/>
          <p:cNvPicPr preferRelativeResize="0"/>
          <p:nvPr/>
        </p:nvPicPr>
        <p:blipFill rotWithShape="1">
          <a:blip r:embed="rId5">
            <a:alphaModFix/>
          </a:blip>
          <a:srcRect b="9819" l="27036" r="23647" t="25835"/>
          <a:stretch/>
        </p:blipFill>
        <p:spPr>
          <a:xfrm>
            <a:off x="6035296" y="956475"/>
            <a:ext cx="3017277" cy="2525925"/>
          </a:xfrm>
          <a:prstGeom prst="rect">
            <a:avLst/>
          </a:prstGeom>
          <a:noFill/>
          <a:ln cap="flat" cmpd="sng" w="28575">
            <a:solidFill>
              <a:srgbClr val="9B85C4"/>
            </a:solidFill>
            <a:prstDash val="solid"/>
            <a:round/>
            <a:headEnd len="sm" w="sm" type="none"/>
            <a:tailEnd len="sm" w="sm" type="none"/>
          </a:ln>
        </p:spPr>
      </p:pic>
      <p:sp>
        <p:nvSpPr>
          <p:cNvPr id="239" name="Google Shape;239;p33"/>
          <p:cNvSpPr txBox="1"/>
          <p:nvPr/>
        </p:nvSpPr>
        <p:spPr>
          <a:xfrm>
            <a:off x="1946501" y="3435375"/>
            <a:ext cx="14871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solidFill>
                  <a:srgbClr val="7FB3B3"/>
                </a:solidFill>
              </a:rPr>
              <a:t>①スケッチ整形</a:t>
            </a:r>
            <a:endParaRPr b="1">
              <a:solidFill>
                <a:srgbClr val="7FB3B3"/>
              </a:solidFill>
            </a:endParaRPr>
          </a:p>
        </p:txBody>
      </p:sp>
      <p:pic>
        <p:nvPicPr>
          <p:cNvPr id="240" name="Google Shape;240;p33"/>
          <p:cNvPicPr preferRelativeResize="0"/>
          <p:nvPr/>
        </p:nvPicPr>
        <p:blipFill rotWithShape="1">
          <a:blip r:embed="rId6">
            <a:alphaModFix/>
          </a:blip>
          <a:srcRect b="0" l="17676" r="14729" t="0"/>
          <a:stretch/>
        </p:blipFill>
        <p:spPr>
          <a:xfrm>
            <a:off x="2106730" y="991925"/>
            <a:ext cx="1262600" cy="2490476"/>
          </a:xfrm>
          <a:prstGeom prst="rect">
            <a:avLst/>
          </a:prstGeom>
          <a:noFill/>
          <a:ln cap="flat" cmpd="sng" w="28575">
            <a:solidFill>
              <a:srgbClr val="7FB3B3"/>
            </a:solidFill>
            <a:prstDash val="solid"/>
            <a:round/>
            <a:headEnd len="sm" w="sm" type="none"/>
            <a:tailEnd len="sm" w="sm" type="none"/>
          </a:ln>
        </p:spPr>
      </p:pic>
      <p:sp>
        <p:nvSpPr>
          <p:cNvPr id="241" name="Google Shape;241;p33"/>
          <p:cNvSpPr txBox="1"/>
          <p:nvPr/>
        </p:nvSpPr>
        <p:spPr>
          <a:xfrm>
            <a:off x="4088306" y="3435375"/>
            <a:ext cx="11880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solidFill>
                  <a:srgbClr val="2A7F7F"/>
                </a:solidFill>
              </a:rPr>
              <a:t>②形にする</a:t>
            </a:r>
            <a:endParaRPr b="1">
              <a:solidFill>
                <a:srgbClr val="2A7F7F"/>
              </a:solidFill>
            </a:endParaRPr>
          </a:p>
        </p:txBody>
      </p:sp>
      <p:sp>
        <p:nvSpPr>
          <p:cNvPr id="242" name="Google Shape;242;p33"/>
          <p:cNvSpPr txBox="1"/>
          <p:nvPr/>
        </p:nvSpPr>
        <p:spPr>
          <a:xfrm>
            <a:off x="6035233" y="3435375"/>
            <a:ext cx="3017400" cy="499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a:solidFill>
                  <a:srgbClr val="9B85C4"/>
                </a:solidFill>
              </a:rPr>
              <a:t>③タスクに向くか調べる</a:t>
            </a:r>
            <a:endParaRPr b="1">
              <a:solidFill>
                <a:srgbClr val="9B85C4"/>
              </a:solidFill>
            </a:endParaRPr>
          </a:p>
        </p:txBody>
      </p:sp>
      <p:sp>
        <p:nvSpPr>
          <p:cNvPr id="243" name="Google Shape;243;p33"/>
          <p:cNvSpPr/>
          <p:nvPr/>
        </p:nvSpPr>
        <p:spPr>
          <a:xfrm>
            <a:off x="2675925" y="3991525"/>
            <a:ext cx="3017400" cy="671100"/>
          </a:xfrm>
          <a:prstGeom prst="wedgeRoundRectCallout">
            <a:avLst>
              <a:gd fmla="val -20833" name="adj1"/>
              <a:gd fmla="val 62500" name="adj2"/>
              <a:gd fmla="val 0" name="adj3"/>
            </a:avLst>
          </a:prstGeom>
          <a:solidFill>
            <a:srgbClr val="EFEFEF"/>
          </a:solidFill>
          <a:ln cap="flat" cmpd="sng" w="28575">
            <a:solidFill>
              <a:srgbClr val="6B4C9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t>関節3がほとんど動いていません。</a:t>
            </a:r>
            <a:br>
              <a:rPr lang="ja"/>
            </a:br>
            <a:r>
              <a:rPr lang="ja"/>
              <a:t>fixしますか？</a:t>
            </a:r>
            <a:endParaRPr/>
          </a:p>
        </p:txBody>
      </p:sp>
      <p:sp>
        <p:nvSpPr>
          <p:cNvPr id="244" name="Google Shape;244;p33"/>
          <p:cNvSpPr/>
          <p:nvPr/>
        </p:nvSpPr>
        <p:spPr>
          <a:xfrm>
            <a:off x="1544388" y="2067963"/>
            <a:ext cx="380100" cy="338400"/>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5" name="Google Shape;245;p33"/>
          <p:cNvSpPr/>
          <p:nvPr/>
        </p:nvSpPr>
        <p:spPr>
          <a:xfrm>
            <a:off x="3551538" y="2044438"/>
            <a:ext cx="380100" cy="338400"/>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6" name="Google Shape;246;p33"/>
          <p:cNvSpPr/>
          <p:nvPr/>
        </p:nvSpPr>
        <p:spPr>
          <a:xfrm>
            <a:off x="5456038" y="2044438"/>
            <a:ext cx="380100" cy="338400"/>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7" name="Google Shape;247;p33"/>
          <p:cNvSpPr/>
          <p:nvPr/>
        </p:nvSpPr>
        <p:spPr>
          <a:xfrm rot="9143616">
            <a:off x="6007577" y="3944506"/>
            <a:ext cx="989221" cy="338552"/>
          </a:xfrm>
          <a:prstGeom prst="rightArrow">
            <a:avLst>
              <a:gd fmla="val 50000" name="adj1"/>
              <a:gd fmla="val 50000" name="adj2"/>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9DAF8"/>
              </a:solidFill>
            </a:endParaRPr>
          </a:p>
        </p:txBody>
      </p:sp>
      <p:sp>
        <p:nvSpPr>
          <p:cNvPr id="248" name="Google Shape;248;p33"/>
          <p:cNvSpPr/>
          <p:nvPr/>
        </p:nvSpPr>
        <p:spPr>
          <a:xfrm rot="-4545856">
            <a:off x="2048320" y="3969629"/>
            <a:ext cx="480660" cy="481095"/>
          </a:xfrm>
          <a:prstGeom prst="bentArrow">
            <a:avLst>
              <a:gd fmla="val 25000" name="adj1"/>
              <a:gd fmla="val 25000" name="adj2"/>
              <a:gd fmla="val 25000" name="adj3"/>
              <a:gd fmla="val 43750" name="adj4"/>
            </a:avLst>
          </a:prstGeom>
          <a:solidFill>
            <a:srgbClr val="4A86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solidFill>
                  <a:schemeClr val="dk1"/>
                </a:solidFill>
              </a:rPr>
              <a:t>①スケッチ整形</a:t>
            </a:r>
            <a:endParaRPr sz="3000"/>
          </a:p>
        </p:txBody>
      </p:sp>
      <p:sp>
        <p:nvSpPr>
          <p:cNvPr id="254" name="Google Shape;254;p34"/>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55" name="Google Shape;255;p34"/>
          <p:cNvSpPr txBox="1"/>
          <p:nvPr/>
        </p:nvSpPr>
        <p:spPr>
          <a:xfrm>
            <a:off x="0" y="748025"/>
            <a:ext cx="6712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やっていること：Geminiに後段が読める絵へ描き直させる</a:t>
            </a:r>
            <a:endParaRPr sz="1800"/>
          </a:p>
        </p:txBody>
      </p:sp>
      <p:pic>
        <p:nvPicPr>
          <p:cNvPr id="256" name="Google Shape;256;p34"/>
          <p:cNvPicPr preferRelativeResize="0"/>
          <p:nvPr/>
        </p:nvPicPr>
        <p:blipFill>
          <a:blip r:embed="rId3">
            <a:alphaModFix/>
          </a:blip>
          <a:stretch>
            <a:fillRect/>
          </a:stretch>
        </p:blipFill>
        <p:spPr>
          <a:xfrm>
            <a:off x="7137150" y="800250"/>
            <a:ext cx="1958425" cy="1702351"/>
          </a:xfrm>
          <a:prstGeom prst="rect">
            <a:avLst/>
          </a:prstGeom>
          <a:noFill/>
          <a:ln>
            <a:noFill/>
          </a:ln>
        </p:spPr>
      </p:pic>
      <p:sp>
        <p:nvSpPr>
          <p:cNvPr id="257" name="Google Shape;257;p34"/>
          <p:cNvSpPr txBox="1"/>
          <p:nvPr/>
        </p:nvSpPr>
        <p:spPr>
          <a:xfrm>
            <a:off x="56250" y="1437425"/>
            <a:ext cx="5631000" cy="268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①構造はスケッチどおりに</a:t>
            </a:r>
            <a:endParaRPr b="1" sz="1800"/>
          </a:p>
          <a:p>
            <a:pPr indent="0" lvl="0" marL="0" rtl="0" algn="l">
              <a:spcBef>
                <a:spcPts val="0"/>
              </a:spcBef>
              <a:spcAft>
                <a:spcPts val="0"/>
              </a:spcAft>
              <a:buNone/>
            </a:pPr>
            <a:r>
              <a:rPr lang="ja" sz="1800"/>
              <a:t>　リンクの本数や長さの比は変えない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②関節に印をつけさせる</a:t>
            </a:r>
            <a:br>
              <a:rPr lang="ja" sz="1800"/>
            </a:br>
            <a:r>
              <a:rPr lang="ja" sz="1800"/>
              <a:t>　接続部全てに純マゼンタの球をつける</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③後段が読める色と形にする</a:t>
            </a:r>
            <a:br>
              <a:rPr lang="ja" sz="1800"/>
            </a:br>
            <a:r>
              <a:rPr lang="ja" sz="1800"/>
              <a:t>　リンクごとに単色で塗り分ける</a:t>
            </a:r>
            <a:endParaRPr sz="1800"/>
          </a:p>
          <a:p>
            <a:pPr indent="0" lvl="0" marL="0" rtl="0" algn="l">
              <a:spcBef>
                <a:spcPts val="0"/>
              </a:spcBef>
              <a:spcAft>
                <a:spcPts val="0"/>
              </a:spcAft>
              <a:buNone/>
            </a:pPr>
            <a:r>
              <a:t/>
            </a:r>
            <a:endParaRPr sz="800"/>
          </a:p>
          <a:p>
            <a:pPr indent="0" lvl="0" marL="0" rtl="0" algn="l">
              <a:spcBef>
                <a:spcPts val="0"/>
              </a:spcBef>
              <a:spcAft>
                <a:spcPts val="0"/>
              </a:spcAft>
              <a:buNone/>
            </a:pPr>
            <a:r>
              <a:rPr b="1" lang="ja" sz="1800"/>
              <a:t>④描いてはいけないものを列挙する</a:t>
            </a:r>
            <a:br>
              <a:rPr lang="ja" sz="1800"/>
            </a:br>
            <a:r>
              <a:rPr lang="ja" sz="1800"/>
              <a:t>　寸法線や数字等</a:t>
            </a:r>
            <a:endParaRPr sz="1800"/>
          </a:p>
        </p:txBody>
      </p:sp>
      <p:sp>
        <p:nvSpPr>
          <p:cNvPr id="258" name="Google Shape;258;p34"/>
          <p:cNvSpPr txBox="1"/>
          <p:nvPr/>
        </p:nvSpPr>
        <p:spPr>
          <a:xfrm>
            <a:off x="56254" y="1046104"/>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プロンプト</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solidFill>
                  <a:schemeClr val="dk1"/>
                </a:solidFill>
              </a:rPr>
              <a:t>②形にする</a:t>
            </a:r>
            <a:endParaRPr sz="3000"/>
          </a:p>
        </p:txBody>
      </p:sp>
      <p:sp>
        <p:nvSpPr>
          <p:cNvPr id="264" name="Google Shape;264;p3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65" name="Google Shape;265;p35"/>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66" name="Google Shape;266;p35"/>
          <p:cNvSpPr txBox="1"/>
          <p:nvPr/>
        </p:nvSpPr>
        <p:spPr>
          <a:xfrm>
            <a:off x="0" y="748025"/>
            <a:ext cx="69072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a:t>
            </a:r>
            <a:r>
              <a:rPr lang="ja" sz="1800"/>
              <a:t>整形した絵をシミュレータで動くモデルにする</a:t>
            </a:r>
            <a:endParaRPr sz="1800"/>
          </a:p>
        </p:txBody>
      </p:sp>
      <p:pic>
        <p:nvPicPr>
          <p:cNvPr id="267" name="Google Shape;267;p35"/>
          <p:cNvPicPr preferRelativeResize="0"/>
          <p:nvPr/>
        </p:nvPicPr>
        <p:blipFill>
          <a:blip r:embed="rId3">
            <a:alphaModFix/>
          </a:blip>
          <a:stretch>
            <a:fillRect/>
          </a:stretch>
        </p:blipFill>
        <p:spPr>
          <a:xfrm>
            <a:off x="7137150" y="800250"/>
            <a:ext cx="1958425" cy="1702351"/>
          </a:xfrm>
          <a:prstGeom prst="rect">
            <a:avLst/>
          </a:prstGeom>
          <a:noFill/>
          <a:ln>
            <a:noFill/>
          </a:ln>
        </p:spPr>
      </p:pic>
      <p:sp>
        <p:nvSpPr>
          <p:cNvPr id="268" name="Google Shape;268;p35"/>
          <p:cNvSpPr txBox="1"/>
          <p:nvPr/>
        </p:nvSpPr>
        <p:spPr>
          <a:xfrm>
            <a:off x="56250" y="1437425"/>
            <a:ext cx="5631000" cy="2687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a:t>
            </a:r>
            <a:r>
              <a:rPr b="1" lang="ja" sz="1800"/>
              <a:t>立体にする</a:t>
            </a:r>
            <a:endParaRPr b="1" sz="1800"/>
          </a:p>
          <a:p>
            <a:pPr indent="0" lvl="0" marL="0" rtl="0" algn="l">
              <a:spcBef>
                <a:spcPts val="0"/>
              </a:spcBef>
              <a:spcAft>
                <a:spcPts val="0"/>
              </a:spcAft>
              <a:buNone/>
            </a:pPr>
            <a:r>
              <a:rPr lang="ja" sz="1800"/>
              <a:t>　Tripo3D</a:t>
            </a:r>
            <a:r>
              <a:rPr lang="ja" sz="1800"/>
              <a:t>という既存サービスを用いて立体化</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②関節</a:t>
            </a:r>
            <a:r>
              <a:rPr b="1" lang="ja" sz="1800"/>
              <a:t>を見つける</a:t>
            </a:r>
            <a:br>
              <a:rPr lang="ja" sz="1800"/>
            </a:br>
            <a:r>
              <a:rPr lang="ja" sz="1800"/>
              <a:t>　</a:t>
            </a:r>
            <a:r>
              <a:rPr lang="ja" sz="1800"/>
              <a:t>マゼンタの球を色で探す</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③</a:t>
            </a:r>
            <a:r>
              <a:rPr b="1" lang="ja" sz="1800"/>
              <a:t>リンクに切り分ける</a:t>
            </a:r>
            <a:br>
              <a:rPr lang="ja" sz="1800"/>
            </a:br>
            <a:r>
              <a:rPr lang="ja" sz="1800"/>
              <a:t>　</a:t>
            </a:r>
            <a:r>
              <a:rPr lang="ja" sz="1800"/>
              <a:t>関節の高さを境界にメッシュを切る</a:t>
            </a:r>
            <a:endParaRPr sz="1800"/>
          </a:p>
          <a:p>
            <a:pPr indent="0" lvl="0" marL="0" rtl="0" algn="l">
              <a:spcBef>
                <a:spcPts val="0"/>
              </a:spcBef>
              <a:spcAft>
                <a:spcPts val="0"/>
              </a:spcAft>
              <a:buNone/>
            </a:pPr>
            <a:r>
              <a:t/>
            </a:r>
            <a:endParaRPr sz="800"/>
          </a:p>
          <a:p>
            <a:pPr indent="0" lvl="0" marL="0" rtl="0" algn="l">
              <a:spcBef>
                <a:spcPts val="0"/>
              </a:spcBef>
              <a:spcAft>
                <a:spcPts val="0"/>
              </a:spcAft>
              <a:buNone/>
            </a:pPr>
            <a:r>
              <a:rPr b="1" lang="ja" sz="1800"/>
              <a:t>④</a:t>
            </a:r>
            <a:r>
              <a:rPr b="1" lang="ja" sz="1800"/>
              <a:t>寸法を測ってモデルにする</a:t>
            </a:r>
            <a:br>
              <a:rPr lang="ja" sz="1800"/>
            </a:br>
            <a:r>
              <a:rPr lang="ja" sz="1800"/>
              <a:t>　</a:t>
            </a:r>
            <a:r>
              <a:rPr lang="ja" sz="1800"/>
              <a:t>各リンクを直方体で囲み、長さと太さを取る</a:t>
            </a:r>
            <a:endParaRPr sz="1800"/>
          </a:p>
        </p:txBody>
      </p:sp>
      <p:sp>
        <p:nvSpPr>
          <p:cNvPr id="269" name="Google Shape;269;p35"/>
          <p:cNvSpPr txBox="1"/>
          <p:nvPr/>
        </p:nvSpPr>
        <p:spPr>
          <a:xfrm>
            <a:off x="56254" y="1046104"/>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フロー</a:t>
            </a:r>
            <a:endParaRPr sz="1800">
              <a:solidFill>
                <a:schemeClr val="dk1"/>
              </a:solidFill>
            </a:endParaRPr>
          </a:p>
        </p:txBody>
      </p:sp>
      <p:pic>
        <p:nvPicPr>
          <p:cNvPr id="270" name="Google Shape;270;p35"/>
          <p:cNvPicPr preferRelativeResize="0"/>
          <p:nvPr/>
        </p:nvPicPr>
        <p:blipFill>
          <a:blip r:embed="rId4">
            <a:alphaModFix/>
          </a:blip>
          <a:stretch>
            <a:fillRect/>
          </a:stretch>
        </p:blipFill>
        <p:spPr>
          <a:xfrm>
            <a:off x="7175750" y="800250"/>
            <a:ext cx="1881234" cy="1702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6"/>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t>③タスクに向くか調べる</a:t>
            </a:r>
            <a:endParaRPr sz="3000"/>
          </a:p>
        </p:txBody>
      </p:sp>
      <p:sp>
        <p:nvSpPr>
          <p:cNvPr id="276" name="Google Shape;276;p36"/>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77" name="Google Shape;277;p36"/>
          <p:cNvSpPr txBox="1"/>
          <p:nvPr/>
        </p:nvSpPr>
        <p:spPr>
          <a:xfrm>
            <a:off x="0" y="748025"/>
            <a:ext cx="32811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関連研究:Stackelberg PPO</a:t>
            </a:r>
            <a:endParaRPr b="1" sz="1800"/>
          </a:p>
        </p:txBody>
      </p:sp>
      <p:sp>
        <p:nvSpPr>
          <p:cNvPr id="278" name="Google Shape;278;p36"/>
          <p:cNvSpPr txBox="1"/>
          <p:nvPr/>
        </p:nvSpPr>
        <p:spPr>
          <a:xfrm>
            <a:off x="89575" y="1157021"/>
            <a:ext cx="8029200" cy="2471100"/>
          </a:xfrm>
          <a:prstGeom prst="rect">
            <a:avLst/>
          </a:prstGeom>
          <a:noFill/>
          <a:ln>
            <a:noFill/>
          </a:ln>
        </p:spPr>
        <p:txBody>
          <a:bodyPr anchorCtr="0" anchor="t" bIns="86150" lIns="86150" spcFirstLastPara="1" rIns="86150" wrap="square" tIns="86150">
            <a:normAutofit/>
          </a:bodyPr>
          <a:lstStyle/>
          <a:p>
            <a:pPr indent="0" lvl="0" marL="0" rtl="0" algn="l">
              <a:lnSpc>
                <a:spcPct val="115000"/>
              </a:lnSpc>
              <a:spcBef>
                <a:spcPts val="0"/>
              </a:spcBef>
              <a:spcAft>
                <a:spcPts val="0"/>
              </a:spcAft>
              <a:buNone/>
            </a:pPr>
            <a:r>
              <a:rPr b="1" lang="ja" sz="1696">
                <a:solidFill>
                  <a:srgbClr val="4285F4"/>
                </a:solidFill>
              </a:rPr>
              <a:t>①形態設計フェーズ(リーダー：先手)</a:t>
            </a:r>
            <a:br>
              <a:rPr lang="ja" sz="1696">
                <a:solidFill>
                  <a:srgbClr val="000000"/>
                </a:solidFill>
              </a:rPr>
            </a:br>
            <a:r>
              <a:rPr lang="ja" sz="1696">
                <a:solidFill>
                  <a:srgbClr val="000000"/>
                </a:solidFill>
              </a:rPr>
              <a:t>関節追加やリンク長調整などの編集をステップごとに繰り返し、最終的な「体」を完成させる。(関節数を変化させるのに5ステップ、リンク長変更に1ステップ)</a:t>
            </a:r>
            <a:endParaRPr sz="1696">
              <a:solidFill>
                <a:srgbClr val="000000"/>
              </a:solidFill>
            </a:endParaRPr>
          </a:p>
          <a:p>
            <a:pPr indent="0" lvl="0" marL="0" rtl="0" algn="l">
              <a:lnSpc>
                <a:spcPct val="115000"/>
              </a:lnSpc>
              <a:spcBef>
                <a:spcPts val="1131"/>
              </a:spcBef>
              <a:spcAft>
                <a:spcPts val="1131"/>
              </a:spcAft>
              <a:buNone/>
            </a:pPr>
            <a:r>
              <a:rPr b="1" lang="ja" sz="1696">
                <a:solidFill>
                  <a:srgbClr val="6AA84F"/>
                </a:solidFill>
              </a:rPr>
              <a:t>②制御学習フェーズ(フォロワー：後手)</a:t>
            </a:r>
            <a:br>
              <a:rPr lang="ja" sz="1696">
                <a:solidFill>
                  <a:srgbClr val="6AA84F"/>
                </a:solidFill>
              </a:rPr>
            </a:br>
            <a:r>
              <a:rPr lang="ja" sz="1696">
                <a:solidFill>
                  <a:srgbClr val="000000"/>
                </a:solidFill>
              </a:rPr>
              <a:t>完成した体でタスクを最大効率でこなす制御方策を学習する。</a:t>
            </a:r>
            <a:endParaRPr sz="1696">
              <a:solidFill>
                <a:srgbClr val="000000"/>
              </a:solidFill>
            </a:endParaRPr>
          </a:p>
        </p:txBody>
      </p:sp>
      <p:sp>
        <p:nvSpPr>
          <p:cNvPr id="279" name="Google Shape;279;p36"/>
          <p:cNvSpPr txBox="1"/>
          <p:nvPr/>
        </p:nvSpPr>
        <p:spPr>
          <a:xfrm>
            <a:off x="1467719" y="3494463"/>
            <a:ext cx="132900" cy="166200"/>
          </a:xfrm>
          <a:prstGeom prst="rect">
            <a:avLst/>
          </a:prstGeom>
          <a:noFill/>
          <a:ln>
            <a:noFill/>
          </a:ln>
        </p:spPr>
        <p:txBody>
          <a:bodyPr anchorCtr="0" anchor="t" bIns="86150" lIns="86150" spcFirstLastPara="1" rIns="86150" wrap="square" tIns="86150">
            <a:noAutofit/>
          </a:bodyPr>
          <a:lstStyle/>
          <a:p>
            <a:pPr indent="0" lvl="0" marL="0" rtl="0" algn="l">
              <a:spcBef>
                <a:spcPts val="0"/>
              </a:spcBef>
              <a:spcAft>
                <a:spcPts val="0"/>
              </a:spcAft>
              <a:buNone/>
            </a:pPr>
            <a:r>
              <a:t/>
            </a:r>
            <a:endParaRPr sz="1696">
              <a:solidFill>
                <a:srgbClr val="595959"/>
              </a:solidFill>
            </a:endParaRPr>
          </a:p>
        </p:txBody>
      </p:sp>
      <p:pic>
        <p:nvPicPr>
          <p:cNvPr id="280" name="Google Shape;280;p36"/>
          <p:cNvPicPr preferRelativeResize="0"/>
          <p:nvPr/>
        </p:nvPicPr>
        <p:blipFill>
          <a:blip r:embed="rId3">
            <a:alphaModFix/>
          </a:blip>
          <a:stretch>
            <a:fillRect/>
          </a:stretch>
        </p:blipFill>
        <p:spPr>
          <a:xfrm>
            <a:off x="1566494" y="2954543"/>
            <a:ext cx="6011016" cy="20736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7"/>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各フロー詳細と進捗</a:t>
            </a:r>
            <a:r>
              <a:rPr b="1" lang="ja" sz="1800"/>
              <a:t>③タスクに向くか調べる</a:t>
            </a:r>
            <a:endParaRPr sz="3000"/>
          </a:p>
        </p:txBody>
      </p:sp>
      <p:sp>
        <p:nvSpPr>
          <p:cNvPr id="286" name="Google Shape;286;p37"/>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87" name="Google Shape;287;p37"/>
          <p:cNvSpPr txBox="1"/>
          <p:nvPr/>
        </p:nvSpPr>
        <p:spPr>
          <a:xfrm>
            <a:off x="0" y="748025"/>
            <a:ext cx="66411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やっていること：2段階でロボット評価を行う</a:t>
            </a:r>
            <a:endParaRPr sz="1800"/>
          </a:p>
        </p:txBody>
      </p:sp>
      <p:pic>
        <p:nvPicPr>
          <p:cNvPr id="288" name="Google Shape;288;p37"/>
          <p:cNvPicPr preferRelativeResize="0"/>
          <p:nvPr/>
        </p:nvPicPr>
        <p:blipFill>
          <a:blip r:embed="rId3">
            <a:alphaModFix/>
          </a:blip>
          <a:stretch>
            <a:fillRect/>
          </a:stretch>
        </p:blipFill>
        <p:spPr>
          <a:xfrm>
            <a:off x="6698642" y="778372"/>
            <a:ext cx="2376500" cy="2167800"/>
          </a:xfrm>
          <a:prstGeom prst="rect">
            <a:avLst/>
          </a:prstGeom>
          <a:noFill/>
          <a:ln>
            <a:noFill/>
          </a:ln>
        </p:spPr>
      </p:pic>
      <p:sp>
        <p:nvSpPr>
          <p:cNvPr id="289" name="Google Shape;289;p37"/>
          <p:cNvSpPr txBox="1"/>
          <p:nvPr/>
        </p:nvSpPr>
        <p:spPr>
          <a:xfrm>
            <a:off x="56250" y="1437425"/>
            <a:ext cx="6641100" cy="3410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a:t>
            </a:r>
            <a:r>
              <a:rPr b="1" lang="ja" sz="1800"/>
              <a:t>学習せずに棄却</a:t>
            </a:r>
            <a:endParaRPr b="1" sz="1800"/>
          </a:p>
          <a:p>
            <a:pPr indent="0" lvl="0" marL="0" rtl="0" algn="l">
              <a:spcBef>
                <a:spcPts val="0"/>
              </a:spcBef>
              <a:spcAft>
                <a:spcPts val="0"/>
              </a:spcAft>
              <a:buNone/>
            </a:pPr>
            <a:r>
              <a:rPr lang="ja" sz="1800"/>
              <a:t>　</a:t>
            </a:r>
            <a:r>
              <a:rPr lang="ja" sz="1800"/>
              <a:t>関節軸の設定上IK</a:t>
            </a:r>
            <a:r>
              <a:rPr lang="ja" sz="1800"/>
              <a:t>では</a:t>
            </a:r>
            <a:r>
              <a:rPr lang="ja" sz="1800"/>
              <a:t>到達しない</a:t>
            </a:r>
            <a:r>
              <a:rPr lang="ja" sz="1600"/>
              <a:t>or</a:t>
            </a:r>
            <a:r>
              <a:rPr lang="ja" sz="1800"/>
              <a:t>最適化しても到達しない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a:t>
            </a:r>
            <a:r>
              <a:rPr b="1" lang="ja" sz="1800"/>
              <a:t>学習して検証を行う</a:t>
            </a:r>
            <a:br>
              <a:rPr lang="ja" sz="1800"/>
            </a:br>
            <a:r>
              <a:rPr lang="ja" sz="1800"/>
              <a:t>　</a:t>
            </a:r>
            <a:r>
              <a:rPr lang="ja" sz="1800"/>
              <a:t>形を動かし方を同時に最適化し、そのタスクでの成績を出す</a:t>
            </a:r>
            <a:br>
              <a:rPr lang="ja" sz="1800"/>
            </a:br>
            <a:r>
              <a:rPr lang="ja" sz="1800"/>
              <a:t>　形状の最適化対象</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1800"/>
          </a:p>
        </p:txBody>
      </p:sp>
      <p:sp>
        <p:nvSpPr>
          <p:cNvPr id="290" name="Google Shape;290;p37"/>
          <p:cNvSpPr txBox="1"/>
          <p:nvPr/>
        </p:nvSpPr>
        <p:spPr>
          <a:xfrm>
            <a:off x="-2866" y="1046104"/>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フロー</a:t>
            </a:r>
            <a:endParaRPr sz="1800">
              <a:solidFill>
                <a:schemeClr val="dk1"/>
              </a:solidFill>
            </a:endParaRPr>
          </a:p>
        </p:txBody>
      </p:sp>
      <p:graphicFrame>
        <p:nvGraphicFramePr>
          <p:cNvPr id="291" name="Google Shape;291;p37"/>
          <p:cNvGraphicFramePr/>
          <p:nvPr/>
        </p:nvGraphicFramePr>
        <p:xfrm>
          <a:off x="131500" y="3110403"/>
          <a:ext cx="3000000" cy="3000000"/>
        </p:xfrm>
        <a:graphic>
          <a:graphicData uri="http://schemas.openxmlformats.org/drawingml/2006/table">
            <a:tbl>
              <a:tblPr>
                <a:noFill/>
                <a:tableStyleId>{B9D4D3EE-425B-4CB4-8343-3C7580F65749}</a:tableStyleId>
              </a:tblPr>
              <a:tblGrid>
                <a:gridCol w="1934425"/>
                <a:gridCol w="4575175"/>
              </a:tblGrid>
              <a:tr h="381000">
                <a:tc>
                  <a:txBody>
                    <a:bodyPr/>
                    <a:lstStyle/>
                    <a:p>
                      <a:pPr indent="0" lvl="0" marL="0" rtl="0" algn="ctr">
                        <a:spcBef>
                          <a:spcPts val="0"/>
                        </a:spcBef>
                        <a:spcAft>
                          <a:spcPts val="0"/>
                        </a:spcAft>
                        <a:buNone/>
                      </a:pPr>
                      <a:r>
                        <a:rPr lang="ja" sz="1500"/>
                        <a:t>リンクの長さと向き</a:t>
                      </a:r>
                      <a:endParaRPr sz="1500"/>
                    </a:p>
                  </a:txBody>
                  <a:tcPr marT="91425" marB="91425" marR="91425" marL="91425"/>
                </a:tc>
                <a:tc>
                  <a:txBody>
                    <a:bodyPr/>
                    <a:lstStyle/>
                    <a:p>
                      <a:pPr indent="0" lvl="0" marL="0" rtl="0" algn="l">
                        <a:spcBef>
                          <a:spcPts val="0"/>
                        </a:spcBef>
                        <a:spcAft>
                          <a:spcPts val="0"/>
                        </a:spcAft>
                        <a:buNone/>
                      </a:pPr>
                      <a:r>
                        <a:rPr lang="ja" sz="1500"/>
                        <a:t>もとの値から±0.5m</a:t>
                      </a:r>
                      <a:endParaRPr sz="1500"/>
                    </a:p>
                  </a:txBody>
                  <a:tcPr marT="91425" marB="91425" marR="91425" marL="91425"/>
                </a:tc>
              </a:tr>
              <a:tr h="381000">
                <a:tc>
                  <a:txBody>
                    <a:bodyPr/>
                    <a:lstStyle/>
                    <a:p>
                      <a:pPr indent="0" lvl="0" marL="0" rtl="0" algn="ctr">
                        <a:spcBef>
                          <a:spcPts val="0"/>
                        </a:spcBef>
                        <a:spcAft>
                          <a:spcPts val="0"/>
                        </a:spcAft>
                        <a:buNone/>
                      </a:pPr>
                      <a:r>
                        <a:rPr lang="ja" sz="1500"/>
                        <a:t>リンクの太さ</a:t>
                      </a:r>
                      <a:endParaRPr sz="1500"/>
                    </a:p>
                  </a:txBody>
                  <a:tcPr marT="91425" marB="91425" marR="91425" marL="91425"/>
                </a:tc>
                <a:tc>
                  <a:txBody>
                    <a:bodyPr/>
                    <a:lstStyle/>
                    <a:p>
                      <a:pPr indent="0" lvl="0" marL="0" rtl="0" algn="l">
                        <a:spcBef>
                          <a:spcPts val="0"/>
                        </a:spcBef>
                        <a:spcAft>
                          <a:spcPts val="0"/>
                        </a:spcAft>
                        <a:buNone/>
                      </a:pPr>
                      <a:r>
                        <a:rPr lang="ja" sz="1500"/>
                        <a:t>半径0.03~0.10m</a:t>
                      </a:r>
                      <a:endParaRPr sz="1500"/>
                    </a:p>
                  </a:txBody>
                  <a:tcPr marT="91425" marB="91425" marR="91425" marL="91425"/>
                </a:tc>
              </a:tr>
              <a:tr h="381000">
                <a:tc>
                  <a:txBody>
                    <a:bodyPr/>
                    <a:lstStyle/>
                    <a:p>
                      <a:pPr indent="0" lvl="0" marL="0" rtl="0" algn="ctr">
                        <a:spcBef>
                          <a:spcPts val="0"/>
                        </a:spcBef>
                        <a:spcAft>
                          <a:spcPts val="0"/>
                        </a:spcAft>
                        <a:buNone/>
                      </a:pPr>
                      <a:r>
                        <a:rPr lang="ja" sz="1500"/>
                        <a:t>関節の力強さ</a:t>
                      </a:r>
                      <a:endParaRPr sz="1500"/>
                    </a:p>
                  </a:txBody>
                  <a:tcPr marT="91425" marB="91425" marR="91425" marL="91425"/>
                </a:tc>
                <a:tc>
                  <a:txBody>
                    <a:bodyPr/>
                    <a:lstStyle/>
                    <a:p>
                      <a:pPr indent="0" lvl="0" marL="0" rtl="0" algn="l">
                        <a:spcBef>
                          <a:spcPts val="0"/>
                        </a:spcBef>
                        <a:spcAft>
                          <a:spcPts val="0"/>
                        </a:spcAft>
                        <a:buNone/>
                      </a:pPr>
                      <a:r>
                        <a:rPr lang="ja" sz="1500"/>
                        <a:t>20~400(</a:t>
                      </a:r>
                      <a:r>
                        <a:rPr lang="ja" sz="1500"/>
                        <a:t>初期値100</a:t>
                      </a:r>
                      <a:r>
                        <a:rPr lang="ja" sz="1500"/>
                        <a:t>)</a:t>
                      </a:r>
                      <a:endParaRPr sz="1500"/>
                    </a:p>
                  </a:txBody>
                  <a:tcPr marT="91425" marB="91425" marR="91425" marL="91425"/>
                </a:tc>
              </a:tr>
              <a:tr h="381000">
                <a:tc>
                  <a:txBody>
                    <a:bodyPr/>
                    <a:lstStyle/>
                    <a:p>
                      <a:pPr indent="0" lvl="0" marL="0" rtl="0" algn="ctr">
                        <a:spcBef>
                          <a:spcPts val="0"/>
                        </a:spcBef>
                        <a:spcAft>
                          <a:spcPts val="0"/>
                        </a:spcAft>
                        <a:buNone/>
                      </a:pPr>
                      <a:r>
                        <a:rPr lang="ja" sz="1500"/>
                        <a:t>関節の数と繋がり</a:t>
                      </a:r>
                      <a:endParaRPr sz="1500"/>
                    </a:p>
                  </a:txBody>
                  <a:tcPr marT="91425" marB="91425" marR="91425" marL="91425"/>
                </a:tc>
                <a:tc>
                  <a:txBody>
                    <a:bodyPr/>
                    <a:lstStyle/>
                    <a:p>
                      <a:pPr indent="0" lvl="0" marL="0" rtl="0" algn="l">
                        <a:spcBef>
                          <a:spcPts val="0"/>
                        </a:spcBef>
                        <a:spcAft>
                          <a:spcPts val="0"/>
                        </a:spcAft>
                        <a:buNone/>
                      </a:pPr>
                      <a:r>
                        <a:rPr lang="ja" sz="1500">
                          <a:solidFill>
                            <a:srgbClr val="FF0000"/>
                          </a:solidFill>
                        </a:rPr>
                        <a:t>固定</a:t>
                      </a:r>
                      <a:r>
                        <a:rPr lang="ja" sz="1500"/>
                        <a:t>(本研究ではユーザの入力した構造を評価する)</a:t>
                      </a:r>
                      <a:endParaRPr sz="1500"/>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各フロー詳細</a:t>
            </a:r>
            <a:r>
              <a:rPr b="1" lang="ja" sz="1800">
                <a:solidFill>
                  <a:schemeClr val="dk1"/>
                </a:solidFill>
              </a:rPr>
              <a:t>④フィードバックを返す</a:t>
            </a:r>
            <a:endParaRPr sz="3000"/>
          </a:p>
        </p:txBody>
      </p:sp>
      <p:sp>
        <p:nvSpPr>
          <p:cNvPr id="297" name="Google Shape;297;p38"/>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298" name="Google Shape;298;p38"/>
          <p:cNvSpPr txBox="1"/>
          <p:nvPr/>
        </p:nvSpPr>
        <p:spPr>
          <a:xfrm>
            <a:off x="0" y="748025"/>
            <a:ext cx="71727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やっていること：</a:t>
            </a:r>
            <a:r>
              <a:rPr lang="ja" sz="1800"/>
              <a:t>学習結果から数値を測り,閾値と比べて指摘を返す</a:t>
            </a:r>
            <a:endParaRPr sz="1800"/>
          </a:p>
        </p:txBody>
      </p:sp>
      <p:sp>
        <p:nvSpPr>
          <p:cNvPr id="299" name="Google Shape;299;p38"/>
          <p:cNvSpPr txBox="1"/>
          <p:nvPr/>
        </p:nvSpPr>
        <p:spPr>
          <a:xfrm>
            <a:off x="56250" y="1437425"/>
            <a:ext cx="6986100" cy="2165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①</a:t>
            </a:r>
            <a:r>
              <a:rPr b="1" lang="ja" sz="1800"/>
              <a:t>収束した形から</a:t>
            </a:r>
            <a:endParaRPr b="1" sz="1800"/>
          </a:p>
          <a:p>
            <a:pPr indent="0" lvl="0" marL="0" rtl="0" algn="l">
              <a:spcBef>
                <a:spcPts val="0"/>
              </a:spcBef>
              <a:spcAft>
                <a:spcPts val="0"/>
              </a:spcAft>
              <a:buNone/>
            </a:pPr>
            <a:r>
              <a:rPr lang="ja" sz="1800"/>
              <a:t>　</a:t>
            </a:r>
            <a:r>
              <a:rPr lang="ja" sz="1800"/>
              <a:t>「関節の力が上限に張り付いている＝出力が足りていない」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rPr b="1" lang="ja" sz="1800"/>
              <a:t>②</a:t>
            </a:r>
            <a:r>
              <a:rPr b="1" lang="ja" sz="1800"/>
              <a:t>動かし方から</a:t>
            </a:r>
            <a:br>
              <a:rPr lang="ja" sz="1800"/>
            </a:br>
            <a:r>
              <a:rPr lang="ja" sz="1800"/>
              <a:t>　「この関節は可動域の7%しか使っていない。固定してよい」</a:t>
            </a:r>
            <a:endParaRPr sz="1800"/>
          </a:p>
          <a:p>
            <a:pPr indent="0" lvl="0" marL="0" rtl="0" algn="l">
              <a:spcBef>
                <a:spcPts val="0"/>
              </a:spcBef>
              <a:spcAft>
                <a:spcPts val="0"/>
              </a:spcAft>
              <a:buNone/>
            </a:pPr>
            <a:r>
              <a:rPr lang="ja" sz="1800"/>
              <a:t>　「一撃で吹き飛ばしてい</a:t>
            </a:r>
            <a:r>
              <a:rPr lang="ja" sz="1800"/>
              <a:t>ます</a:t>
            </a:r>
            <a:r>
              <a:rPr lang="ja" sz="1800"/>
              <a:t>。</a:t>
            </a:r>
            <a:br>
              <a:rPr lang="ja" sz="1800"/>
            </a:br>
            <a:r>
              <a:rPr lang="ja" sz="1800"/>
              <a:t>　　狙った位置に止めたいならタスクを変えてください」</a:t>
            </a:r>
            <a:endParaRPr sz="1800"/>
          </a:p>
          <a:p>
            <a:pPr indent="0" lvl="0" marL="0" rtl="0" algn="l">
              <a:spcBef>
                <a:spcPts val="0"/>
              </a:spcBef>
              <a:spcAft>
                <a:spcPts val="0"/>
              </a:spcAft>
              <a:buNone/>
            </a:pPr>
            <a:r>
              <a:t/>
            </a:r>
            <a:endParaRPr b="1" sz="800"/>
          </a:p>
          <a:p>
            <a:pPr indent="0" lvl="0" marL="0" rtl="0" algn="l">
              <a:spcBef>
                <a:spcPts val="0"/>
              </a:spcBef>
              <a:spcAft>
                <a:spcPts val="0"/>
              </a:spcAft>
              <a:buNone/>
            </a:pPr>
            <a:r>
              <a:t/>
            </a:r>
            <a:endParaRPr sz="1800"/>
          </a:p>
        </p:txBody>
      </p:sp>
      <p:sp>
        <p:nvSpPr>
          <p:cNvPr id="300" name="Google Shape;300;p38"/>
          <p:cNvSpPr txBox="1"/>
          <p:nvPr/>
        </p:nvSpPr>
        <p:spPr>
          <a:xfrm>
            <a:off x="56248" y="1046100"/>
            <a:ext cx="409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二層からなるフィードバック</a:t>
            </a:r>
            <a:endParaRPr sz="1800">
              <a:solidFill>
                <a:schemeClr val="dk1"/>
              </a:solidFill>
            </a:endParaRPr>
          </a:p>
        </p:txBody>
      </p:sp>
      <p:pic>
        <p:nvPicPr>
          <p:cNvPr id="301" name="Google Shape;301;p38"/>
          <p:cNvPicPr preferRelativeResize="0"/>
          <p:nvPr/>
        </p:nvPicPr>
        <p:blipFill>
          <a:blip r:embed="rId3">
            <a:alphaModFix/>
          </a:blip>
          <a:stretch>
            <a:fillRect/>
          </a:stretch>
        </p:blipFill>
        <p:spPr>
          <a:xfrm>
            <a:off x="7100475" y="842685"/>
            <a:ext cx="2043525" cy="76747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9"/>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コンクルージョンに何を書くか</a:t>
            </a:r>
            <a:endParaRPr b="0" i="0" sz="3000" u="none" cap="none" strike="noStrike">
              <a:solidFill>
                <a:srgbClr val="000000"/>
              </a:solidFill>
              <a:latin typeface="Arial"/>
              <a:ea typeface="Arial"/>
              <a:cs typeface="Arial"/>
              <a:sym typeface="Arial"/>
            </a:endParaRPr>
          </a:p>
        </p:txBody>
      </p:sp>
      <p:sp>
        <p:nvSpPr>
          <p:cNvPr id="307" name="Google Shape;307;p39"/>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308" name="Google Shape;308;p39"/>
          <p:cNvSpPr txBox="1"/>
          <p:nvPr/>
        </p:nvSpPr>
        <p:spPr>
          <a:xfrm>
            <a:off x="119350" y="877600"/>
            <a:ext cx="8709900" cy="8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800"/>
              <a:t>手描きスケッチから、タスク適性を試作前に判定できるシステムを構築した </a:t>
            </a:r>
            <a:br>
              <a:rPr b="1" lang="ja" sz="1800"/>
            </a:br>
            <a:r>
              <a:rPr b="1" lang="ja" sz="1800"/>
              <a:t>（生成時の頑健性・判定の妥当性・助言の有効性を、それぞれ実験で確かめた）</a:t>
            </a:r>
            <a:endParaRPr b="1" sz="1800"/>
          </a:p>
        </p:txBody>
      </p:sp>
      <p:cxnSp>
        <p:nvCxnSpPr>
          <p:cNvPr id="309" name="Google Shape;309;p39"/>
          <p:cNvCxnSpPr/>
          <p:nvPr/>
        </p:nvCxnSpPr>
        <p:spPr>
          <a:xfrm flipH="1" rot="10800000">
            <a:off x="172800" y="1707700"/>
            <a:ext cx="8457300" cy="10200"/>
          </a:xfrm>
          <a:prstGeom prst="straightConnector1">
            <a:avLst/>
          </a:prstGeom>
          <a:noFill/>
          <a:ln cap="flat" cmpd="sng" w="9525">
            <a:solidFill>
              <a:schemeClr val="dk2"/>
            </a:solidFill>
            <a:prstDash val="solid"/>
            <a:round/>
            <a:headEnd len="med" w="med" type="none"/>
            <a:tailEnd len="med" w="med" type="none"/>
          </a:ln>
        </p:spPr>
      </p:cxnSp>
      <p:sp>
        <p:nvSpPr>
          <p:cNvPr id="310" name="Google Shape;310;p39"/>
          <p:cNvSpPr txBox="1"/>
          <p:nvPr/>
        </p:nvSpPr>
        <p:spPr>
          <a:xfrm>
            <a:off x="119400" y="1748500"/>
            <a:ext cx="8709900" cy="295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600"/>
              <a:t>そう言えるために今の実験で必要なことは拾えているか？</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余談</a:t>
            </a:r>
            <a:endParaRPr sz="3000"/>
          </a:p>
        </p:txBody>
      </p:sp>
      <p:sp>
        <p:nvSpPr>
          <p:cNvPr id="316" name="Google Shape;316;p40"/>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317" name="Google Shape;317;p40"/>
          <p:cNvSpPr txBox="1"/>
          <p:nvPr/>
        </p:nvSpPr>
        <p:spPr>
          <a:xfrm>
            <a:off x="0" y="748025"/>
            <a:ext cx="8790300" cy="49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t>pusherではなんの用途のロボットなの？となるのでホッケーをするロボットを作成</a:t>
            </a:r>
            <a:endParaRPr sz="1800"/>
          </a:p>
        </p:txBody>
      </p:sp>
      <p:sp>
        <p:nvSpPr>
          <p:cNvPr id="318" name="Google Shape;318;p40"/>
          <p:cNvSpPr txBox="1"/>
          <p:nvPr/>
        </p:nvSpPr>
        <p:spPr>
          <a:xfrm>
            <a:off x="56252" y="1046100"/>
            <a:ext cx="84765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rPr>
              <a:t>⇒スタートの形状も通常のpusherと違うので比較して何かを論じれるわけでは</a:t>
            </a:r>
            <a:br>
              <a:rPr lang="ja" sz="1800">
                <a:solidFill>
                  <a:schemeClr val="dk1"/>
                </a:solidFill>
              </a:rPr>
            </a:br>
            <a:r>
              <a:rPr lang="ja" sz="1800">
                <a:solidFill>
                  <a:schemeClr val="dk1"/>
                </a:solidFill>
              </a:rPr>
              <a:t>　ないが、デモ動画としてわかりやすい&amp;Pusherから枝分かれしたTarget-Pusher </a:t>
            </a:r>
            <a:endParaRPr sz="1800">
              <a:solidFill>
                <a:schemeClr val="dk1"/>
              </a:solidFill>
            </a:endParaRPr>
          </a:p>
          <a:p>
            <a:pPr indent="0" lvl="0" marL="0" rtl="0" algn="l">
              <a:spcBef>
                <a:spcPts val="0"/>
              </a:spcBef>
              <a:spcAft>
                <a:spcPts val="0"/>
              </a:spcAft>
              <a:buNone/>
            </a:pPr>
            <a:r>
              <a:rPr lang="ja" sz="1800">
                <a:solidFill>
                  <a:schemeClr val="dk1"/>
                </a:solidFill>
              </a:rPr>
              <a:t>　とhockeyとして戦術の違いがわかりやすい</a:t>
            </a:r>
            <a:endParaRPr sz="1800">
              <a:solidFill>
                <a:schemeClr val="dk1"/>
              </a:solidFill>
            </a:endParaRPr>
          </a:p>
        </p:txBody>
      </p:sp>
      <p:pic>
        <p:nvPicPr>
          <p:cNvPr id="319" name="Google Shape;319;p40"/>
          <p:cNvPicPr preferRelativeResize="0"/>
          <p:nvPr/>
        </p:nvPicPr>
        <p:blipFill rotWithShape="1">
          <a:blip r:embed="rId3">
            <a:alphaModFix/>
          </a:blip>
          <a:srcRect b="9819" l="27036" r="23647" t="25835"/>
          <a:stretch/>
        </p:blipFill>
        <p:spPr>
          <a:xfrm>
            <a:off x="5104650" y="2214300"/>
            <a:ext cx="2870077" cy="2402702"/>
          </a:xfrm>
          <a:prstGeom prst="rect">
            <a:avLst/>
          </a:prstGeom>
          <a:noFill/>
          <a:ln cap="flat" cmpd="sng" w="28575">
            <a:solidFill>
              <a:srgbClr val="9B85C4"/>
            </a:solidFill>
            <a:prstDash val="solid"/>
            <a:round/>
            <a:headEnd len="sm" w="sm" type="none"/>
            <a:tailEnd len="sm" w="sm" type="none"/>
          </a:ln>
        </p:spPr>
      </p:pic>
      <p:pic>
        <p:nvPicPr>
          <p:cNvPr id="320" name="Google Shape;320;p40"/>
          <p:cNvPicPr preferRelativeResize="0"/>
          <p:nvPr/>
        </p:nvPicPr>
        <p:blipFill>
          <a:blip r:embed="rId4">
            <a:alphaModFix/>
          </a:blip>
          <a:stretch>
            <a:fillRect/>
          </a:stretch>
        </p:blipFill>
        <p:spPr>
          <a:xfrm>
            <a:off x="468175" y="2214300"/>
            <a:ext cx="3178775" cy="2402700"/>
          </a:xfrm>
          <a:prstGeom prst="rect">
            <a:avLst/>
          </a:prstGeom>
          <a:noFill/>
          <a:ln>
            <a:noFill/>
          </a:ln>
        </p:spPr>
      </p:pic>
      <p:sp>
        <p:nvSpPr>
          <p:cNvPr id="321" name="Google Shape;321;p40"/>
          <p:cNvSpPr txBox="1"/>
          <p:nvPr/>
        </p:nvSpPr>
        <p:spPr>
          <a:xfrm>
            <a:off x="468175" y="4617000"/>
            <a:ext cx="31788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800"/>
              <a:t>普通のpusher(バット戦術)</a:t>
            </a:r>
            <a:endParaRPr sz="1800"/>
          </a:p>
        </p:txBody>
      </p:sp>
      <p:sp>
        <p:nvSpPr>
          <p:cNvPr id="322" name="Google Shape;322;p40"/>
          <p:cNvSpPr txBox="1"/>
          <p:nvPr/>
        </p:nvSpPr>
        <p:spPr>
          <a:xfrm>
            <a:off x="5023075" y="4617000"/>
            <a:ext cx="3011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800"/>
              <a:t>hockey(反射戦術)</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41"/>
          <p:cNvPicPr preferRelativeResize="0"/>
          <p:nvPr/>
        </p:nvPicPr>
        <p:blipFill rotWithShape="1">
          <a:blip r:embed="rId3">
            <a:alphaModFix/>
          </a:blip>
          <a:srcRect b="0" l="0" r="0" t="7800"/>
          <a:stretch/>
        </p:blipFill>
        <p:spPr>
          <a:xfrm>
            <a:off x="1679423" y="893675"/>
            <a:ext cx="5785175" cy="3653251"/>
          </a:xfrm>
          <a:prstGeom prst="rect">
            <a:avLst/>
          </a:prstGeom>
          <a:noFill/>
          <a:ln>
            <a:noFill/>
          </a:ln>
        </p:spPr>
      </p:pic>
      <p:sp>
        <p:nvSpPr>
          <p:cNvPr id="328" name="Google Shape;328;p41"/>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M1:画像整形と関節マーク(Gemini)</a:t>
            </a:r>
            <a:endParaRPr b="0" i="0" sz="3000" u="none" cap="none" strike="noStrike">
              <a:solidFill>
                <a:srgbClr val="000000"/>
              </a:solidFill>
              <a:latin typeface="Arial"/>
              <a:ea typeface="Arial"/>
              <a:cs typeface="Arial"/>
              <a:sym typeface="Arial"/>
            </a:endParaRPr>
          </a:p>
        </p:txBody>
      </p:sp>
      <p:sp>
        <p:nvSpPr>
          <p:cNvPr id="329" name="Google Shape;329;p41"/>
          <p:cNvSpPr txBox="1"/>
          <p:nvPr/>
        </p:nvSpPr>
        <p:spPr>
          <a:xfrm>
            <a:off x="0" y="4546925"/>
            <a:ext cx="91440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700"/>
              <a:t>⇒やること：APIでtempによる影響を最小化して仕様の遵守率の定義をもとに再実験</a:t>
            </a:r>
            <a:endParaRPr sz="1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2"/>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M2:</a:t>
            </a:r>
            <a:r>
              <a:rPr lang="ja" sz="3000"/>
              <a:t>三次元形状生成(Tripo3D)</a:t>
            </a:r>
            <a:endParaRPr b="0" i="0" sz="3000" u="none" cap="none" strike="noStrike">
              <a:solidFill>
                <a:srgbClr val="000000"/>
              </a:solidFill>
              <a:latin typeface="Arial"/>
              <a:ea typeface="Arial"/>
              <a:cs typeface="Arial"/>
              <a:sym typeface="Arial"/>
            </a:endParaRPr>
          </a:p>
        </p:txBody>
      </p:sp>
      <p:sp>
        <p:nvSpPr>
          <p:cNvPr id="335" name="Google Shape;335;p42"/>
          <p:cNvSpPr txBox="1"/>
          <p:nvPr/>
        </p:nvSpPr>
        <p:spPr>
          <a:xfrm>
            <a:off x="0" y="4546925"/>
            <a:ext cx="91440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700"/>
              <a:t>⇒やること：</a:t>
            </a:r>
            <a:r>
              <a:rPr lang="ja" sz="1700"/>
              <a:t>同</a:t>
            </a:r>
            <a:r>
              <a:rPr lang="ja" sz="1700"/>
              <a:t>seed</a:t>
            </a:r>
            <a:r>
              <a:rPr lang="ja" sz="1700"/>
              <a:t>なら同じ結果になることを</a:t>
            </a:r>
            <a:r>
              <a:rPr lang="ja" sz="1700"/>
              <a:t>APIで</a:t>
            </a:r>
            <a:r>
              <a:rPr lang="ja" sz="1700"/>
              <a:t>確認</a:t>
            </a:r>
            <a:endParaRPr sz="1700"/>
          </a:p>
        </p:txBody>
      </p:sp>
      <p:pic>
        <p:nvPicPr>
          <p:cNvPr id="336" name="Google Shape;336;p42"/>
          <p:cNvPicPr preferRelativeResize="0"/>
          <p:nvPr/>
        </p:nvPicPr>
        <p:blipFill rotWithShape="1">
          <a:blip r:embed="rId3">
            <a:alphaModFix/>
          </a:blip>
          <a:srcRect b="0" l="0" r="0" t="16248"/>
          <a:stretch/>
        </p:blipFill>
        <p:spPr>
          <a:xfrm>
            <a:off x="505225" y="1689750"/>
            <a:ext cx="8133524" cy="2188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3"/>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M3:</a:t>
            </a:r>
            <a:r>
              <a:rPr lang="ja" sz="3000"/>
              <a:t>関節検出とリンク分割</a:t>
            </a:r>
            <a:endParaRPr b="0" i="0" sz="3000" u="none" cap="none" strike="noStrike">
              <a:solidFill>
                <a:srgbClr val="000000"/>
              </a:solidFill>
              <a:latin typeface="Arial"/>
              <a:ea typeface="Arial"/>
              <a:cs typeface="Arial"/>
              <a:sym typeface="Arial"/>
            </a:endParaRPr>
          </a:p>
        </p:txBody>
      </p:sp>
      <p:sp>
        <p:nvSpPr>
          <p:cNvPr id="342" name="Google Shape;342;p43"/>
          <p:cNvSpPr txBox="1"/>
          <p:nvPr/>
        </p:nvSpPr>
        <p:spPr>
          <a:xfrm>
            <a:off x="111825" y="3628900"/>
            <a:ext cx="9032100" cy="141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700"/>
              <a:t>⇒やること：</a:t>
            </a:r>
            <a:r>
              <a:rPr lang="ja" sz="1700"/>
              <a:t>決め打ちのお辞儀型アーム専用のアルゴリズムであるので改良していきたい。</a:t>
            </a:r>
            <a:br>
              <a:rPr lang="ja" sz="1700"/>
            </a:br>
            <a:r>
              <a:rPr lang="ja" sz="1700"/>
              <a:t>第２段階は主成分平面の法線から自動推定(????)、</a:t>
            </a:r>
            <a:br>
              <a:rPr lang="ja" sz="1700"/>
            </a:br>
            <a:r>
              <a:rPr lang="ja" sz="1700"/>
              <a:t>第３段階目が軸そのものを最適化対象に入れること。</a:t>
            </a:r>
            <a:br>
              <a:rPr lang="ja" sz="1700"/>
            </a:br>
            <a:r>
              <a:rPr lang="ja" sz="1700"/>
              <a:t>原論文にコードはあるが、原論文でも未検証。</a:t>
            </a:r>
            <a:r>
              <a:rPr lang="ja" sz="1500">
                <a:solidFill>
                  <a:srgbClr val="181818"/>
                </a:solidFill>
              </a:rPr>
              <a:t>(おそらくスコープ外になると思うが...)</a:t>
            </a:r>
            <a:endParaRPr sz="1500">
              <a:solidFill>
                <a:srgbClr val="181818"/>
              </a:solidFill>
            </a:endParaRPr>
          </a:p>
          <a:p>
            <a:pPr indent="0" lvl="0" marL="0" rtl="0" algn="ctr">
              <a:spcBef>
                <a:spcPts val="0"/>
              </a:spcBef>
              <a:spcAft>
                <a:spcPts val="0"/>
              </a:spcAft>
              <a:buNone/>
            </a:pPr>
            <a:r>
              <a:t/>
            </a:r>
            <a:endParaRPr sz="1700"/>
          </a:p>
        </p:txBody>
      </p:sp>
      <p:pic>
        <p:nvPicPr>
          <p:cNvPr id="343" name="Google Shape;343;p43"/>
          <p:cNvPicPr preferRelativeResize="0"/>
          <p:nvPr/>
        </p:nvPicPr>
        <p:blipFill>
          <a:blip r:embed="rId3">
            <a:alphaModFix/>
          </a:blip>
          <a:stretch>
            <a:fillRect/>
          </a:stretch>
        </p:blipFill>
        <p:spPr>
          <a:xfrm>
            <a:off x="693600" y="939150"/>
            <a:ext cx="7756800" cy="25868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4"/>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M4:</a:t>
            </a:r>
            <a:r>
              <a:rPr lang="ja" sz="3000"/>
              <a:t>形態パラメータ抽出（OBB）</a:t>
            </a:r>
            <a:endParaRPr b="0" i="0" sz="3000" u="none" cap="none" strike="noStrike">
              <a:solidFill>
                <a:srgbClr val="000000"/>
              </a:solidFill>
              <a:latin typeface="Arial"/>
              <a:ea typeface="Arial"/>
              <a:cs typeface="Arial"/>
              <a:sym typeface="Arial"/>
            </a:endParaRPr>
          </a:p>
        </p:txBody>
      </p:sp>
      <p:sp>
        <p:nvSpPr>
          <p:cNvPr id="349" name="Google Shape;349;p44"/>
          <p:cNvSpPr txBox="1"/>
          <p:nvPr/>
        </p:nvSpPr>
        <p:spPr>
          <a:xfrm>
            <a:off x="0" y="4546925"/>
            <a:ext cx="91440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700"/>
              <a:t>⇒やること：</a:t>
            </a:r>
            <a:endParaRPr sz="1700"/>
          </a:p>
        </p:txBody>
      </p:sp>
      <p:sp>
        <p:nvSpPr>
          <p:cNvPr id="350" name="Google Shape;350;p44"/>
          <p:cNvSpPr txBox="1"/>
          <p:nvPr/>
        </p:nvSpPr>
        <p:spPr>
          <a:xfrm>
            <a:off x="0" y="704300"/>
            <a:ext cx="91440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800"/>
              <a:t>やってること：3D形状から各パーツの長さと太さを取り出すだけ</a:t>
            </a:r>
            <a:endParaRPr sz="1900"/>
          </a:p>
        </p:txBody>
      </p:sp>
      <p:pic>
        <p:nvPicPr>
          <p:cNvPr id="351" name="Google Shape;351;p44"/>
          <p:cNvPicPr preferRelativeResize="0"/>
          <p:nvPr/>
        </p:nvPicPr>
        <p:blipFill>
          <a:blip r:embed="rId3">
            <a:alphaModFix/>
          </a:blip>
          <a:stretch>
            <a:fillRect/>
          </a:stretch>
        </p:blipFill>
        <p:spPr>
          <a:xfrm>
            <a:off x="1595301" y="1245475"/>
            <a:ext cx="5953388" cy="32615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5"/>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M5:</a:t>
            </a:r>
            <a:r>
              <a:rPr lang="ja" sz="3000"/>
              <a:t>シミュレーションモデル生成</a:t>
            </a:r>
            <a:endParaRPr b="0" i="0" sz="3000" u="none" cap="none" strike="noStrike">
              <a:solidFill>
                <a:srgbClr val="000000"/>
              </a:solidFill>
              <a:latin typeface="Arial"/>
              <a:ea typeface="Arial"/>
              <a:cs typeface="Arial"/>
              <a:sym typeface="Arial"/>
            </a:endParaRPr>
          </a:p>
        </p:txBody>
      </p:sp>
      <p:sp>
        <p:nvSpPr>
          <p:cNvPr id="357" name="Google Shape;357;p45"/>
          <p:cNvSpPr txBox="1"/>
          <p:nvPr/>
        </p:nvSpPr>
        <p:spPr>
          <a:xfrm>
            <a:off x="0" y="4546925"/>
            <a:ext cx="91440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700"/>
              <a:t>⇒やること：</a:t>
            </a:r>
            <a:r>
              <a:rPr lang="ja" sz="1700"/>
              <a:t>特になし</a:t>
            </a:r>
            <a:endParaRPr sz="1700"/>
          </a:p>
        </p:txBody>
      </p:sp>
      <p:pic>
        <p:nvPicPr>
          <p:cNvPr id="358" name="Google Shape;358;p45"/>
          <p:cNvPicPr preferRelativeResize="0"/>
          <p:nvPr/>
        </p:nvPicPr>
        <p:blipFill rotWithShape="1">
          <a:blip r:embed="rId3">
            <a:alphaModFix/>
          </a:blip>
          <a:srcRect b="0" l="0" r="0" t="17362"/>
          <a:stretch/>
        </p:blipFill>
        <p:spPr>
          <a:xfrm>
            <a:off x="152400" y="1281224"/>
            <a:ext cx="8839198" cy="2020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6"/>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M6:Stackelberg PPO</a:t>
            </a:r>
            <a:r>
              <a:rPr lang="ja" sz="3000"/>
              <a:t>による評価・判定</a:t>
            </a:r>
            <a:endParaRPr b="0" i="0" sz="3000" u="none" cap="none" strike="noStrike">
              <a:solidFill>
                <a:srgbClr val="000000"/>
              </a:solidFill>
              <a:latin typeface="Arial"/>
              <a:ea typeface="Arial"/>
              <a:cs typeface="Arial"/>
              <a:sym typeface="Arial"/>
            </a:endParaRPr>
          </a:p>
        </p:txBody>
      </p:sp>
      <p:sp>
        <p:nvSpPr>
          <p:cNvPr id="364" name="Google Shape;364;p46"/>
          <p:cNvSpPr txBox="1"/>
          <p:nvPr/>
        </p:nvSpPr>
        <p:spPr>
          <a:xfrm>
            <a:off x="0" y="4546925"/>
            <a:ext cx="9144000" cy="5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700"/>
              <a:t>⇒やること：</a:t>
            </a:r>
            <a:r>
              <a:rPr lang="ja" sz="1700"/>
              <a:t>特になし。</a:t>
            </a:r>
            <a:r>
              <a:rPr lang="ja" sz="1500">
                <a:solidFill>
                  <a:srgbClr val="666666"/>
                </a:solidFill>
              </a:rPr>
              <a:t>(縦型の順位付けを証明するにはちょっと学習が増えすぎるため)</a:t>
            </a:r>
            <a:endParaRPr sz="1500">
              <a:solidFill>
                <a:srgbClr val="666666"/>
              </a:solidFill>
            </a:endParaRPr>
          </a:p>
        </p:txBody>
      </p:sp>
      <p:pic>
        <p:nvPicPr>
          <p:cNvPr id="365" name="Google Shape;365;p46"/>
          <p:cNvPicPr preferRelativeResize="0"/>
          <p:nvPr/>
        </p:nvPicPr>
        <p:blipFill>
          <a:blip r:embed="rId3">
            <a:alphaModFix/>
          </a:blip>
          <a:stretch>
            <a:fillRect/>
          </a:stretch>
        </p:blipFill>
        <p:spPr>
          <a:xfrm>
            <a:off x="152400" y="1246635"/>
            <a:ext cx="8839199" cy="247058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7"/>
          <p:cNvSpPr txBox="1"/>
          <p:nvPr>
            <p:ph idx="4294967295" type="title"/>
          </p:nvPr>
        </p:nvSpPr>
        <p:spPr>
          <a:xfrm>
            <a:off x="468180" y="33210"/>
            <a:ext cx="7272000" cy="671100"/>
          </a:xfrm>
          <a:prstGeom prst="rect">
            <a:avLst/>
          </a:prstGeom>
          <a:noFill/>
          <a:ln>
            <a:noFill/>
          </a:ln>
        </p:spPr>
        <p:txBody>
          <a:bodyPr anchorCtr="0" anchor="ctr" bIns="34275" lIns="68575" spcFirstLastPara="1" rIns="68575" wrap="square" tIns="34275">
            <a:normAutofit/>
          </a:bodyPr>
          <a:lstStyle/>
          <a:p>
            <a:pPr indent="0" lvl="0" marL="0" marR="0" rtl="0" algn="l">
              <a:lnSpc>
                <a:spcPct val="90000"/>
              </a:lnSpc>
              <a:spcBef>
                <a:spcPts val="0"/>
              </a:spcBef>
              <a:spcAft>
                <a:spcPts val="0"/>
              </a:spcAft>
              <a:buClr>
                <a:srgbClr val="000000"/>
              </a:buClr>
              <a:buSzPts val="3000"/>
              <a:buFont typeface="Arial"/>
              <a:buNone/>
            </a:pPr>
            <a:r>
              <a:rPr lang="ja" sz="3000"/>
              <a:t>補助資料</a:t>
            </a:r>
            <a:endParaRPr b="0" i="0" sz="3000" u="none" cap="none" strike="noStrike">
              <a:solidFill>
                <a:srgbClr val="000000"/>
              </a:solidFill>
              <a:latin typeface="Arial"/>
              <a:ea typeface="Arial"/>
              <a:cs typeface="Arial"/>
              <a:sym typeface="Arial"/>
            </a:endParaRPr>
          </a:p>
        </p:txBody>
      </p:sp>
      <p:sp>
        <p:nvSpPr>
          <p:cNvPr id="371" name="Google Shape;371;p47"/>
          <p:cNvSpPr txBox="1"/>
          <p:nvPr>
            <p:ph idx="12" type="sldNum"/>
          </p:nvPr>
        </p:nvSpPr>
        <p:spPr>
          <a:xfrm>
            <a:off x="8532810" y="4917240"/>
            <a:ext cx="536400" cy="176100"/>
          </a:xfrm>
          <a:prstGeom prst="rect">
            <a:avLst/>
          </a:prstGeom>
          <a:noFill/>
          <a:ln>
            <a:noFill/>
          </a:ln>
        </p:spPr>
        <p:txBody>
          <a:bodyPr anchorCtr="0" anchor="t" bIns="34275" lIns="68575" spcFirstLastPara="1" rIns="68575" wrap="square" tIns="34275">
            <a:noAutofit/>
          </a:bodyPr>
          <a:lstStyle/>
          <a:p>
            <a:pPr indent="0" lvl="0" marL="0" rtl="0" algn="r">
              <a:lnSpc>
                <a:spcPct val="100000"/>
              </a:lnSpc>
              <a:spcBef>
                <a:spcPts val="0"/>
              </a:spcBef>
              <a:spcAft>
                <a:spcPts val="0"/>
              </a:spcAft>
              <a:buClr>
                <a:srgbClr val="000000"/>
              </a:buClr>
              <a:buSzPts val="800"/>
              <a:buFont typeface="Arial"/>
              <a:buNone/>
            </a:pPr>
            <a:fld id="{00000000-1234-1234-1234-123412341234}" type="slidenum">
              <a:rPr lang="ja"/>
              <a:t>‹#›</a:t>
            </a:fld>
            <a:endParaRPr/>
          </a:p>
        </p:txBody>
      </p:sp>
      <p:sp>
        <p:nvSpPr>
          <p:cNvPr id="372" name="Google Shape;372;p47"/>
          <p:cNvSpPr txBox="1"/>
          <p:nvPr/>
        </p:nvSpPr>
        <p:spPr>
          <a:xfrm>
            <a:off x="1660525" y="1270950"/>
            <a:ext cx="4887300" cy="130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a:t>これからスライドを作っていく上で説明が足りないと思ったところを色々用意する</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