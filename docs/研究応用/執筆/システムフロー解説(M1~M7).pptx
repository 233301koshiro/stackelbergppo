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78fe0b7a829e5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78fe0b7a829e5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678fe0b7a829e5b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678fe0b7a829e5b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フェーズごとに灰色の大枠を分けたい感はあるよね</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411edbbbcdea00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411edbbbcdea00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411edbbbcdea00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411edbbbcdea00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411edbbbcdea00d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411edbbbcdea00d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411edbbbcdea00d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411edbbbcdea00d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glb</a:t>
            </a:r>
            <a:r>
              <a:rPr lang="ja"/>
              <a:t>ファイルとは3D界隈のjpegぐらいの標準形式</a:t>
            </a:r>
            <a:br>
              <a:rPr lang="ja"/>
            </a:br>
            <a:r>
              <a:rPr lang="ja">
                <a:solidFill>
                  <a:schemeClr val="dk1"/>
                </a:solidFill>
              </a:rPr>
              <a:t>STLファイルが「表面の三角形の座標だけ」を持っていたのに対し、GLBファイルは</a:t>
            </a:r>
            <a:r>
              <a:rPr b="1" lang="ja">
                <a:solidFill>
                  <a:schemeClr val="dk1"/>
                </a:solidFill>
              </a:rPr>
              <a:t>1つのファイルの中に3D表示に必要なすべての情報</a:t>
            </a:r>
            <a:r>
              <a:rPr lang="ja">
                <a:solidFill>
                  <a:schemeClr val="dk1"/>
                </a:solidFill>
              </a:rPr>
              <a:t>を含めることができます。</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ja">
                <a:solidFill>
                  <a:schemeClr val="dk1"/>
                </a:solidFill>
              </a:rPr>
              <a:t>形状データ（メッシュ・頂点座標・法線）</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ja">
                <a:solidFill>
                  <a:schemeClr val="dk1"/>
                </a:solidFill>
              </a:rPr>
              <a:t>見た目の質感（マテリアル・PBR）</a:t>
            </a:r>
            <a:r>
              <a:rPr lang="ja">
                <a:solidFill>
                  <a:schemeClr val="dk1"/>
                </a:solidFill>
              </a:rPr>
              <a:t>：金属感（Roughness/Metallic）や透明度など</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ja">
                <a:solidFill>
                  <a:schemeClr val="dk1"/>
                </a:solidFill>
              </a:rPr>
              <a:t>テクスチャ画像（PNG / JPEG）</a:t>
            </a:r>
            <a:r>
              <a:rPr lang="ja">
                <a:solidFill>
                  <a:schemeClr val="dk1"/>
                </a:solidFill>
              </a:rPr>
              <a:t>：色や表面の細かい凹凸画像データが内部に組み込まれている</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ja">
                <a:solidFill>
                  <a:schemeClr val="dk1"/>
                </a:solidFill>
              </a:rPr>
              <a:t>骨格・アニメーション（スケルトン・キーフレーム）</a:t>
            </a:r>
            <a:r>
              <a:rPr lang="ja">
                <a:solidFill>
                  <a:schemeClr val="dk1"/>
                </a:solidFill>
              </a:rPr>
              <a:t>：キャラクターの動きなど</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ja">
                <a:solidFill>
                  <a:schemeClr val="dk1"/>
                </a:solidFill>
              </a:rPr>
              <a:t>シーングラフ構造</a:t>
            </a:r>
            <a:r>
              <a:rPr lang="ja">
                <a:solidFill>
                  <a:schemeClr val="dk1"/>
                </a:solidFill>
              </a:rPr>
              <a:t>：複数パーツの位置関係・親子関係</a:t>
            </a:r>
            <a:endParaRPr>
              <a:solidFill>
                <a:schemeClr val="dk1"/>
              </a:solidFill>
            </a:endParaRPr>
          </a:p>
          <a:p>
            <a:pPr indent="0" lvl="0" marL="0" rtl="0" algn="l">
              <a:spcBef>
                <a:spcPts val="1200"/>
              </a:spcBef>
              <a:spcAft>
                <a:spcPts val="0"/>
              </a:spcAft>
              <a:buNone/>
            </a:pPr>
            <a:br>
              <a:rPr lang="ja"/>
            </a:b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411edbbbcdea00d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411edbbbcdea00d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411edbbbcdea00d4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411edbbbcdea00d4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CCCCCC"/>
              </a:buClr>
              <a:buSzPts val="1000"/>
              <a:buChar char="●"/>
            </a:pPr>
            <a:r>
              <a:rPr lang="ja" sz="1000">
                <a:solidFill>
                  <a:srgbClr val="CCCCCC"/>
                </a:solidFill>
                <a:highlight>
                  <a:srgbClr val="181818"/>
                </a:highlight>
              </a:rPr>
              <a:t>3D の高さ方向の広がりは A1 が 1.00 m、A3 が 0.49 m で、A3 は腕が寝ているのが一目で分かります。</a:t>
            </a:r>
            <a:endParaRPr sz="1000">
              <a:solidFill>
                <a:srgbClr val="CCCCCC"/>
              </a:solidFill>
              <a:highlight>
                <a:srgbClr val="181818"/>
              </a:highlight>
            </a:endParaRPr>
          </a:p>
          <a:p>
            <a:pPr indent="0" lvl="0" marL="0" rtl="0" algn="l">
              <a:spcBef>
                <a:spcPts val="10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411edbbbcdea00d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411edbbbcdea00d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CCCCCC"/>
              </a:buClr>
              <a:buSzPts val="1000"/>
              <a:buChar char="●"/>
            </a:pPr>
            <a:r>
              <a:rPr lang="ja" sz="900">
                <a:solidFill>
                  <a:srgbClr val="D0D0D0"/>
                </a:solidFill>
                <a:highlight>
                  <a:srgbClr val="3C3C3C"/>
                </a:highlight>
                <a:latin typeface="Courier New"/>
                <a:ea typeface="Courier New"/>
                <a:cs typeface="Courier New"/>
                <a:sym typeface="Courier New"/>
              </a:rPr>
              <a:t>data/test/A3</a:t>
            </a:r>
            <a:r>
              <a:rPr lang="ja" sz="1000">
                <a:solidFill>
                  <a:srgbClr val="CCCCCC"/>
                </a:solidFill>
                <a:highlight>
                  <a:srgbClr val="181818"/>
                </a:highlight>
              </a:rPr>
              <a:t> です。</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手描き: </a:t>
            </a:r>
            <a:r>
              <a:rPr lang="ja" sz="900">
                <a:solidFill>
                  <a:srgbClr val="D0D0D0"/>
                </a:solidFill>
                <a:highlight>
                  <a:srgbClr val="3C3C3C"/>
                </a:highlight>
                <a:latin typeface="Courier New"/>
                <a:ea typeface="Courier New"/>
                <a:cs typeface="Courier New"/>
                <a:sym typeface="Courier New"/>
              </a:rPr>
              <a:t>sketch/A3_hand.webp</a:t>
            </a:r>
            <a:endParaRPr sz="900">
              <a:solidFill>
                <a:srgbClr val="D0D0D0"/>
              </a:solidFill>
              <a:highlight>
                <a:srgbClr val="3C3C3C"/>
              </a:highlight>
              <a:latin typeface="Courier New"/>
              <a:ea typeface="Courier New"/>
              <a:cs typeface="Courier New"/>
              <a:sym typeface="Courier New"/>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Gemini の出力: </a:t>
            </a:r>
            <a:r>
              <a:rPr lang="ja" sz="900">
                <a:solidFill>
                  <a:srgbClr val="D0D0D0"/>
                </a:solidFill>
                <a:highlight>
                  <a:srgbClr val="3C3C3C"/>
                </a:highlight>
                <a:latin typeface="Courier New"/>
                <a:ea typeface="Courier New"/>
                <a:cs typeface="Courier New"/>
                <a:sym typeface="Courier New"/>
              </a:rPr>
              <a:t>sketch/A3_m1.jpeg</a:t>
            </a:r>
            <a:endParaRPr sz="900">
              <a:solidFill>
                <a:srgbClr val="D0D0D0"/>
              </a:solidFill>
              <a:highlight>
                <a:srgbClr val="3C3C3C"/>
              </a:highlight>
              <a:latin typeface="Courier New"/>
              <a:ea typeface="Courier New"/>
              <a:cs typeface="Courier New"/>
              <a:sym typeface="Courier New"/>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3D: </a:t>
            </a:r>
            <a:r>
              <a:rPr lang="ja" sz="900">
                <a:solidFill>
                  <a:srgbClr val="D0D0D0"/>
                </a:solidFill>
                <a:highlight>
                  <a:srgbClr val="3C3C3C"/>
                </a:highlight>
                <a:latin typeface="Courier New"/>
                <a:ea typeface="Courier New"/>
                <a:cs typeface="Courier New"/>
                <a:sym typeface="Courier New"/>
              </a:rPr>
              <a:t>3D/A3.glb</a:t>
            </a:r>
            <a:r>
              <a:rPr lang="ja" sz="1000">
                <a:solidFill>
                  <a:srgbClr val="CCCCCC"/>
                </a:solidFill>
                <a:highlight>
                  <a:srgbClr val="181818"/>
                </a:highlight>
              </a:rPr>
              <a:t> と </a:t>
            </a:r>
            <a:r>
              <a:rPr lang="ja" sz="900">
                <a:solidFill>
                  <a:srgbClr val="D0D0D0"/>
                </a:solidFill>
                <a:highlight>
                  <a:srgbClr val="3C3C3C"/>
                </a:highlight>
                <a:latin typeface="Courier New"/>
                <a:ea typeface="Courier New"/>
                <a:cs typeface="Courier New"/>
                <a:sym typeface="Courier New"/>
              </a:rPr>
              <a:t>A3_2.glb</a:t>
            </a:r>
            <a:r>
              <a:rPr lang="ja" sz="1000">
                <a:solidFill>
                  <a:srgbClr val="CCCCCC"/>
                </a:solidFill>
                <a:highlight>
                  <a:srgbClr val="181818"/>
                </a:highlight>
              </a:rPr>
              <a:t>。この 2 回が「0/2」です。</a:t>
            </a:r>
            <a:endParaRPr sz="1000">
              <a:solidFill>
                <a:srgbClr val="CCCCCC"/>
              </a:solidFill>
              <a:highlight>
                <a:srgbClr val="181818"/>
              </a:highlight>
            </a:endParaRPr>
          </a:p>
          <a:p>
            <a:pPr indent="0" lvl="0" marL="0" rtl="0" algn="l">
              <a:spcBef>
                <a:spcPts val="10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411edbbbcdea00d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411edbbbcdea00d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stl</a:t>
            </a:r>
            <a:r>
              <a:rPr lang="ja"/>
              <a:t>ファイルには</a:t>
            </a:r>
            <a:r>
              <a:rPr lang="ja" sz="1300">
                <a:solidFill>
                  <a:srgbClr val="1F1F1F"/>
                </a:solidFill>
                <a:highlight>
                  <a:srgbClr val="F2F0F0"/>
                </a:highlight>
              </a:rPr>
              <a:t>三角形をした各ポリゴンの三次元座標が入っている</a:t>
            </a:r>
            <a:br>
              <a:rPr lang="ja" sz="1300">
                <a:solidFill>
                  <a:srgbClr val="1F1F1F"/>
                </a:solidFill>
                <a:highlight>
                  <a:srgbClr val="F2F0F0"/>
                </a:highlight>
              </a:rPr>
            </a:br>
            <a:r>
              <a:rPr lang="ja" sz="1300">
                <a:solidFill>
                  <a:srgbClr val="1F1F1F"/>
                </a:solidFill>
                <a:highlight>
                  <a:srgbClr val="F2F0F0"/>
                </a:highlight>
              </a:rPr>
              <a:t>関節の中心座標はマゼンタの重心によって求めている</a:t>
            </a:r>
            <a:br>
              <a:rPr lang="ja" sz="1300">
                <a:solidFill>
                  <a:srgbClr val="1F1F1F"/>
                </a:solidFill>
                <a:highlight>
                  <a:srgbClr val="F2F0F0"/>
                </a:highlight>
              </a:rPr>
            </a:b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411edbbbcdea00d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411edbbbcdea00d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411edbbbcdea00d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411edbbbcdea00d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411edbbbcdea00d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411edbbbcdea00d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411edbbbcdea00d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411edbbbcdea00d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CCCCCC"/>
              </a:buClr>
              <a:buSzPts val="1000"/>
              <a:buChar char="●"/>
            </a:pPr>
            <a:r>
              <a:rPr lang="ja" sz="1000">
                <a:solidFill>
                  <a:srgbClr val="CCCCCC"/>
                </a:solidFill>
                <a:highlight>
                  <a:srgbClr val="181818"/>
                </a:highlight>
              </a:rPr>
              <a:t>topology.json はテキストの JSON で、リンクごとに次の 1 項目を持ちます。</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名前・親リンク</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関節（種類・軸・可動域）</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骨の長さ（</a:t>
            </a:r>
            <a:r>
              <a:rPr lang="ja" sz="900">
                <a:solidFill>
                  <a:srgbClr val="D0D0D0"/>
                </a:solidFill>
                <a:highlight>
                  <a:srgbClr val="3C3C3C"/>
                </a:highlight>
                <a:latin typeface="Courier New"/>
                <a:ea typeface="Courier New"/>
                <a:cs typeface="Courier New"/>
                <a:sym typeface="Courier New"/>
              </a:rPr>
              <a:t>bone_offset</a:t>
            </a:r>
            <a:r>
              <a:rPr lang="ja" sz="1000">
                <a:solidFill>
                  <a:srgbClr val="CCCCCC"/>
                </a:solidFill>
                <a:highlight>
                  <a:srgbClr val="181818"/>
                </a:highlight>
              </a:rPr>
              <a:t>）</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カプセルの半径（</a:t>
            </a:r>
            <a:r>
              <a:rPr lang="ja" sz="900">
                <a:solidFill>
                  <a:srgbClr val="D0D0D0"/>
                </a:solidFill>
                <a:highlight>
                  <a:srgbClr val="3C3C3C"/>
                </a:highlight>
                <a:latin typeface="Courier New"/>
                <a:ea typeface="Courier New"/>
                <a:cs typeface="Courier New"/>
                <a:sym typeface="Courier New"/>
              </a:rPr>
              <a:t>size</a:t>
            </a:r>
            <a:r>
              <a:rPr lang="ja" sz="1000">
                <a:solidFill>
                  <a:srgbClr val="CCCCCC"/>
                </a:solidFill>
                <a:highlight>
                  <a:srgbClr val="181818"/>
                </a:highlight>
              </a:rPr>
              <a:t>）</a:t>
            </a:r>
            <a:endParaRPr sz="1000">
              <a:solidFill>
                <a:srgbClr val="CCCCCC"/>
              </a:solidFill>
              <a:highlight>
                <a:srgbClr val="181818"/>
              </a:highlight>
            </a:endParaRPr>
          </a:p>
          <a:p>
            <a:pPr indent="-292100" lvl="1" marL="9144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ギア比</a:t>
            </a:r>
            <a:endParaRPr sz="1000">
              <a:solidFill>
                <a:srgbClr val="CCCCCC"/>
              </a:solidFill>
              <a:highlight>
                <a:srgbClr val="181818"/>
              </a:highlight>
            </a:endParaRPr>
          </a:p>
          <a:p>
            <a:pPr indent="0" lvl="0" marL="0" rtl="0" algn="l">
              <a:spcBef>
                <a:spcPts val="1000"/>
              </a:spcBef>
              <a:spcAft>
                <a:spcPts val="0"/>
              </a:spcAft>
              <a:buNone/>
            </a:pPr>
            <a:r>
              <a:rPr lang="ja"/>
              <a:t>{"name": "upper_arm", "parent": "base",</a:t>
            </a:r>
            <a:endParaRPr/>
          </a:p>
          <a:p>
            <a:pPr indent="0" lvl="0" marL="0" rtl="0" algn="l">
              <a:spcBef>
                <a:spcPts val="0"/>
              </a:spcBef>
              <a:spcAft>
                <a:spcPts val="0"/>
              </a:spcAft>
              <a:buNone/>
            </a:pPr>
            <a:r>
              <a:rPr lang="ja"/>
              <a:t> "joint": {"type": "hinge", "axis": [0,1,0], "range": [-90,90]},</a:t>
            </a:r>
            <a:endParaRPr/>
          </a:p>
          <a:p>
            <a:pPr indent="0" lvl="0" marL="0" rtl="0" algn="l">
              <a:spcBef>
                <a:spcPts val="0"/>
              </a:spcBef>
              <a:spcAft>
                <a:spcPts val="0"/>
              </a:spcAft>
              <a:buNone/>
            </a:pPr>
            <a:r>
              <a:rPr lang="ja"/>
              <a:t> "bone_offset": [0,0,0.4031], "geom": {"type": "capsule", "size": 0.0516},</a:t>
            </a:r>
            <a:endParaRPr/>
          </a:p>
          <a:p>
            <a:pPr indent="0" lvl="0" marL="0" rtl="0" algn="l">
              <a:spcBef>
                <a:spcPts val="0"/>
              </a:spcBef>
              <a:spcAft>
                <a:spcPts val="0"/>
              </a:spcAft>
              <a:buNone/>
            </a:pPr>
            <a:r>
              <a:rPr lang="ja"/>
              <a:t> "actuator": {"gear": 100.0}}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411edbbbcdea00d4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411edbbbcdea00d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411edbbbcdea00d4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411edbbbcdea00d4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solidFill>
                  <a:schemeClr val="dk1"/>
                </a:solidFill>
              </a:rPr>
              <a:t>この画像は同じくA1に対して行ったもの</a:t>
            </a:r>
            <a:br>
              <a:rPr lang="ja">
                <a:solidFill>
                  <a:schemeClr val="dk1"/>
                </a:solidFill>
              </a:rPr>
            </a:br>
            <a:r>
              <a:rPr lang="ja">
                <a:solidFill>
                  <a:schemeClr val="dk1"/>
                </a:solidFill>
              </a:rPr>
              <a:t>先程のスライドの画像には前腕の下端は斜めに切られているが、このスライドの切られ方だと、下端がきれいな半円なのが謎。</a:t>
            </a:r>
            <a:br>
              <a:rPr lang="ja">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おそらくカプセル形状の黒線が近似した形、黒色はメッシュの頂点が近似した形から漏れてしまった実際の形状。ピンクの三角が関節座標</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411edbbbcdea00d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h411edbbbcdea00d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411edbbbcdea00d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h411edbbbcdea00d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ここの変換するってのは読み込むときにchorenoidがbodyにするってこと。</a:t>
            </a:r>
            <a:br>
              <a:rPr lang="ja"/>
            </a:b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411edbbbcdea00d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411edbbbcdea00d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CCCCCC"/>
              </a:buClr>
              <a:buSzPts val="1000"/>
              <a:buChar char="●"/>
            </a:pPr>
            <a:r>
              <a:rPr lang="ja" sz="1000">
                <a:solidFill>
                  <a:srgbClr val="CCCCCC"/>
                </a:solidFill>
                <a:highlight>
                  <a:srgbClr val="181818"/>
                </a:highlight>
              </a:rPr>
              <a:t>XML で、子リンクの </a:t>
            </a:r>
            <a:r>
              <a:rPr lang="ja" sz="900">
                <a:solidFill>
                  <a:srgbClr val="D0D0D0"/>
                </a:solidFill>
                <a:highlight>
                  <a:srgbClr val="3C3C3C"/>
                </a:highlight>
                <a:latin typeface="Courier New"/>
                <a:ea typeface="Courier New"/>
                <a:cs typeface="Courier New"/>
                <a:sym typeface="Courier New"/>
              </a:rPr>
              <a:t>&lt;body&gt;</a:t>
            </a:r>
            <a:r>
              <a:rPr lang="ja" sz="1000">
                <a:solidFill>
                  <a:srgbClr val="CCCCCC"/>
                </a:solidFill>
                <a:highlight>
                  <a:srgbClr val="181818"/>
                </a:highlight>
              </a:rPr>
              <a:t> を親リンクの </a:t>
            </a:r>
            <a:r>
              <a:rPr lang="ja" sz="900">
                <a:solidFill>
                  <a:srgbClr val="D0D0D0"/>
                </a:solidFill>
                <a:highlight>
                  <a:srgbClr val="3C3C3C"/>
                </a:highlight>
                <a:latin typeface="Courier New"/>
                <a:ea typeface="Courier New"/>
                <a:cs typeface="Courier New"/>
                <a:sym typeface="Courier New"/>
              </a:rPr>
              <a:t>&lt;body&gt;</a:t>
            </a:r>
            <a:r>
              <a:rPr lang="ja" sz="1000">
                <a:solidFill>
                  <a:srgbClr val="CCCCCC"/>
                </a:solidFill>
                <a:highlight>
                  <a:srgbClr val="181818"/>
                </a:highlight>
              </a:rPr>
              <a:t> の中に入れ子にします。そのうえで、子の位置 </a:t>
            </a:r>
            <a:r>
              <a:rPr lang="ja" sz="900">
                <a:solidFill>
                  <a:srgbClr val="D0D0D0"/>
                </a:solidFill>
                <a:highlight>
                  <a:srgbClr val="3C3C3C"/>
                </a:highlight>
                <a:latin typeface="Courier New"/>
                <a:ea typeface="Courier New"/>
                <a:cs typeface="Courier New"/>
                <a:sym typeface="Courier New"/>
              </a:rPr>
              <a:t>pos</a:t>
            </a:r>
            <a:r>
              <a:rPr lang="ja" sz="1000">
                <a:solidFill>
                  <a:srgbClr val="CCCCCC"/>
                </a:solidFill>
                <a:highlight>
                  <a:srgbClr val="181818"/>
                </a:highlight>
              </a:rPr>
              <a:t> を「親の骨の長さ」（例 </a:t>
            </a:r>
            <a:r>
              <a:rPr lang="ja" sz="900">
                <a:solidFill>
                  <a:srgbClr val="D0D0D0"/>
                </a:solidFill>
                <a:highlight>
                  <a:srgbClr val="3C3C3C"/>
                </a:highlight>
                <a:latin typeface="Courier New"/>
                <a:ea typeface="Courier New"/>
                <a:cs typeface="Courier New"/>
                <a:sym typeface="Courier New"/>
              </a:rPr>
              <a:t>0 0 0.2195</a:t>
            </a:r>
            <a:r>
              <a:rPr lang="ja" sz="1000">
                <a:solidFill>
                  <a:srgbClr val="CCCCCC"/>
                </a:solidFill>
                <a:highlight>
                  <a:srgbClr val="181818"/>
                </a:highlight>
              </a:rPr>
              <a:t>）にします。</a:t>
            </a:r>
            <a:endParaRPr sz="1000">
              <a:solidFill>
                <a:srgbClr val="CCCCCC"/>
              </a:solidFill>
              <a:highlight>
                <a:srgbClr val="181818"/>
              </a:highlight>
            </a:endParaRPr>
          </a:p>
          <a:p>
            <a:pPr indent="-292100" lvl="0" marL="4572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子の関節は子の原点にあるので、結果として関節が親の先端に来ます（図 </a:t>
            </a:r>
            <a:r>
              <a:rPr lang="ja" sz="900">
                <a:solidFill>
                  <a:srgbClr val="D0D0D0"/>
                </a:solidFill>
                <a:highlight>
                  <a:srgbClr val="3C3C3C"/>
                </a:highlight>
                <a:latin typeface="Courier New"/>
                <a:ea typeface="Courier New"/>
                <a:cs typeface="Courier New"/>
                <a:sym typeface="Courier New"/>
              </a:rPr>
              <a:t>pipeline_m5.png</a:t>
            </a:r>
            <a:r>
              <a:rPr lang="ja" sz="1000">
                <a:solidFill>
                  <a:srgbClr val="CCCCCC"/>
                </a:solidFill>
                <a:highlight>
                  <a:srgbClr val="181818"/>
                </a:highlight>
              </a:rPr>
              <a:t> の右側）。</a:t>
            </a:r>
            <a:endParaRPr sz="1000">
              <a:solidFill>
                <a:srgbClr val="CCCCCC"/>
              </a:solidFill>
              <a:highlight>
                <a:srgbClr val="181818"/>
              </a:highlight>
            </a:endParaRPr>
          </a:p>
          <a:p>
            <a:pPr indent="-292100" lvl="0" marL="457200" rtl="0" algn="l">
              <a:lnSpc>
                <a:spcPct val="115000"/>
              </a:lnSpc>
              <a:spcBef>
                <a:spcPts val="0"/>
              </a:spcBef>
              <a:spcAft>
                <a:spcPts val="0"/>
              </a:spcAft>
              <a:buClr>
                <a:srgbClr val="CCCCCC"/>
              </a:buClr>
              <a:buSzPts val="1000"/>
              <a:buChar char="●"/>
            </a:pPr>
            <a:r>
              <a:rPr lang="ja" sz="1000">
                <a:solidFill>
                  <a:srgbClr val="CCCCCC"/>
                </a:solidFill>
                <a:highlight>
                  <a:srgbClr val="181818"/>
                </a:highlight>
              </a:rPr>
              <a:t>初期姿勢はまっすぐ縦に積んだ形です。描いた角度は持ち込まず、長さと太さだけを使います。</a:t>
            </a:r>
            <a:endParaRPr sz="1000">
              <a:solidFill>
                <a:srgbClr val="CCCCCC"/>
              </a:solidFill>
              <a:highlight>
                <a:srgbClr val="181818"/>
              </a:highlight>
            </a:endParaRPr>
          </a:p>
          <a:p>
            <a:pPr indent="0" lvl="0" marL="0" rtl="0" algn="l">
              <a:spcBef>
                <a:spcPts val="10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h411edbbbcdea00d4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h411edbbbcdea00d4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411edbbbcdea00d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411edbbbcdea00d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なんか確認したことに当たり前だよねみたいな話もあるし、でも当たり前ができているかも確認するのが検証だし...</a:t>
            </a:r>
            <a:br>
              <a:rPr lang="ja"/>
            </a:br>
            <a:r>
              <a:rPr lang="ja"/>
              <a:t>あと、「</a:t>
            </a:r>
            <a:r>
              <a:rPr lang="ja" sz="1000">
                <a:solidFill>
                  <a:srgbClr val="CCCCCC"/>
                </a:solidFill>
                <a:highlight>
                  <a:srgbClr val="181818"/>
                </a:highlight>
              </a:rPr>
              <a:t>表示用モデルと物理モデルのずれを無くした」とかも、デモを再生するために〜の部分が抜けているせいで「？」って感じだから説明の粒度を揃えたいね</a:t>
            </a:r>
            <a:br>
              <a:rPr lang="ja" sz="1000">
                <a:solidFill>
                  <a:srgbClr val="CCCCCC"/>
                </a:solidFill>
                <a:highlight>
                  <a:srgbClr val="181818"/>
                </a:highlight>
              </a:rPr>
            </a:br>
            <a:r>
              <a:rPr lang="ja" sz="1000">
                <a:solidFill>
                  <a:srgbClr val="CCCCCC"/>
                </a:solidFill>
                <a:highlight>
                  <a:srgbClr val="181818"/>
                </a:highlight>
              </a:rPr>
              <a:t>①基本機能の検証</a:t>
            </a:r>
            <a:br>
              <a:rPr lang="ja" sz="1000">
                <a:solidFill>
                  <a:srgbClr val="CCCCCC"/>
                </a:solidFill>
                <a:highlight>
                  <a:srgbClr val="181818"/>
                </a:highlight>
              </a:rPr>
            </a:br>
            <a:r>
              <a:rPr lang="ja" sz="1000">
                <a:solidFill>
                  <a:srgbClr val="CCCCCC"/>
                </a:solidFill>
                <a:highlight>
                  <a:srgbClr val="181818"/>
                </a:highlight>
              </a:rPr>
              <a:t>②実装した発展機能の検証</a:t>
            </a:r>
            <a:br>
              <a:rPr lang="ja" sz="1000">
                <a:solidFill>
                  <a:srgbClr val="CCCCCC"/>
                </a:solidFill>
                <a:highlight>
                  <a:srgbClr val="181818"/>
                </a:highlight>
              </a:rPr>
            </a:br>
            <a:r>
              <a:rPr lang="ja" sz="1000">
                <a:solidFill>
                  <a:srgbClr val="CCCCCC"/>
                </a:solidFill>
                <a:highlight>
                  <a:srgbClr val="181818"/>
                </a:highlight>
              </a:rPr>
              <a:t>そんで論文に書くのはあくまで①だけとかね</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411edbbbcdea00d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h411edbbbcdea00d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方策と形は学習で掴むかけだからこの2つが(best.p)になるっていう認識であっている？</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411edbbbcdea00d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h411edbbbcdea00d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前のスライドの出力の部分がコア（学習曲線）・学習後の形(XML?)・方策とかいてあるならフローの最後もそれらを示すべき。</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411edbbbcdea00d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411edbbbcdea00d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これらって検証ってよりは実験でわかった傾向じゃない？</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411edbbbcdea00d4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h411edbbbcdea00d4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411edbbbcdea00d4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411edbbbcdea00d4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①切り上げ＝必要倍率が 1.9846 なら 1.99 と返す。（1.98 にすると 2 mm 足りず、助言どおり直しても再び棄却された背景があるため）</a:t>
            </a:r>
            <a:br>
              <a:rPr lang="ja"/>
            </a:br>
            <a:r>
              <a:rPr lang="ja"/>
              <a:t>①余裕なし＝「念のため +10 %」を上乗せしません。余裕を足すほど到達精度が悪くなると測れたから</a:t>
            </a:r>
            <a:br>
              <a:rPr lang="ja"/>
            </a:br>
            <a:r>
              <a:rPr lang="ja"/>
              <a:t>③の意味は「上限と下限にいるならそもそももっと良い形態と制御が探索空間の外にあるんじゃないか」という可能性があるため(reachはタスク上下限に張り付くのでその限りではない)</a:t>
            </a:r>
            <a:br>
              <a:rPr lang="ja"/>
            </a:b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411edbbbcdea00d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411edbbbcdea00d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提案された倍率に対して、余裕を(+5%,+10%)もたせるとどうなるか⇒性能が悪化したので余裕は持たせない、という実験はまじでやりたいことの道の小石を取るような実験なのであえて書かない。</a:t>
            </a:r>
            <a:br>
              <a:rPr lang="ja"/>
            </a:br>
            <a:r>
              <a:rPr lang="ja" sz="1000">
                <a:solidFill>
                  <a:srgbClr val="CCCCCC"/>
                </a:solidFill>
                <a:highlight>
                  <a:srgbClr val="181818"/>
                </a:highlight>
              </a:rPr>
              <a:t>報酬の値と距離が混ざらないように→スライドの指摘に報酬とタスクの結果である距離を一緒にしないようにとあるが、違うの？</a:t>
            </a:r>
            <a:endParaRPr sz="1000">
              <a:solidFill>
                <a:srgbClr val="CCCCCC"/>
              </a:solidFill>
              <a:highlight>
                <a:srgbClr val="181818"/>
              </a:highlight>
            </a:endParaRPr>
          </a:p>
          <a:p>
            <a:pPr indent="0" lvl="0" marL="0" rtl="0" algn="l">
              <a:spcBef>
                <a:spcPts val="0"/>
              </a:spcBef>
              <a:spcAft>
                <a:spcPts val="0"/>
              </a:spcAft>
              <a:buNone/>
            </a:pPr>
            <a:r>
              <a:t/>
            </a:r>
            <a:endParaRPr sz="1000">
              <a:solidFill>
                <a:srgbClr val="CCCCCC"/>
              </a:solidFill>
              <a:highlight>
                <a:srgbClr val="181818"/>
              </a:high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411edbbbcdea00d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h411edbbbcdea00d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411edbbbcdea00d4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411edbbbcdea00d4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411edbbbcdea00d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h411edbbbcdea00d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411edbbbcdea00d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h411edbbbcdea00d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1212912" y="1152475"/>
            <a:ext cx="6718176" cy="3684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9" name="Google Shape;69;p15" title="システム図.drawio.png"/>
          <p:cNvPicPr preferRelativeResize="0"/>
          <p:nvPr/>
        </p:nvPicPr>
        <p:blipFill>
          <a:blip r:embed="rId3">
            <a:alphaModFix/>
          </a:blip>
          <a:stretch>
            <a:fillRect/>
          </a:stretch>
        </p:blipFill>
        <p:spPr>
          <a:xfrm>
            <a:off x="0" y="1376450"/>
            <a:ext cx="9144000" cy="3414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M1</a:t>
            </a:r>
            <a:r>
              <a:rPr lang="ja"/>
              <a:t>：画像整形(Gemini API)</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⇒手描きスケッチを、後の3D化とセグメンテーションで扱いやすい</a:t>
            </a:r>
            <a:br>
              <a:rPr lang="ja"/>
            </a:br>
            <a:r>
              <a:rPr lang="ja"/>
              <a:t>「CAD風スケッチ」の画像に描き直す</a:t>
            </a:r>
            <a:endParaRPr/>
          </a:p>
          <a:p>
            <a:pPr indent="0" lvl="0" marL="0" rtl="0" algn="l">
              <a:spcBef>
                <a:spcPts val="1200"/>
              </a:spcBef>
              <a:spcAft>
                <a:spcPts val="1200"/>
              </a:spcAft>
              <a:buNone/>
            </a:pPr>
            <a:r>
              <a:rPr lang="ja"/>
              <a:t>・入出力</a:t>
            </a:r>
            <a:br>
              <a:rPr lang="ja"/>
            </a:br>
            <a:r>
              <a:rPr lang="ja"/>
              <a:t>入力：手描きスケッチ(png)+固定プロンプト</a:t>
            </a:r>
            <a:br>
              <a:rPr lang="ja"/>
            </a:br>
            <a:r>
              <a:rPr lang="ja"/>
              <a:t>出力：整形済み画像(png)</a:t>
            </a:r>
            <a:endParaRPr/>
          </a:p>
        </p:txBody>
      </p:sp>
      <p:pic>
        <p:nvPicPr>
          <p:cNvPr id="76" name="Google Shape;76;p16"/>
          <p:cNvPicPr preferRelativeResize="0"/>
          <p:nvPr/>
        </p:nvPicPr>
        <p:blipFill>
          <a:blip r:embed="rId3">
            <a:alphaModFix/>
          </a:blip>
          <a:stretch>
            <a:fillRect/>
          </a:stretch>
        </p:blipFill>
        <p:spPr>
          <a:xfrm>
            <a:off x="5250101" y="2632300"/>
            <a:ext cx="3626799" cy="2128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M1：プロンプト</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プロンプトのルール</a:t>
            </a:r>
            <a:br>
              <a:rPr lang="ja"/>
            </a:br>
            <a:r>
              <a:rPr b="1" lang="ja">
                <a:solidFill>
                  <a:srgbClr val="FF0000"/>
                </a:solidFill>
              </a:rPr>
              <a:t>①関節ごとに純マゼンタの球を一個ずつ描かせる</a:t>
            </a:r>
            <a:br>
              <a:rPr b="1" lang="ja">
                <a:solidFill>
                  <a:srgbClr val="FF0000"/>
                </a:solidFill>
              </a:rPr>
            </a:br>
            <a:r>
              <a:rPr b="1" lang="ja">
                <a:solidFill>
                  <a:srgbClr val="FF0000"/>
                </a:solidFill>
              </a:rPr>
              <a:t>②</a:t>
            </a:r>
            <a:r>
              <a:rPr b="1" lang="ja">
                <a:solidFill>
                  <a:srgbClr val="FF0000"/>
                </a:solidFill>
              </a:rPr>
              <a:t>スケッチのリンク長の比を保たせる</a:t>
            </a:r>
            <a:br>
              <a:rPr lang="ja"/>
            </a:br>
            <a:r>
              <a:rPr lang="ja"/>
              <a:t>③各リンクを単色で塗り分ける</a:t>
            </a:r>
            <a:br>
              <a:rPr lang="ja"/>
            </a:br>
            <a:r>
              <a:rPr lang="ja"/>
              <a:t>④関節の場所を言葉で列挙し(台座と上腕の間など)、球の個数を自己点検させる</a:t>
            </a:r>
            <a:br>
              <a:rPr lang="ja"/>
            </a:br>
            <a:r>
              <a:rPr lang="ja"/>
              <a:t>⑤腕がユーザスケッチで寝ている場合でも立てて描かせる</a:t>
            </a:r>
            <a:br>
              <a:rPr lang="ja"/>
            </a:br>
            <a:r>
              <a:rPr lang="ja"/>
              <a:t>⑥画像内に寸法や文字などを入れない</a:t>
            </a:r>
            <a:br>
              <a:rPr lang="ja"/>
            </a:br>
            <a:endParaRPr/>
          </a:p>
        </p:txBody>
      </p:sp>
      <p:pic>
        <p:nvPicPr>
          <p:cNvPr id="83" name="Google Shape;83;p17"/>
          <p:cNvPicPr preferRelativeResize="0"/>
          <p:nvPr/>
        </p:nvPicPr>
        <p:blipFill>
          <a:blip r:embed="rId3">
            <a:alphaModFix/>
          </a:blip>
          <a:stretch>
            <a:fillRect/>
          </a:stretch>
        </p:blipFill>
        <p:spPr>
          <a:xfrm>
            <a:off x="5857325" y="3236300"/>
            <a:ext cx="2847475" cy="1671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M1：検証して確認したこと</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・手描き5例全てでマーカー(関節のマゼンタ球)が3個でた</a:t>
            </a:r>
            <a:endParaRPr/>
          </a:p>
          <a:p>
            <a:pPr indent="0" lvl="0" marL="0" rtl="0" algn="l">
              <a:spcBef>
                <a:spcPts val="1200"/>
              </a:spcBef>
              <a:spcAft>
                <a:spcPts val="1200"/>
              </a:spcAft>
              <a:buNone/>
            </a:pPr>
            <a:r>
              <a:rPr lang="ja"/>
              <a:t>・Geminiの温度</a:t>
            </a:r>
            <a:r>
              <a:rPr lang="ja" sz="1600"/>
              <a:t>(モデルが出力するトークンのランダムさを決定する数値)</a:t>
            </a:r>
            <a:r>
              <a:rPr lang="ja"/>
              <a:t>が0でも出力は毎回変わる。同じ入力でリンク比が 1.05〜1.21 倍の範囲で揺れる</a:t>
            </a:r>
            <a:br>
              <a:rPr lang="ja"/>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M2：3D</a:t>
            </a:r>
            <a:r>
              <a:rPr lang="ja"/>
              <a:t>形状生成</a:t>
            </a:r>
            <a:r>
              <a:rPr lang="ja"/>
              <a:t>(Tripo3D API)</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a:t>
            </a:r>
            <a:r>
              <a:rPr lang="ja"/>
              <a:t>整形済み画像から 3D メッシュを作る（既存のサービスをそのまま使う）</a:t>
            </a:r>
            <a:endParaRPr/>
          </a:p>
          <a:p>
            <a:pPr indent="0" lvl="0" marL="0" rtl="0" algn="l">
              <a:spcBef>
                <a:spcPts val="1200"/>
              </a:spcBef>
              <a:spcAft>
                <a:spcPts val="1200"/>
              </a:spcAft>
              <a:buNone/>
            </a:pPr>
            <a:r>
              <a:rPr lang="ja"/>
              <a:t>・入出力</a:t>
            </a:r>
            <a:br>
              <a:rPr lang="ja"/>
            </a:br>
            <a:r>
              <a:rPr lang="ja"/>
              <a:t>入力：</a:t>
            </a:r>
            <a:r>
              <a:rPr lang="ja"/>
              <a:t>整形済みスケッチ</a:t>
            </a:r>
            <a:r>
              <a:rPr lang="ja"/>
              <a:t>(png)</a:t>
            </a:r>
            <a:br>
              <a:rPr lang="ja"/>
            </a:br>
            <a:r>
              <a:rPr lang="ja"/>
              <a:t>出力：3D</a:t>
            </a:r>
            <a:r>
              <a:rPr lang="ja"/>
              <a:t>モデル(glb,色付き)</a:t>
            </a:r>
            <a:endParaRPr/>
          </a:p>
        </p:txBody>
      </p:sp>
      <p:pic>
        <p:nvPicPr>
          <p:cNvPr id="96" name="Google Shape;96;p19"/>
          <p:cNvPicPr preferRelativeResize="0"/>
          <p:nvPr/>
        </p:nvPicPr>
        <p:blipFill>
          <a:blip r:embed="rId3">
            <a:alphaModFix/>
          </a:blip>
          <a:stretch>
            <a:fillRect/>
          </a:stretch>
        </p:blipFill>
        <p:spPr>
          <a:xfrm>
            <a:off x="5159101" y="2441100"/>
            <a:ext cx="2920050" cy="2313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M2：フローの説明</a:t>
            </a:r>
            <a:endParaRPr/>
          </a:p>
          <a:p>
            <a:pPr indent="0" lvl="0" marL="0" rtl="0" algn="l">
              <a:spcBef>
                <a:spcPts val="0"/>
              </a:spcBef>
              <a:spcAft>
                <a:spcPts val="0"/>
              </a:spcAft>
              <a:buNone/>
            </a:pPr>
            <a:r>
              <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①整形済み画像を Tripo3D に渡す（seed を固定）</a:t>
            </a:r>
            <a:endParaRPr/>
          </a:p>
          <a:p>
            <a:pPr indent="0" lvl="0" marL="0" rtl="0" algn="l">
              <a:spcBef>
                <a:spcPts val="1200"/>
              </a:spcBef>
              <a:spcAft>
                <a:spcPts val="0"/>
              </a:spcAft>
              <a:buNone/>
            </a:pPr>
            <a:r>
              <a:rPr lang="ja"/>
              <a:t>②色付きの glb を受け取る</a:t>
            </a:r>
            <a:endParaRPr/>
          </a:p>
          <a:p>
            <a:pPr indent="0" lvl="0" marL="0" rtl="0" algn="l">
              <a:spcBef>
                <a:spcPts val="1200"/>
              </a:spcBef>
              <a:spcAft>
                <a:spcPts val="0"/>
              </a:spcAft>
              <a:buNone/>
            </a:pPr>
            <a:r>
              <a:rPr lang="ja"/>
              <a:t>③大きさはサービス側が自動で「最も長い辺 ＝ 1 m」にそろえる</a:t>
            </a:r>
            <a:endParaRPr/>
          </a:p>
          <a:p>
            <a:pPr indent="0" lvl="0" marL="0" rtl="0" algn="l">
              <a:spcBef>
                <a:spcPts val="1200"/>
              </a:spcBef>
              <a:spcAft>
                <a:spcPts val="1200"/>
              </a:spcAft>
              <a:buNone/>
            </a:pPr>
            <a:r>
              <a:t/>
            </a:r>
            <a:endParaRPr/>
          </a:p>
        </p:txBody>
      </p:sp>
      <p:pic>
        <p:nvPicPr>
          <p:cNvPr id="103" name="Google Shape;103;p20"/>
          <p:cNvPicPr preferRelativeResize="0"/>
          <p:nvPr/>
        </p:nvPicPr>
        <p:blipFill>
          <a:blip r:embed="rId3">
            <a:alphaModFix/>
          </a:blip>
          <a:stretch>
            <a:fillRect/>
          </a:stretch>
        </p:blipFill>
        <p:spPr>
          <a:xfrm>
            <a:off x="5203701" y="2606800"/>
            <a:ext cx="2920050" cy="2313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M2:</a:t>
            </a:r>
            <a:r>
              <a:rPr lang="ja"/>
              <a:t>フローの説明</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0" name="Google Shape;110;p21" title="pipeline_m2_pose.png"/>
          <p:cNvPicPr preferRelativeResize="0"/>
          <p:nvPr/>
        </p:nvPicPr>
        <p:blipFill>
          <a:blip r:embed="rId3">
            <a:alphaModFix/>
          </a:blip>
          <a:stretch>
            <a:fillRect/>
          </a:stretch>
        </p:blipFill>
        <p:spPr>
          <a:xfrm>
            <a:off x="1484970" y="1152475"/>
            <a:ext cx="6056829" cy="39602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M2：</a:t>
            </a:r>
            <a:r>
              <a:rPr lang="ja"/>
              <a:t>検証して確認したこと</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・Tripo3Dはseed値を固定すると、入力が同じ画像だと同じ3Dを生成する</a:t>
            </a:r>
            <a:br>
              <a:rPr lang="ja"/>
            </a:br>
            <a:r>
              <a:rPr lang="ja"/>
              <a:t>・</a:t>
            </a:r>
            <a:r>
              <a:rPr lang="ja"/>
              <a:t>真横から描いた絵は4/4で成功したが、同じものを斜めから描いたものだと0/2</a:t>
            </a:r>
            <a:br>
              <a:rPr lang="ja"/>
            </a:br>
            <a:r>
              <a:rPr lang="ja"/>
              <a:t>　（ここでいう失敗は、斜めに描いた弊害で高さが奥行きになってしまい、腕が寝た姿勢になってしまった。ということ）</a:t>
            </a:r>
            <a:br>
              <a:rPr lang="ja"/>
            </a:b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M3</a:t>
            </a:r>
            <a:r>
              <a:rPr lang="ja"/>
              <a:t>：関節検出・リンク分割</a:t>
            </a:r>
            <a:endParaRPr/>
          </a:p>
        </p:txBody>
      </p:sp>
      <p:sp>
        <p:nvSpPr>
          <p:cNvPr id="122" name="Google Shape;122;p23"/>
          <p:cNvSpPr txBox="1"/>
          <p:nvPr>
            <p:ph idx="1" type="body"/>
          </p:nvPr>
        </p:nvSpPr>
        <p:spPr>
          <a:xfrm>
            <a:off x="311700" y="962325"/>
            <a:ext cx="8520600" cy="360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a:t>
            </a:r>
            <a:r>
              <a:rPr lang="ja"/>
              <a:t>3D モデルからマゼンタの球を見つけて関節の位置を決め、</a:t>
            </a:r>
            <a:br>
              <a:rPr lang="ja"/>
            </a:br>
            <a:r>
              <a:rPr lang="ja"/>
              <a:t>　メッシュをリンクごとに切り分ける</a:t>
            </a:r>
            <a:endParaRPr/>
          </a:p>
          <a:p>
            <a:pPr indent="0" lvl="0" marL="0" rtl="0" algn="l">
              <a:spcBef>
                <a:spcPts val="1200"/>
              </a:spcBef>
              <a:spcAft>
                <a:spcPts val="0"/>
              </a:spcAft>
              <a:buNone/>
            </a:pPr>
            <a:r>
              <a:rPr lang="ja"/>
              <a:t>入出力</a:t>
            </a:r>
            <a:endParaRPr/>
          </a:p>
          <a:p>
            <a:pPr indent="0" lvl="0" marL="0" rtl="0" algn="l">
              <a:spcBef>
                <a:spcPts val="1200"/>
              </a:spcBef>
              <a:spcAft>
                <a:spcPts val="1200"/>
              </a:spcAft>
              <a:buNone/>
            </a:pPr>
            <a:r>
              <a:rPr lang="ja"/>
              <a:t>・入出力</a:t>
            </a:r>
            <a:br>
              <a:rPr lang="ja"/>
            </a:br>
            <a:r>
              <a:rPr lang="ja"/>
              <a:t>入力：3D</a:t>
            </a:r>
            <a:r>
              <a:rPr lang="ja"/>
              <a:t>形状(glb)</a:t>
            </a:r>
            <a:br>
              <a:rPr lang="ja"/>
            </a:br>
            <a:r>
              <a:rPr lang="ja"/>
              <a:t>出力：</a:t>
            </a:r>
            <a:r>
              <a:rPr lang="ja"/>
              <a:t>リンクごとのSTL</a:t>
            </a:r>
            <a:br>
              <a:rPr lang="ja"/>
            </a:br>
            <a:r>
              <a:rPr lang="ja"/>
              <a:t>	　関節の座標（</a:t>
            </a:r>
            <a:r>
              <a:rPr lang="ja"/>
              <a:t>中心）</a:t>
            </a:r>
            <a:endParaRPr/>
          </a:p>
        </p:txBody>
      </p:sp>
      <p:pic>
        <p:nvPicPr>
          <p:cNvPr id="123" name="Google Shape;123;p23" title="pipeline_m3.png"/>
          <p:cNvPicPr preferRelativeResize="0"/>
          <p:nvPr/>
        </p:nvPicPr>
        <p:blipFill rotWithShape="1">
          <a:blip r:embed="rId3">
            <a:alphaModFix/>
          </a:blip>
          <a:srcRect b="0" l="4454" r="-442" t="0"/>
          <a:stretch/>
        </p:blipFill>
        <p:spPr>
          <a:xfrm>
            <a:off x="3025602" y="2472175"/>
            <a:ext cx="6118398" cy="26346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M3：フローの説明</a:t>
            </a:r>
            <a:endParaRPr/>
          </a:p>
          <a:p>
            <a:pPr indent="0" lvl="0" marL="0" rtl="0" algn="l">
              <a:spcBef>
                <a:spcPts val="0"/>
              </a:spcBef>
              <a:spcAft>
                <a:spcPts val="0"/>
              </a:spcAft>
              <a:buNone/>
            </a:pPr>
            <a:r>
              <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a:t>
            </a:r>
            <a:r>
              <a:rPr lang="ja"/>
              <a:t>テクスチャの色を頂点に移す</a:t>
            </a:r>
            <a:endParaRPr/>
          </a:p>
          <a:p>
            <a:pPr indent="0" lvl="0" marL="0" rtl="0" algn="l">
              <a:spcBef>
                <a:spcPts val="1200"/>
              </a:spcBef>
              <a:spcAft>
                <a:spcPts val="0"/>
              </a:spcAft>
              <a:buNone/>
            </a:pPr>
            <a:r>
              <a:rPr lang="ja"/>
              <a:t>②</a:t>
            </a:r>
            <a:r>
              <a:rPr lang="ja"/>
              <a:t>マゼンタに近い色の頂点を抜き出す</a:t>
            </a:r>
            <a:endParaRPr/>
          </a:p>
          <a:p>
            <a:pPr indent="0" lvl="0" marL="0" rtl="0" algn="l">
              <a:spcBef>
                <a:spcPts val="1200"/>
              </a:spcBef>
              <a:spcAft>
                <a:spcPts val="0"/>
              </a:spcAft>
              <a:buNone/>
            </a:pPr>
            <a:r>
              <a:rPr lang="ja"/>
              <a:t>③</a:t>
            </a:r>
            <a:r>
              <a:rPr lang="ja"/>
              <a:t>抜き出した頂点を3次元でまとまりに分け、各まとまりの重心を関節とする</a:t>
            </a:r>
            <a:endParaRPr/>
          </a:p>
          <a:p>
            <a:pPr indent="0" lvl="0" marL="0" rtl="0" algn="l">
              <a:spcBef>
                <a:spcPts val="1200"/>
              </a:spcBef>
              <a:spcAft>
                <a:spcPts val="0"/>
              </a:spcAft>
              <a:buNone/>
            </a:pPr>
            <a:r>
              <a:rPr lang="ja"/>
              <a:t>④関節の高さ(Z)でメッシュを切る</a:t>
            </a:r>
            <a:endParaRPr/>
          </a:p>
          <a:p>
            <a:pPr indent="0" lvl="0" marL="0" rtl="0" algn="l">
              <a:spcBef>
                <a:spcPts val="1200"/>
              </a:spcBef>
              <a:spcAft>
                <a:spcPts val="0"/>
              </a:spcAft>
              <a:buNone/>
            </a:pPr>
            <a:r>
              <a:rPr lang="ja"/>
              <a:t>⑤各リンクを自分の座標に移してSTLで出力する</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M3:</a:t>
            </a:r>
            <a:r>
              <a:rPr lang="ja"/>
              <a:t>フローの説明</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6" name="Google Shape;136;p25" title="pipeline_m3.png"/>
          <p:cNvPicPr preferRelativeResize="0"/>
          <p:nvPr/>
        </p:nvPicPr>
        <p:blipFill rotWithShape="1">
          <a:blip r:embed="rId3">
            <a:alphaModFix/>
          </a:blip>
          <a:srcRect b="0" l="4454" r="-442" t="0"/>
          <a:stretch/>
        </p:blipFill>
        <p:spPr>
          <a:xfrm>
            <a:off x="155850" y="1152477"/>
            <a:ext cx="8832301" cy="38032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M3：検証して確認したこと</a:t>
            </a:r>
            <a:endParaRPr/>
          </a:p>
        </p:txBody>
      </p:sp>
      <p:sp>
        <p:nvSpPr>
          <p:cNvPr id="142" name="Google Shape;14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a:t>
            </a:r>
            <a:r>
              <a:rPr lang="ja"/>
              <a:t>手描き5例で関節3/3を検出できた</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M4：形態パラメータ抽出</a:t>
            </a:r>
            <a:endParaRPr/>
          </a:p>
        </p:txBody>
      </p:sp>
      <p:sp>
        <p:nvSpPr>
          <p:cNvPr id="148" name="Google Shape;148;p27"/>
          <p:cNvSpPr txBox="1"/>
          <p:nvPr>
            <p:ph idx="1" type="body"/>
          </p:nvPr>
        </p:nvSpPr>
        <p:spPr>
          <a:xfrm>
            <a:off x="311700" y="1127575"/>
            <a:ext cx="8520600" cy="375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⇒切り分けたリンクから、学習で使う設計変数の初期値(長さ・太さ)を求める</a:t>
            </a:r>
            <a:endParaRPr/>
          </a:p>
          <a:p>
            <a:pPr indent="0" lvl="0" marL="0" rtl="0" algn="l">
              <a:spcBef>
                <a:spcPts val="1200"/>
              </a:spcBef>
              <a:spcAft>
                <a:spcPts val="0"/>
              </a:spcAft>
              <a:buNone/>
            </a:pPr>
            <a:r>
              <a:rPr lang="ja"/>
              <a:t>・入出力</a:t>
            </a:r>
            <a:br>
              <a:rPr lang="ja"/>
            </a:br>
            <a:r>
              <a:rPr lang="ja"/>
              <a:t>入力：リンクごとのSTL,関節の座標</a:t>
            </a:r>
            <a:br>
              <a:rPr lang="ja"/>
            </a:br>
            <a:r>
              <a:rPr lang="ja"/>
              <a:t>出力：topology.json</a:t>
            </a:r>
            <a:endParaRPr/>
          </a:p>
          <a:p>
            <a:pPr indent="-316985" lvl="0" marL="457200" rtl="0" algn="l">
              <a:spcBef>
                <a:spcPts val="1200"/>
              </a:spcBef>
              <a:spcAft>
                <a:spcPts val="0"/>
              </a:spcAft>
              <a:buClr>
                <a:srgbClr val="CCCCCC"/>
              </a:buClr>
              <a:buSzPts val="1392"/>
              <a:buChar char="●"/>
            </a:pPr>
            <a:r>
              <a:rPr lang="ja" sz="1392">
                <a:solidFill>
                  <a:srgbClr val="CCCCCC"/>
                </a:solidFill>
                <a:highlight>
                  <a:srgbClr val="181818"/>
                </a:highlight>
              </a:rPr>
              <a:t>topology.json</a:t>
            </a:r>
            <a:endParaRPr sz="1392">
              <a:solidFill>
                <a:srgbClr val="CCCCCC"/>
              </a:solidFill>
              <a:highlight>
                <a:srgbClr val="181818"/>
              </a:highlight>
            </a:endParaRPr>
          </a:p>
          <a:p>
            <a:pPr indent="-316985" lvl="1" marL="914400" rtl="0" algn="l">
              <a:spcBef>
                <a:spcPts val="0"/>
              </a:spcBef>
              <a:spcAft>
                <a:spcPts val="0"/>
              </a:spcAft>
              <a:buClr>
                <a:srgbClr val="CCCCCC"/>
              </a:buClr>
              <a:buSzPts val="1392"/>
              <a:buChar char="○"/>
            </a:pPr>
            <a:r>
              <a:rPr lang="ja" sz="1392">
                <a:solidFill>
                  <a:srgbClr val="CCCCCC"/>
                </a:solidFill>
                <a:highlight>
                  <a:srgbClr val="181818"/>
                </a:highlight>
              </a:rPr>
              <a:t>名前・親リンク</a:t>
            </a:r>
            <a:endParaRPr sz="1392">
              <a:solidFill>
                <a:srgbClr val="CCCCCC"/>
              </a:solidFill>
              <a:highlight>
                <a:srgbClr val="181818"/>
              </a:highlight>
            </a:endParaRPr>
          </a:p>
          <a:p>
            <a:pPr indent="-316985" lvl="1" marL="914400" rtl="0" algn="l">
              <a:spcBef>
                <a:spcPts val="0"/>
              </a:spcBef>
              <a:spcAft>
                <a:spcPts val="0"/>
              </a:spcAft>
              <a:buClr>
                <a:srgbClr val="CCCCCC"/>
              </a:buClr>
              <a:buSzPts val="1392"/>
              <a:buChar char="○"/>
            </a:pPr>
            <a:r>
              <a:rPr lang="ja" sz="1392">
                <a:solidFill>
                  <a:srgbClr val="CCCCCC"/>
                </a:solidFill>
                <a:highlight>
                  <a:srgbClr val="181818"/>
                </a:highlight>
              </a:rPr>
              <a:t>関節（種類・軸・可動域）</a:t>
            </a:r>
            <a:endParaRPr sz="1392">
              <a:solidFill>
                <a:srgbClr val="CCCCCC"/>
              </a:solidFill>
              <a:highlight>
                <a:srgbClr val="181818"/>
              </a:highlight>
            </a:endParaRPr>
          </a:p>
          <a:p>
            <a:pPr indent="-310635" lvl="1" marL="914400" rtl="0" algn="l">
              <a:spcBef>
                <a:spcPts val="0"/>
              </a:spcBef>
              <a:spcAft>
                <a:spcPts val="0"/>
              </a:spcAft>
              <a:buClr>
                <a:srgbClr val="CCCCCC"/>
              </a:buClr>
              <a:buSzPts val="1292"/>
              <a:buChar char="○"/>
            </a:pPr>
            <a:r>
              <a:rPr lang="ja" sz="1392">
                <a:solidFill>
                  <a:srgbClr val="CCCCCC"/>
                </a:solidFill>
                <a:highlight>
                  <a:srgbClr val="181818"/>
                </a:highlight>
              </a:rPr>
              <a:t>骨の長さ（</a:t>
            </a:r>
            <a:r>
              <a:rPr lang="ja" sz="1292">
                <a:solidFill>
                  <a:srgbClr val="D0D0D0"/>
                </a:solidFill>
                <a:highlight>
                  <a:srgbClr val="3C3C3C"/>
                </a:highlight>
                <a:latin typeface="Courier New"/>
                <a:ea typeface="Courier New"/>
                <a:cs typeface="Courier New"/>
                <a:sym typeface="Courier New"/>
              </a:rPr>
              <a:t>bone_offset</a:t>
            </a:r>
            <a:r>
              <a:rPr lang="ja" sz="1392">
                <a:solidFill>
                  <a:srgbClr val="CCCCCC"/>
                </a:solidFill>
                <a:highlight>
                  <a:srgbClr val="181818"/>
                </a:highlight>
              </a:rPr>
              <a:t>）</a:t>
            </a:r>
            <a:endParaRPr sz="1392">
              <a:solidFill>
                <a:srgbClr val="CCCCCC"/>
              </a:solidFill>
              <a:highlight>
                <a:srgbClr val="181818"/>
              </a:highlight>
            </a:endParaRPr>
          </a:p>
          <a:p>
            <a:pPr indent="-310635" lvl="1" marL="914400" rtl="0" algn="l">
              <a:spcBef>
                <a:spcPts val="0"/>
              </a:spcBef>
              <a:spcAft>
                <a:spcPts val="0"/>
              </a:spcAft>
              <a:buClr>
                <a:srgbClr val="CCCCCC"/>
              </a:buClr>
              <a:buSzPts val="1292"/>
              <a:buChar char="○"/>
            </a:pPr>
            <a:r>
              <a:rPr lang="ja" sz="1392">
                <a:solidFill>
                  <a:srgbClr val="CCCCCC"/>
                </a:solidFill>
                <a:highlight>
                  <a:srgbClr val="181818"/>
                </a:highlight>
              </a:rPr>
              <a:t>カプセルの半径（</a:t>
            </a:r>
            <a:r>
              <a:rPr lang="ja" sz="1292">
                <a:solidFill>
                  <a:srgbClr val="D0D0D0"/>
                </a:solidFill>
                <a:highlight>
                  <a:srgbClr val="3C3C3C"/>
                </a:highlight>
                <a:latin typeface="Courier New"/>
                <a:ea typeface="Courier New"/>
                <a:cs typeface="Courier New"/>
                <a:sym typeface="Courier New"/>
              </a:rPr>
              <a:t>size</a:t>
            </a:r>
            <a:r>
              <a:rPr lang="ja" sz="1392">
                <a:solidFill>
                  <a:srgbClr val="CCCCCC"/>
                </a:solidFill>
                <a:highlight>
                  <a:srgbClr val="181818"/>
                </a:highlight>
              </a:rPr>
              <a:t>）</a:t>
            </a:r>
            <a:endParaRPr sz="1392">
              <a:solidFill>
                <a:srgbClr val="CCCCCC"/>
              </a:solidFill>
              <a:highlight>
                <a:srgbClr val="181818"/>
              </a:highlight>
            </a:endParaRPr>
          </a:p>
          <a:p>
            <a:pPr indent="-316985" lvl="1" marL="914400" rtl="0" algn="l">
              <a:spcBef>
                <a:spcPts val="0"/>
              </a:spcBef>
              <a:spcAft>
                <a:spcPts val="0"/>
              </a:spcAft>
              <a:buClr>
                <a:srgbClr val="CCCCCC"/>
              </a:buClr>
              <a:buSzPts val="1392"/>
              <a:buChar char="○"/>
            </a:pPr>
            <a:r>
              <a:rPr lang="ja" sz="1392">
                <a:solidFill>
                  <a:srgbClr val="CCCCCC"/>
                </a:solidFill>
                <a:highlight>
                  <a:srgbClr val="181818"/>
                </a:highlight>
              </a:rPr>
              <a:t>ギア比</a:t>
            </a:r>
            <a:endParaRPr/>
          </a:p>
        </p:txBody>
      </p:sp>
      <p:pic>
        <p:nvPicPr>
          <p:cNvPr id="149" name="Google Shape;149;p27" title="pipeline_m4.png"/>
          <p:cNvPicPr preferRelativeResize="0"/>
          <p:nvPr/>
        </p:nvPicPr>
        <p:blipFill rotWithShape="1">
          <a:blip r:embed="rId3">
            <a:alphaModFix/>
          </a:blip>
          <a:srcRect b="0" l="5486" r="4277" t="0"/>
          <a:stretch/>
        </p:blipFill>
        <p:spPr>
          <a:xfrm>
            <a:off x="3417950" y="2789140"/>
            <a:ext cx="5726049" cy="22216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M4：フローの説明</a:t>
            </a:r>
            <a:endParaRPr/>
          </a:p>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①長さと太さを求める</a:t>
            </a:r>
            <a:br>
              <a:rPr lang="ja"/>
            </a:br>
            <a:r>
              <a:rPr lang="ja"/>
              <a:t>長さ ＝ 関節と関節の距離(先端リンクは、最後の関節から最も遠い点まで)</a:t>
            </a:r>
            <a:br>
              <a:rPr lang="ja"/>
            </a:br>
            <a:r>
              <a:rPr lang="ja"/>
              <a:t>太さ ＝ 骨の軸に垂直な断面の幅の平均の半分</a:t>
            </a:r>
            <a:endParaRPr/>
          </a:p>
          <a:p>
            <a:pPr indent="0" lvl="0" marL="0" rtl="0" algn="l">
              <a:spcBef>
                <a:spcPts val="1200"/>
              </a:spcBef>
              <a:spcAft>
                <a:spcPts val="0"/>
              </a:spcAft>
              <a:buNone/>
            </a:pPr>
            <a:r>
              <a:rPr lang="ja"/>
              <a:t>②</a:t>
            </a:r>
            <a:r>
              <a:rPr lang="ja"/>
              <a:t>形がカプセルからどれだけはみ出すかを計算し、表示と記録をする</a:t>
            </a:r>
            <a:endParaRPr/>
          </a:p>
          <a:p>
            <a:pPr indent="0" lvl="0" marL="0" rtl="0" algn="l">
              <a:spcBef>
                <a:spcPts val="1200"/>
              </a:spcBef>
              <a:spcAft>
                <a:spcPts val="0"/>
              </a:spcAft>
              <a:buNone/>
            </a:pPr>
            <a:r>
              <a:rPr lang="ja"/>
              <a:t>③</a:t>
            </a:r>
            <a:r>
              <a:rPr lang="ja"/>
              <a:t>ギア比・可動域は既定値（100、±90°）を入れる</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M4:</a:t>
            </a:r>
            <a:r>
              <a:rPr lang="ja"/>
              <a:t>フローの説明</a:t>
            </a:r>
            <a:endParaRPr/>
          </a:p>
        </p:txBody>
      </p:sp>
      <p:sp>
        <p:nvSpPr>
          <p:cNvPr id="161" name="Google Shape;16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2" name="Google Shape;162;p29" title="pipeline_m4.png"/>
          <p:cNvPicPr preferRelativeResize="0"/>
          <p:nvPr/>
        </p:nvPicPr>
        <p:blipFill rotWithShape="1">
          <a:blip r:embed="rId3">
            <a:alphaModFix/>
          </a:blip>
          <a:srcRect b="0" l="5486" r="4277" t="0"/>
          <a:stretch/>
        </p:blipFill>
        <p:spPr>
          <a:xfrm>
            <a:off x="169257" y="1186306"/>
            <a:ext cx="8805484" cy="3416399"/>
          </a:xfrm>
          <a:prstGeom prst="rect">
            <a:avLst/>
          </a:prstGeom>
          <a:noFill/>
          <a:ln>
            <a:noFill/>
          </a:ln>
        </p:spPr>
      </p:pic>
      <p:sp>
        <p:nvSpPr>
          <p:cNvPr id="163" name="Google Shape;163;p29"/>
          <p:cNvSpPr/>
          <p:nvPr/>
        </p:nvSpPr>
        <p:spPr>
          <a:xfrm>
            <a:off x="5433850" y="3683400"/>
            <a:ext cx="442800" cy="3981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4" name="Google Shape;164;p29"/>
          <p:cNvPicPr preferRelativeResize="0"/>
          <p:nvPr/>
        </p:nvPicPr>
        <p:blipFill>
          <a:blip r:embed="rId4">
            <a:alphaModFix/>
          </a:blip>
          <a:stretch>
            <a:fillRect/>
          </a:stretch>
        </p:blipFill>
        <p:spPr>
          <a:xfrm>
            <a:off x="2954777" y="100800"/>
            <a:ext cx="723526" cy="1051674"/>
          </a:xfrm>
          <a:prstGeom prst="rect">
            <a:avLst/>
          </a:prstGeom>
          <a:noFill/>
          <a:ln>
            <a:noFill/>
          </a:ln>
        </p:spPr>
      </p:pic>
      <p:pic>
        <p:nvPicPr>
          <p:cNvPr id="165" name="Google Shape;165;p29"/>
          <p:cNvPicPr preferRelativeResize="0"/>
          <p:nvPr/>
        </p:nvPicPr>
        <p:blipFill rotWithShape="1">
          <a:blip r:embed="rId5">
            <a:alphaModFix/>
          </a:blip>
          <a:srcRect b="0" l="53275" r="0" t="0"/>
          <a:stretch/>
        </p:blipFill>
        <p:spPr>
          <a:xfrm>
            <a:off x="2836243" y="2321825"/>
            <a:ext cx="2336551" cy="1552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M4：検証して確認したこと</a:t>
            </a:r>
            <a:endParaRPr/>
          </a:p>
        </p:txBody>
      </p:sp>
      <p:sp>
        <p:nvSpPr>
          <p:cNvPr id="171" name="Google Shape;17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・長さは関節位置と一致した</a:t>
            </a:r>
            <a:endParaRPr/>
          </a:p>
          <a:p>
            <a:pPr indent="0" lvl="0" marL="0" rtl="0" algn="l">
              <a:spcBef>
                <a:spcPts val="1200"/>
              </a:spcBef>
              <a:spcAft>
                <a:spcPts val="0"/>
              </a:spcAft>
              <a:buNone/>
            </a:pPr>
            <a:r>
              <a:rPr lang="ja"/>
              <a:t>・太さ: カプセルの外に出る頂点の割合は平均 21.4 %。直方体（OBB）から求める旧方式の 29.7 % より小さく、悪化したリンクは無い（手描き 5 例・20 リンク、系譜 9-75）</a:t>
            </a:r>
            <a:endParaRPr/>
          </a:p>
          <a:p>
            <a:pPr indent="0" lvl="0" marL="0" rtl="0" algn="l">
              <a:spcBef>
                <a:spcPts val="1200"/>
              </a:spcBef>
              <a:spcAft>
                <a:spcPts val="1200"/>
              </a:spcAft>
              <a:buNone/>
            </a:pPr>
            <a:r>
              <a:rPr lang="ja"/>
              <a:t>・⚠ 限界: 平たい手先はカプセルで覆えず、70.9 % はみ出す（ホッケーではなくB１。いうほど平たいか？）</a:t>
            </a:r>
            <a:endParaRPr/>
          </a:p>
        </p:txBody>
      </p:sp>
      <p:pic>
        <p:nvPicPr>
          <p:cNvPr id="172" name="Google Shape;172;p30" title="pipeline_m4.png"/>
          <p:cNvPicPr preferRelativeResize="0"/>
          <p:nvPr/>
        </p:nvPicPr>
        <p:blipFill>
          <a:blip r:embed="rId3">
            <a:alphaModFix/>
          </a:blip>
          <a:stretch>
            <a:fillRect/>
          </a:stretch>
        </p:blipFill>
        <p:spPr>
          <a:xfrm>
            <a:off x="1881275" y="3126750"/>
            <a:ext cx="5381448" cy="1884025"/>
          </a:xfrm>
          <a:prstGeom prst="rect">
            <a:avLst/>
          </a:prstGeom>
          <a:noFill/>
          <a:ln>
            <a:noFill/>
          </a:ln>
        </p:spPr>
      </p:pic>
      <p:pic>
        <p:nvPicPr>
          <p:cNvPr id="173" name="Google Shape;173;p30" title="B1_m1.jpeg"/>
          <p:cNvPicPr preferRelativeResize="0"/>
          <p:nvPr/>
        </p:nvPicPr>
        <p:blipFill>
          <a:blip r:embed="rId4">
            <a:alphaModFix/>
          </a:blip>
          <a:stretch>
            <a:fillRect/>
          </a:stretch>
        </p:blipFill>
        <p:spPr>
          <a:xfrm>
            <a:off x="232600" y="3465475"/>
            <a:ext cx="1337326" cy="17831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M5：</a:t>
            </a:r>
            <a:r>
              <a:rPr lang="ja"/>
              <a:t>シミュレーションモデル作成</a:t>
            </a:r>
            <a:endParaRPr/>
          </a:p>
        </p:txBody>
      </p:sp>
      <p:sp>
        <p:nvSpPr>
          <p:cNvPr id="179" name="Google Shape;17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a:t>
            </a:r>
            <a:r>
              <a:rPr lang="ja"/>
              <a:t>パラメータから、学習で使えるロボットモデルファイルを作る</a:t>
            </a:r>
            <a:endParaRPr/>
          </a:p>
          <a:p>
            <a:pPr indent="0" lvl="0" marL="0" rtl="0" algn="l">
              <a:spcBef>
                <a:spcPts val="1200"/>
              </a:spcBef>
              <a:spcAft>
                <a:spcPts val="1200"/>
              </a:spcAft>
              <a:buNone/>
            </a:pPr>
            <a:r>
              <a:rPr lang="ja"/>
              <a:t>・入出力</a:t>
            </a:r>
            <a:br>
              <a:rPr lang="ja"/>
            </a:br>
            <a:r>
              <a:rPr lang="ja"/>
              <a:t>入力：topology.json</a:t>
            </a:r>
            <a:br>
              <a:rPr lang="ja"/>
            </a:br>
            <a:r>
              <a:rPr lang="ja"/>
              <a:t>出力：XML(Mujoco</a:t>
            </a:r>
            <a:r>
              <a:rPr lang="ja"/>
              <a:t>互換。choreonoidが読み込むときに変換する</a:t>
            </a:r>
            <a:r>
              <a:rPr lang="ja"/>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M5：フローの説明</a:t>
            </a:r>
            <a:endParaRPr/>
          </a:p>
          <a:p>
            <a:pPr indent="0" lvl="0" marL="0" rtl="0" algn="l">
              <a:spcBef>
                <a:spcPts val="0"/>
              </a:spcBef>
              <a:spcAft>
                <a:spcPts val="0"/>
              </a:spcAft>
              <a:buNone/>
            </a:pPr>
            <a:r>
              <a:t/>
            </a:r>
            <a:endParaRPr/>
          </a:p>
        </p:txBody>
      </p:sp>
      <p:sp>
        <p:nvSpPr>
          <p:cNvPr id="185" name="Google Shape;18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a:t>
            </a:r>
            <a:r>
              <a:rPr lang="ja"/>
              <a:t>各リンクをカプセルで近似する</a:t>
            </a:r>
            <a:endParaRPr/>
          </a:p>
          <a:p>
            <a:pPr indent="0" lvl="0" marL="0" rtl="0" algn="l">
              <a:spcBef>
                <a:spcPts val="1200"/>
              </a:spcBef>
              <a:spcAft>
                <a:spcPts val="0"/>
              </a:spcAft>
              <a:buNone/>
            </a:pPr>
            <a:r>
              <a:rPr lang="ja"/>
              <a:t>②</a:t>
            </a:r>
            <a:r>
              <a:rPr lang="ja"/>
              <a:t>子リンクを親リンクの先端に取り付ける</a:t>
            </a:r>
            <a:endParaRPr/>
          </a:p>
          <a:p>
            <a:pPr indent="0" lvl="0" marL="0" rtl="0" algn="l">
              <a:spcBef>
                <a:spcPts val="1200"/>
              </a:spcBef>
              <a:spcAft>
                <a:spcPts val="0"/>
              </a:spcAft>
              <a:buNone/>
            </a:pPr>
            <a:r>
              <a:rPr lang="ja"/>
              <a:t>③</a:t>
            </a:r>
            <a:r>
              <a:rPr lang="ja"/>
              <a:t>関節軸を割り当てる</a:t>
            </a:r>
            <a:br>
              <a:rPr lang="ja"/>
            </a:br>
            <a:r>
              <a:rPr lang="ja"/>
              <a:t>　(既定の縦型: 根元はヨー、それより先はピッチ。関節ごとの指定もできる)</a:t>
            </a:r>
            <a:br>
              <a:rPr lang="ja"/>
            </a:br>
            <a:r>
              <a:rPr lang="ja"/>
              <a:t>　⇒</a:t>
            </a:r>
            <a:r>
              <a:rPr b="1" lang="ja"/>
              <a:t>※関節軸は決め打ちで決定しているということ(研究スコープ外)</a:t>
            </a:r>
            <a:endParaRPr b="1"/>
          </a:p>
          <a:p>
            <a:pPr indent="0" lvl="0" marL="0" rtl="0" algn="l">
              <a:spcBef>
                <a:spcPts val="1200"/>
              </a:spcBef>
              <a:spcAft>
                <a:spcPts val="1200"/>
              </a:spcAft>
              <a:buNone/>
            </a:pPr>
            <a:r>
              <a:rPr lang="ja"/>
              <a:t>④ギア比</a:t>
            </a:r>
            <a:r>
              <a:rPr lang="ja"/>
              <a:t>つきのモーターをつける</a:t>
            </a:r>
            <a:endParaRPr/>
          </a:p>
        </p:txBody>
      </p:sp>
      <p:pic>
        <p:nvPicPr>
          <p:cNvPr id="186" name="Google Shape;186;p32" title="pipeline_m5.png"/>
          <p:cNvPicPr preferRelativeResize="0"/>
          <p:nvPr/>
        </p:nvPicPr>
        <p:blipFill>
          <a:blip r:embed="rId3">
            <a:alphaModFix/>
          </a:blip>
          <a:stretch>
            <a:fillRect/>
          </a:stretch>
        </p:blipFill>
        <p:spPr>
          <a:xfrm>
            <a:off x="5110325" y="3110475"/>
            <a:ext cx="3775599" cy="2033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M5</a:t>
            </a:r>
            <a:r>
              <a:rPr lang="ja"/>
              <a:t>：フローの説明</a:t>
            </a:r>
            <a:endParaRPr/>
          </a:p>
        </p:txBody>
      </p:sp>
      <p:sp>
        <p:nvSpPr>
          <p:cNvPr id="192" name="Google Shape;19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3" name="Google Shape;193;p33" title="pipeline_m5.png"/>
          <p:cNvPicPr preferRelativeResize="0"/>
          <p:nvPr/>
        </p:nvPicPr>
        <p:blipFill>
          <a:blip r:embed="rId3">
            <a:alphaModFix/>
          </a:blip>
          <a:stretch>
            <a:fillRect/>
          </a:stretch>
        </p:blipFill>
        <p:spPr>
          <a:xfrm>
            <a:off x="991425" y="1152476"/>
            <a:ext cx="7161151" cy="3856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M5：検証して確認したこと</a:t>
            </a:r>
            <a:endParaRPr/>
          </a:p>
        </p:txBody>
      </p:sp>
      <p:sp>
        <p:nvSpPr>
          <p:cNvPr id="199" name="Google Shape;19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a:t>
            </a:r>
            <a:r>
              <a:rPr lang="ja"/>
              <a:t>モデル上のリーチと実際のリーチが一致した</a:t>
            </a:r>
            <a:endParaRPr/>
          </a:p>
          <a:p>
            <a:pPr indent="0" lvl="0" marL="0" rtl="0" algn="l">
              <a:spcBef>
                <a:spcPts val="1200"/>
              </a:spcBef>
              <a:spcAft>
                <a:spcPts val="0"/>
              </a:spcAft>
              <a:buNone/>
            </a:pPr>
            <a:r>
              <a:rPr lang="ja"/>
              <a:t>・</a:t>
            </a:r>
            <a:r>
              <a:rPr lang="ja"/>
              <a:t>関節軸も正しい</a:t>
            </a:r>
            <a:endParaRPr/>
          </a:p>
          <a:p>
            <a:pPr indent="0" lvl="0" marL="0" rtl="0" algn="l">
              <a:spcBef>
                <a:spcPts val="1200"/>
              </a:spcBef>
              <a:spcAft>
                <a:spcPts val="1200"/>
              </a:spcAft>
              <a:buNone/>
            </a:pPr>
            <a:r>
              <a:rPr lang="ja"/>
              <a:t>・モデルや環境に不備があって実行に入れないときは、エラーで止まる</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M6：Stackelberg PPO</a:t>
            </a:r>
            <a:r>
              <a:rPr lang="ja"/>
              <a:t>によるロボット評価</a:t>
            </a:r>
            <a:endParaRPr/>
          </a:p>
        </p:txBody>
      </p:sp>
      <p:sp>
        <p:nvSpPr>
          <p:cNvPr id="205" name="Google Shape;20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a:t>
            </a:r>
            <a:r>
              <a:rPr lang="ja"/>
              <a:t>形（設計）と動かし方（制御）を同時に学習させ、</a:t>
            </a:r>
            <a:br>
              <a:rPr lang="ja"/>
            </a:br>
            <a:r>
              <a:rPr lang="ja"/>
              <a:t>　「この形でこのタスクがどこまでできるか」を測る</a:t>
            </a:r>
            <a:endParaRPr/>
          </a:p>
          <a:p>
            <a:pPr indent="0" lvl="0" marL="0" rtl="0" algn="l">
              <a:spcBef>
                <a:spcPts val="1200"/>
              </a:spcBef>
              <a:spcAft>
                <a:spcPts val="1200"/>
              </a:spcAft>
              <a:buNone/>
            </a:pPr>
            <a:r>
              <a:rPr lang="ja"/>
              <a:t>・入出力</a:t>
            </a:r>
            <a:br>
              <a:rPr lang="ja"/>
            </a:br>
            <a:r>
              <a:rPr lang="ja"/>
              <a:t>入力：</a:t>
            </a:r>
            <a:r>
              <a:rPr lang="ja"/>
              <a:t>XML ＋ タスク（到達・押し・目標位置への押し）</a:t>
            </a:r>
            <a:br>
              <a:rPr lang="ja"/>
            </a:br>
            <a:r>
              <a:rPr lang="ja"/>
              <a:t>出力：</a:t>
            </a:r>
            <a:r>
              <a:rPr lang="ja"/>
              <a:t>スコア（学習曲線）・学習後の形,方策</a:t>
            </a:r>
            <a:r>
              <a:rPr lang="ja"/>
              <a:t>(best.p)</a:t>
            </a:r>
            <a:endParaRPr/>
          </a:p>
        </p:txBody>
      </p:sp>
      <p:pic>
        <p:nvPicPr>
          <p:cNvPr id="206" name="Google Shape;206;p35"/>
          <p:cNvPicPr preferRelativeResize="0"/>
          <p:nvPr/>
        </p:nvPicPr>
        <p:blipFill>
          <a:blip r:embed="rId3">
            <a:alphaModFix/>
          </a:blip>
          <a:stretch>
            <a:fillRect/>
          </a:stretch>
        </p:blipFill>
        <p:spPr>
          <a:xfrm>
            <a:off x="2131352" y="3369151"/>
            <a:ext cx="4881300" cy="1683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M6：フローの説明</a:t>
            </a:r>
            <a:endParaRPr/>
          </a:p>
          <a:p>
            <a:pPr indent="0" lvl="0" marL="0" rtl="0" algn="l">
              <a:spcBef>
                <a:spcPts val="0"/>
              </a:spcBef>
              <a:spcAft>
                <a:spcPts val="0"/>
              </a:spcAft>
              <a:buNone/>
            </a:pPr>
            <a:r>
              <a:t/>
            </a:r>
            <a:endParaRPr/>
          </a:p>
        </p:txBody>
      </p:sp>
      <p:sp>
        <p:nvSpPr>
          <p:cNvPr id="212" name="Google Shape;212;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①Leader が形を編集する（長さ・太さ・ギア比。リンクの数は変えない）</a:t>
            </a:r>
            <a:endParaRPr/>
          </a:p>
          <a:p>
            <a:pPr indent="0" lvl="0" marL="0" rtl="0" algn="l">
              <a:spcBef>
                <a:spcPts val="1200"/>
              </a:spcBef>
              <a:spcAft>
                <a:spcPts val="0"/>
              </a:spcAft>
              <a:buNone/>
            </a:pPr>
            <a:r>
              <a:rPr lang="ja"/>
              <a:t>②Follower がその形で最大 1200 ステップ動かす</a:t>
            </a:r>
            <a:br>
              <a:rPr lang="ja"/>
            </a:br>
            <a:r>
              <a:rPr lang="ja"/>
              <a:t>　報酬 ＝ タスク報酬 − 制御コスト</a:t>
            </a:r>
            <a:endParaRPr/>
          </a:p>
          <a:p>
            <a:pPr indent="0" lvl="0" marL="0" rtl="0" algn="l">
              <a:spcBef>
                <a:spcPts val="1200"/>
              </a:spcBef>
              <a:spcAft>
                <a:spcPts val="0"/>
              </a:spcAft>
              <a:buNone/>
            </a:pPr>
            <a:r>
              <a:rPr lang="ja"/>
              <a:t>③Leader の評価はFollower が得た報酬をそのまま引き継ぐ（設計中の報酬は 0）</a:t>
            </a:r>
            <a:endParaRPr/>
          </a:p>
          <a:p>
            <a:pPr indent="0" lvl="0" marL="0" rtl="0" algn="l">
              <a:spcBef>
                <a:spcPts val="1200"/>
              </a:spcBef>
              <a:spcAft>
                <a:spcPts val="0"/>
              </a:spcAft>
              <a:buNone/>
            </a:pPr>
            <a:r>
              <a:rPr lang="ja"/>
              <a:t>④1 epochごとに 5 万ステップ以上を集めて PPO で更新する（200 epoch）</a:t>
            </a:r>
            <a:endParaRPr/>
          </a:p>
          <a:p>
            <a:pPr indent="0" lvl="0" marL="0" rtl="0" algn="l">
              <a:spcBef>
                <a:spcPts val="1200"/>
              </a:spcBef>
              <a:spcAft>
                <a:spcPts val="0"/>
              </a:spcAft>
              <a:buNone/>
            </a:pPr>
            <a:r>
              <a:rPr lang="ja"/>
              <a:t>⑤形の候補どうしを学習曲線の順位で比べる</a:t>
            </a:r>
            <a:endParaRPr/>
          </a:p>
          <a:p>
            <a:pPr indent="0" lvl="0" marL="0" rtl="0" algn="l">
              <a:spcBef>
                <a:spcPts val="1200"/>
              </a:spcBef>
              <a:spcAft>
                <a:spcPts val="1200"/>
              </a:spcAft>
              <a:buNone/>
            </a:pPr>
            <a:r>
              <a:rPr lang="ja"/>
              <a:t>⑥最良の方策と形をチェックポイントに保存し、学習曲線をログに残す</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M6：</a:t>
            </a:r>
            <a:r>
              <a:rPr lang="ja"/>
              <a:t>検証して確認したこと</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a:t>
            </a:r>
            <a:r>
              <a:rPr lang="ja"/>
              <a:t>タスクごとに違う形に収束した(3 task × 2 seed)</a:t>
            </a:r>
            <a:endParaRPr/>
          </a:p>
          <a:p>
            <a:pPr indent="0" lvl="0" marL="0" rtl="0" algn="l">
              <a:spcBef>
                <a:spcPts val="1200"/>
              </a:spcBef>
              <a:spcAft>
                <a:spcPts val="0"/>
              </a:spcAft>
              <a:buNone/>
            </a:pPr>
            <a:r>
              <a:rPr lang="ja"/>
              <a:t>・seed</a:t>
            </a:r>
            <a:r>
              <a:rPr lang="ja"/>
              <a:t>を変えてもタスクごとに進化する形状の傾向は保たれた</a:t>
            </a:r>
            <a:endParaRPr/>
          </a:p>
          <a:p>
            <a:pPr indent="0" lvl="0" marL="0" rtl="0" algn="l">
              <a:spcBef>
                <a:spcPts val="1200"/>
              </a:spcBef>
              <a:spcAft>
                <a:spcPts val="1200"/>
              </a:spcAft>
              <a:buNone/>
            </a:pPr>
            <a:r>
              <a:rPr lang="ja"/>
              <a:t>・パーツ同士が</a:t>
            </a:r>
            <a:r>
              <a:rPr lang="ja"/>
              <a:t>自己干渉することを確認した</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a:t>
            </a:r>
            <a:r>
              <a:rPr lang="ja"/>
              <a:t>形態診断</a:t>
            </a:r>
            <a:endParaRPr/>
          </a:p>
        </p:txBody>
      </p:sp>
      <p:sp>
        <p:nvSpPr>
          <p:cNvPr id="224" name="Google Shape;22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・なにをする工程か</a:t>
            </a:r>
            <a:br>
              <a:rPr lang="ja"/>
            </a:br>
            <a:r>
              <a:rPr lang="ja"/>
              <a:t>⇒「向かない」とだけ返すのではなく、原因と直し方を返す。</a:t>
            </a:r>
            <a:br>
              <a:rPr lang="ja"/>
            </a:br>
            <a:r>
              <a:rPr lang="ja"/>
              <a:t>　生成 AI は使わず、閾値の判定と決まった文面で返す</a:t>
            </a:r>
            <a:r>
              <a:rPr lang="ja"/>
              <a:t>。</a:t>
            </a:r>
            <a:br>
              <a:rPr lang="ja"/>
            </a:br>
            <a:r>
              <a:rPr lang="ja"/>
              <a:t>　（学習を回すまでもなく失敗するとわかっているものを弾くパターンもある）</a:t>
            </a:r>
            <a:endParaRPr/>
          </a:p>
          <a:p>
            <a:pPr indent="0" lvl="0" marL="0" rtl="0" algn="l">
              <a:spcBef>
                <a:spcPts val="1200"/>
              </a:spcBef>
              <a:spcAft>
                <a:spcPts val="1200"/>
              </a:spcAft>
              <a:buNone/>
            </a:pPr>
            <a:r>
              <a:rPr lang="ja"/>
              <a:t>・入出力</a:t>
            </a:r>
            <a:br>
              <a:rPr lang="ja"/>
            </a:br>
            <a:r>
              <a:rPr lang="ja"/>
              <a:t>入力：</a:t>
            </a:r>
            <a:r>
              <a:rPr lang="ja"/>
              <a:t>XML（第 1 層）</a:t>
            </a:r>
            <a:br>
              <a:rPr lang="ja"/>
            </a:br>
            <a:r>
              <a:rPr lang="ja"/>
              <a:t>	　学習後のチェックポイント（第 2 層）</a:t>
            </a:r>
            <a:br>
              <a:rPr lang="ja"/>
            </a:br>
            <a:r>
              <a:rPr lang="ja"/>
              <a:t>	　方策を 1 エピソード動かした軌跡（第 3 層）</a:t>
            </a:r>
            <a:br>
              <a:rPr lang="ja"/>
            </a:br>
            <a:r>
              <a:rPr lang="ja"/>
              <a:t>出力：棄却か通過か・倍率の助言・指摘の文</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M7：フ</a:t>
            </a:r>
            <a:r>
              <a:rPr lang="ja"/>
              <a:t>ローの説明</a:t>
            </a:r>
            <a:endParaRPr/>
          </a:p>
          <a:p>
            <a:pPr indent="0" lvl="0" marL="0" rtl="0" algn="l">
              <a:spcBef>
                <a:spcPts val="0"/>
              </a:spcBef>
              <a:spcAft>
                <a:spcPts val="0"/>
              </a:spcAft>
              <a:buNone/>
            </a:pPr>
            <a:r>
              <a:t/>
            </a:r>
            <a:endParaRPr/>
          </a:p>
        </p:txBody>
      </p:sp>
      <p:sp>
        <p:nvSpPr>
          <p:cNvPr id="230" name="Google Shape;23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①</a:t>
            </a:r>
            <a:r>
              <a:rPr lang="ja"/>
              <a:t>第 1 層（学習前・約 1 秒）: 幾何だけで届くかを判定する。届かなければ棄却し「腕を N 倍に」と返す</a:t>
            </a:r>
            <a:r>
              <a:rPr lang="ja" sz="1300"/>
              <a:t>（切り上げ・余裕なし）</a:t>
            </a:r>
            <a:endParaRPr sz="1300"/>
          </a:p>
          <a:p>
            <a:pPr indent="0" lvl="0" marL="0" rtl="0" algn="l">
              <a:spcBef>
                <a:spcPts val="1200"/>
              </a:spcBef>
              <a:spcAft>
                <a:spcPts val="0"/>
              </a:spcAft>
              <a:buNone/>
            </a:pPr>
            <a:r>
              <a:rPr lang="ja"/>
              <a:t>②棄却されたら、N 倍した XML を自動で作ってもう一度判定する</a:t>
            </a:r>
            <a:endParaRPr/>
          </a:p>
          <a:p>
            <a:pPr indent="0" lvl="0" marL="0" rtl="0" algn="l">
              <a:spcBef>
                <a:spcPts val="1200"/>
              </a:spcBef>
              <a:spcAft>
                <a:spcPts val="0"/>
              </a:spcAft>
              <a:buNone/>
            </a:pPr>
            <a:r>
              <a:rPr lang="ja"/>
              <a:t>③</a:t>
            </a:r>
            <a:r>
              <a:rPr lang="ja"/>
              <a:t>第 2 層（学習後）: ギア比・太さが探索範囲の端に張り付いていないかを見る</a:t>
            </a:r>
            <a:endParaRPr/>
          </a:p>
          <a:p>
            <a:pPr indent="0" lvl="0" marL="0" rtl="0" algn="l">
              <a:spcBef>
                <a:spcPts val="1200"/>
              </a:spcBef>
              <a:spcAft>
                <a:spcPts val="0"/>
              </a:spcAft>
              <a:buNone/>
            </a:pPr>
            <a:r>
              <a:rPr lang="ja"/>
              <a:t>④</a:t>
            </a:r>
            <a:r>
              <a:rPr lang="ja"/>
              <a:t>第 3 層（学習後）: 1 エピソード動かし、戦略（一撃で飛ばす・押す・静止など）と、使っていない関節を報告する</a:t>
            </a:r>
            <a:endParaRPr/>
          </a:p>
          <a:p>
            <a:pPr indent="0" lvl="0" marL="0" rtl="0" algn="l">
              <a:spcBef>
                <a:spcPts val="1200"/>
              </a:spcBef>
              <a:spcAft>
                <a:spcPts val="1200"/>
              </a:spcAft>
              <a:buNone/>
            </a:pPr>
            <a:r>
              <a:rPr lang="ja"/>
              <a:t>⑤</a:t>
            </a:r>
            <a:r>
              <a:rPr lang="ja"/>
              <a:t>「この形ではできない」と断定するのは第 1 層だけ。第 2・3 層は報告にとどめる</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M7：検証</a:t>
            </a:r>
            <a:r>
              <a:rPr lang="ja"/>
              <a:t>して確認したこと</a:t>
            </a:r>
            <a:endParaRPr/>
          </a:p>
        </p:txBody>
      </p:sp>
      <p:sp>
        <p:nvSpPr>
          <p:cNvPr id="236" name="Google Shape;23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ja"/>
              <a:t>・</a:t>
            </a:r>
            <a:r>
              <a:rPr lang="ja"/>
              <a:t>短い腕のロボットを用いて、M7で達成不可能とでたものは実際にタスク順位が最下位だった</a:t>
            </a:r>
            <a:endParaRPr/>
          </a:p>
          <a:p>
            <a:pPr indent="0" lvl="0" marL="0" rtl="0" algn="l">
              <a:spcBef>
                <a:spcPts val="1200"/>
              </a:spcBef>
              <a:spcAft>
                <a:spcPts val="0"/>
              </a:spcAft>
              <a:buNone/>
            </a:pPr>
            <a:r>
              <a:rPr lang="ja"/>
              <a:t>・Reachタスクにおいて、第 1 層の助言（1.99 倍に伸ばせ）に従うと、</a:t>
            </a:r>
            <a:br>
              <a:rPr lang="ja"/>
            </a:br>
            <a:r>
              <a:rPr lang="ja"/>
              <a:t>　−396.92 → 平均−0.30 に改善した(数値は目標位置までの距離mm)</a:t>
            </a:r>
            <a:endParaRPr/>
          </a:p>
          <a:p>
            <a:pPr indent="0" lvl="0" marL="0" rtl="0" algn="l">
              <a:spcBef>
                <a:spcPts val="1200"/>
              </a:spcBef>
              <a:spcAft>
                <a:spcPts val="0"/>
              </a:spcAft>
              <a:buNone/>
            </a:pPr>
            <a:r>
              <a:rPr lang="ja"/>
              <a:t>・第 3 層の助言どおりに関節をfixしても成績は落ちない。むしろ上がったと</a:t>
            </a:r>
            <a:r>
              <a:rPr lang="ja"/>
              <a:t>確かめた</a:t>
            </a:r>
            <a:r>
              <a:rPr lang="ja"/>
              <a:t>(reach * 2seed)</a:t>
            </a:r>
            <a:br>
              <a:rPr lang="ja"/>
            </a:br>
            <a:r>
              <a:rPr lang="ja"/>
              <a:t>　⇒つまり</a:t>
            </a:r>
            <a:r>
              <a:rPr b="1" lang="ja">
                <a:solidFill>
                  <a:srgbClr val="FF0000"/>
                </a:solidFill>
              </a:rPr>
              <a:t>第三層を実装したことで効率的な設計を提案できた(例が1つだけ)</a:t>
            </a:r>
            <a:endParaRPr b="1">
              <a:solidFill>
                <a:srgbClr val="FF0000"/>
              </a:solidFill>
            </a:endParaRPr>
          </a:p>
          <a:p>
            <a:pPr indent="0" lvl="0" marL="0" rtl="0" algn="l">
              <a:spcBef>
                <a:spcPts val="1200"/>
              </a:spcBef>
              <a:spcAft>
                <a:spcPts val="0"/>
              </a:spcAft>
              <a:buNone/>
            </a:pPr>
            <a:r>
              <a:rPr lang="ja"/>
              <a:t>⚠ 第 2 層の判定だけでは、良い方にも悪い方にも誤る。閾値は較正していない</a:t>
            </a:r>
            <a:br>
              <a:rPr lang="ja"/>
            </a:br>
            <a:r>
              <a:rPr lang="ja"/>
              <a:t>⇒まあ正解は探索範囲の外にあるかもしれないね〜程度、アジャストな提案ができるようにはなっていない</a:t>
            </a:r>
            <a:endParaRPr/>
          </a:p>
          <a:p>
            <a:pPr indent="0" lvl="0" marL="0" rtl="0" algn="l">
              <a:spcBef>
                <a:spcPts val="1200"/>
              </a:spcBef>
              <a:spcAft>
                <a:spcPts val="1200"/>
              </a:spcAft>
              <a:buNone/>
            </a:pPr>
            <a:r>
              <a:rPr lang="ja"/>
              <a:t>⚠ パイプラインが出した不適合な形を、助言で直して学習で達成まで持っていった通しの例はまだ無い⇒これからやる予定かもしれない...（スケジュール的に無理そうだったら、自動スケールの軽微な修正はできました！だけにする）</a:t>
            </a:r>
            <a:endParaRPr/>
          </a:p>
        </p:txBody>
      </p:sp>
      <p:pic>
        <p:nvPicPr>
          <p:cNvPr id="237" name="Google Shape;237;p40" title="diagnosis_validation.png"/>
          <p:cNvPicPr preferRelativeResize="0"/>
          <p:nvPr/>
        </p:nvPicPr>
        <p:blipFill>
          <a:blip r:embed="rId3">
            <a:alphaModFix/>
          </a:blip>
          <a:stretch>
            <a:fillRect/>
          </a:stretch>
        </p:blipFill>
        <p:spPr>
          <a:xfrm>
            <a:off x="-2663900" y="3304201"/>
            <a:ext cx="2553951" cy="12646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a:t>
            </a:r>
            <a:r>
              <a:rPr lang="ja"/>
              <a:t>の棄却の判定閾値とアドバイス表</a:t>
            </a:r>
            <a:endParaRPr/>
          </a:p>
        </p:txBody>
      </p:sp>
      <p:sp>
        <p:nvSpPr>
          <p:cNvPr id="243" name="Google Shape;24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4" name="Google Shape;244;p41"/>
          <p:cNvPicPr preferRelativeResize="0"/>
          <p:nvPr/>
        </p:nvPicPr>
        <p:blipFill>
          <a:blip r:embed="rId3">
            <a:alphaModFix/>
          </a:blip>
          <a:stretch>
            <a:fillRect/>
          </a:stretch>
        </p:blipFill>
        <p:spPr>
          <a:xfrm>
            <a:off x="0" y="1456430"/>
            <a:ext cx="9144003" cy="31700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a:t>
            </a:r>
            <a:r>
              <a:rPr lang="ja"/>
              <a:t>：閉ループの概要</a:t>
            </a:r>
            <a:endParaRPr/>
          </a:p>
        </p:txBody>
      </p:sp>
      <p:sp>
        <p:nvSpPr>
          <p:cNvPr id="250" name="Google Shape;25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1" name="Google Shape;251;p42"/>
          <p:cNvPicPr preferRelativeResize="0"/>
          <p:nvPr/>
        </p:nvPicPr>
        <p:blipFill>
          <a:blip r:embed="rId3">
            <a:alphaModFix/>
          </a:blip>
          <a:stretch>
            <a:fillRect/>
          </a:stretch>
        </p:blipFill>
        <p:spPr>
          <a:xfrm>
            <a:off x="0" y="1855143"/>
            <a:ext cx="9144003" cy="14332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a:t>
            </a:r>
            <a:r>
              <a:rPr lang="ja"/>
              <a:t>：第二層学習後の形</a:t>
            </a:r>
            <a:endParaRPr/>
          </a:p>
        </p:txBody>
      </p:sp>
      <p:sp>
        <p:nvSpPr>
          <p:cNvPr id="257" name="Google Shape;25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8" name="Google Shape;258;p43"/>
          <p:cNvPicPr preferRelativeResize="0"/>
          <p:nvPr/>
        </p:nvPicPr>
        <p:blipFill>
          <a:blip r:embed="rId3">
            <a:alphaModFix/>
          </a:blip>
          <a:stretch>
            <a:fillRect/>
          </a:stretch>
        </p:blipFill>
        <p:spPr>
          <a:xfrm>
            <a:off x="0" y="1569393"/>
            <a:ext cx="9144003" cy="200471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M7:</a:t>
            </a:r>
            <a:r>
              <a:rPr lang="ja"/>
              <a:t>第３層</a:t>
            </a:r>
            <a:endParaRPr/>
          </a:p>
        </p:txBody>
      </p:sp>
      <p:sp>
        <p:nvSpPr>
          <p:cNvPr id="264" name="Google Shape;264;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5" name="Google Shape;265;p44"/>
          <p:cNvPicPr preferRelativeResize="0"/>
          <p:nvPr/>
        </p:nvPicPr>
        <p:blipFill>
          <a:blip r:embed="rId3">
            <a:alphaModFix/>
          </a:blip>
          <a:stretch>
            <a:fillRect/>
          </a:stretch>
        </p:blipFill>
        <p:spPr>
          <a:xfrm>
            <a:off x="0" y="1614041"/>
            <a:ext cx="9144003" cy="191541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