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h411edbbbcdea00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h411edbbbcdea00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h411edbbbcdea00d4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h411edbbbcdea00d4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h411edbbbcdea00d4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h411edbbbcdea00d4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h411edbbbcdea00d4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h411edbbbcdea00d4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glb</a:t>
            </a:r>
            <a:r>
              <a:rPr lang="ja"/>
              <a:t>ファイルとは3D界隈のjpegぐらいの標準形式</a:t>
            </a:r>
            <a:br>
              <a:rPr lang="ja"/>
            </a:br>
            <a:r>
              <a:rPr lang="ja">
                <a:solidFill>
                  <a:schemeClr val="dk1"/>
                </a:solidFill>
              </a:rPr>
              <a:t>STLファイルが「表面の三角形の座標だけ」を持っていたのに対し、GLBファイルは</a:t>
            </a:r>
            <a:r>
              <a:rPr b="1" lang="ja">
                <a:solidFill>
                  <a:schemeClr val="dk1"/>
                </a:solidFill>
              </a:rPr>
              <a:t>1つのファイルの中に3D表示に必要なすべての情報</a:t>
            </a:r>
            <a:r>
              <a:rPr lang="ja">
                <a:solidFill>
                  <a:schemeClr val="dk1"/>
                </a:solidFill>
              </a:rPr>
              <a:t>を含めることができます。</a:t>
            </a:r>
            <a:endParaRPr>
              <a:solidFill>
                <a:schemeClr val="dk1"/>
              </a:solidFill>
            </a:endParaRPr>
          </a:p>
          <a:p>
            <a:pPr indent="-298450" lvl="0" marL="457200" rtl="0" algn="l">
              <a:lnSpc>
                <a:spcPct val="115000"/>
              </a:lnSpc>
              <a:spcBef>
                <a:spcPts val="1200"/>
              </a:spcBef>
              <a:spcAft>
                <a:spcPts val="0"/>
              </a:spcAft>
              <a:buClr>
                <a:schemeClr val="dk1"/>
              </a:buClr>
              <a:buSzPts val="1100"/>
              <a:buChar char="●"/>
            </a:pPr>
            <a:r>
              <a:rPr b="1" lang="ja">
                <a:solidFill>
                  <a:schemeClr val="dk1"/>
                </a:solidFill>
              </a:rPr>
              <a:t>形状データ（メッシュ・頂点座標・法線）</a:t>
            </a:r>
            <a:endParaRPr b="1">
              <a:solidFill>
                <a:schemeClr val="dk1"/>
              </a:solidFill>
            </a:endParaRPr>
          </a:p>
          <a:p>
            <a:pPr indent="-298450" lvl="0" marL="457200" rtl="0" algn="l">
              <a:lnSpc>
                <a:spcPct val="115000"/>
              </a:lnSpc>
              <a:spcBef>
                <a:spcPts val="0"/>
              </a:spcBef>
              <a:spcAft>
                <a:spcPts val="0"/>
              </a:spcAft>
              <a:buClr>
                <a:schemeClr val="dk1"/>
              </a:buClr>
              <a:buSzPts val="1100"/>
              <a:buChar char="●"/>
            </a:pPr>
            <a:r>
              <a:rPr b="1" lang="ja">
                <a:solidFill>
                  <a:schemeClr val="dk1"/>
                </a:solidFill>
              </a:rPr>
              <a:t>見た目の質感（マテリアル・PBR）</a:t>
            </a:r>
            <a:r>
              <a:rPr lang="ja">
                <a:solidFill>
                  <a:schemeClr val="dk1"/>
                </a:solidFill>
              </a:rPr>
              <a:t>：金属感（Roughness/Metallic）や透明度など</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ja">
                <a:solidFill>
                  <a:schemeClr val="dk1"/>
                </a:solidFill>
              </a:rPr>
              <a:t>テクスチャ画像（PNG / JPEG）</a:t>
            </a:r>
            <a:r>
              <a:rPr lang="ja">
                <a:solidFill>
                  <a:schemeClr val="dk1"/>
                </a:solidFill>
              </a:rPr>
              <a:t>：色や表面の細かい凹凸画像データが内部に組み込まれている</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ja">
                <a:solidFill>
                  <a:schemeClr val="dk1"/>
                </a:solidFill>
              </a:rPr>
              <a:t>骨格・アニメーション（スケルトン・キーフレーム）</a:t>
            </a:r>
            <a:r>
              <a:rPr lang="ja">
                <a:solidFill>
                  <a:schemeClr val="dk1"/>
                </a:solidFill>
              </a:rPr>
              <a:t>：キャラクターの動きなど</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ja">
                <a:solidFill>
                  <a:schemeClr val="dk1"/>
                </a:solidFill>
              </a:rPr>
              <a:t>シーングラフ構造</a:t>
            </a:r>
            <a:r>
              <a:rPr lang="ja">
                <a:solidFill>
                  <a:schemeClr val="dk1"/>
                </a:solidFill>
              </a:rPr>
              <a:t>：複数パーツの位置関係・親子関係</a:t>
            </a:r>
            <a:endParaRPr>
              <a:solidFill>
                <a:schemeClr val="dk1"/>
              </a:solidFill>
            </a:endParaRPr>
          </a:p>
          <a:p>
            <a:pPr indent="0" lvl="0" marL="0" rtl="0" algn="l">
              <a:spcBef>
                <a:spcPts val="1200"/>
              </a:spcBef>
              <a:spcAft>
                <a:spcPts val="0"/>
              </a:spcAft>
              <a:buNone/>
            </a:pPr>
            <a:br>
              <a:rPr lang="ja"/>
            </a:b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h411edbbbcdea00d4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 name="Google Shape;85;h411edbbbcdea00d4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h411edbbbcdea00d4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h411edbbbcdea00d4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h411edbbbcdea00d4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h411edbbbcdea00d4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stl</a:t>
            </a:r>
            <a:r>
              <a:rPr lang="ja"/>
              <a:t>ファイルには</a:t>
            </a:r>
            <a:r>
              <a:rPr lang="ja" sz="1300">
                <a:solidFill>
                  <a:srgbClr val="1F1F1F"/>
                </a:solidFill>
                <a:highlight>
                  <a:srgbClr val="F2F0F0"/>
                </a:highlight>
              </a:rPr>
              <a:t>三角形をした各ポリゴンの三次元座標が入っている</a:t>
            </a:r>
            <a:br>
              <a:rPr lang="ja" sz="1300">
                <a:solidFill>
                  <a:srgbClr val="1F1F1F"/>
                </a:solidFill>
                <a:highlight>
                  <a:srgbClr val="F2F0F0"/>
                </a:highlight>
              </a:rPr>
            </a:br>
            <a:r>
              <a:rPr lang="ja" sz="1300">
                <a:solidFill>
                  <a:srgbClr val="1F1F1F"/>
                </a:solidFill>
                <a:highlight>
                  <a:srgbClr val="F2F0F0"/>
                </a:highlight>
              </a:rPr>
              <a:t>関節の座標はマゼンタの大きさが既知だから座標だけあればセグメンテーションには困らないってことかな？（半径がわかっていれば中心座標だけでいいので）</a:t>
            </a:r>
            <a:br>
              <a:rPr lang="ja" sz="1300">
                <a:solidFill>
                  <a:srgbClr val="1F1F1F"/>
                </a:solidFill>
                <a:highlight>
                  <a:srgbClr val="F2F0F0"/>
                </a:highlight>
              </a:rPr>
            </a:b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h411edbbbcdea00d4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h411edbbbcdea00d4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11edbbbcdea00d4_0_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11edbbbcdea00d4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h411edbbbcdea00d4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h411edbbbcdea00d4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この後のスライドで太さと長さを求めた後色々しているから何をする工程かっていうのはこれはちょっと違う？</a:t>
            </a:r>
            <a:endParaRPr/>
          </a:p>
          <a:p>
            <a:pPr indent="0" lvl="0" marL="0" rtl="0" algn="l">
              <a:spcBef>
                <a:spcPts val="0"/>
              </a:spcBef>
              <a:spcAft>
                <a:spcPts val="0"/>
              </a:spcAft>
              <a:buNone/>
            </a:pPr>
            <a:r>
              <a:rPr lang="ja"/>
              <a:t>topology.json</a:t>
            </a:r>
            <a:r>
              <a:rPr lang="ja"/>
              <a:t>とは？</a:t>
            </a:r>
            <a:br>
              <a:rPr lang="ja"/>
            </a:br>
            <a:r>
              <a:rPr lang="ja"/>
              <a:t>どういう形式のデータ？</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h411edbbbcdea00d4_0_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h411edbbbcdea00d4_0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h411edbbbcdea00d4_0_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 name="Google Shape;129;h411edbbbcdea00d4_0_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全体的によくわからないので、後でclaudeにきく</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h411edbbbcdea00d4_0_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h411edbbbcdea00d4_0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ここの変換するってのは、XMLをchoreonoidが読むときにurdfにするっていう意味であってる？</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h411edbbbcdea00d4_0_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h411edbbbcdea00d4_0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取り付けるとは具体的にどういう操作をしている？</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h411edbbbcdea00d4_0_1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h411edbbbcdea00d4_0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なんか確認したことに当たり前だよねみたいな話もあるし、でも当たり前ができているかも確認するのが検証だし...</a:t>
            </a:r>
            <a:br>
              <a:rPr lang="ja"/>
            </a:br>
            <a:r>
              <a:rPr lang="ja"/>
              <a:t>あと、「</a:t>
            </a:r>
            <a:r>
              <a:rPr lang="ja" sz="1000">
                <a:solidFill>
                  <a:srgbClr val="CCCCCC"/>
                </a:solidFill>
                <a:highlight>
                  <a:srgbClr val="181818"/>
                </a:highlight>
              </a:rPr>
              <a:t>表示用モデルと物理モデルのずれを無くした」とかも、デモを再生するために〜の部分が抜けているせいで「？」って感じだから説明の粒度を揃えたいね</a:t>
            </a:r>
            <a:br>
              <a:rPr lang="ja" sz="1000">
                <a:solidFill>
                  <a:srgbClr val="CCCCCC"/>
                </a:solidFill>
                <a:highlight>
                  <a:srgbClr val="181818"/>
                </a:highlight>
              </a:rPr>
            </a:br>
            <a:r>
              <a:rPr lang="ja" sz="1000">
                <a:solidFill>
                  <a:srgbClr val="CCCCCC"/>
                </a:solidFill>
                <a:highlight>
                  <a:srgbClr val="181818"/>
                </a:highlight>
              </a:rPr>
              <a:t>①基本機能の検証</a:t>
            </a:r>
            <a:br>
              <a:rPr lang="ja" sz="1000">
                <a:solidFill>
                  <a:srgbClr val="CCCCCC"/>
                </a:solidFill>
                <a:highlight>
                  <a:srgbClr val="181818"/>
                </a:highlight>
              </a:rPr>
            </a:br>
            <a:r>
              <a:rPr lang="ja" sz="1000">
                <a:solidFill>
                  <a:srgbClr val="CCCCCC"/>
                </a:solidFill>
                <a:highlight>
                  <a:srgbClr val="181818"/>
                </a:highlight>
              </a:rPr>
              <a:t>②実装した発展機能の検証</a:t>
            </a:r>
            <a:br>
              <a:rPr lang="ja" sz="1000">
                <a:solidFill>
                  <a:srgbClr val="CCCCCC"/>
                </a:solidFill>
                <a:highlight>
                  <a:srgbClr val="181818"/>
                </a:highlight>
              </a:rPr>
            </a:br>
            <a:r>
              <a:rPr lang="ja" sz="1000">
                <a:solidFill>
                  <a:srgbClr val="CCCCCC"/>
                </a:solidFill>
                <a:highlight>
                  <a:srgbClr val="181818"/>
                </a:highlight>
              </a:rPr>
              <a:t>そんで論文に書くのはあくまで①だけとかね</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h411edbbbcdea00d4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3" name="Google Shape;153;h411edbbbcdea00d4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ここの変換するってのは、XMLをchoreonoidが読むときにurdfにするっていう意味であってる？</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h411edbbbcdea00d4_0_1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 name="Google Shape;160;h411edbbbcdea00d4_0_1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前のスライドの出力の部分がコア（学習曲線）・学習後の形(XML?)・方策とかいてあるならフローの最後もそれらを示すべき。</a:t>
            </a:r>
            <a:endParaRPr/>
          </a:p>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h411edbbbcdea00d4_0_1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h411edbbbcdea00d4_0_1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これらって検証ってよりは実験でわかった傾向じゃない？</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h411edbbbcdea00d4_0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h411edbbbcdea00d4_0_1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h411edbbbcdea00d4_0_1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h411edbbbcdea00d4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切り上げ、余裕なしって何？</a:t>
            </a:r>
            <a:br>
              <a:rPr lang="ja"/>
            </a:br>
            <a:r>
              <a:rPr lang="ja"/>
              <a:t>なんで張り付いていたら(探索範囲の上限と下限にいたら　)だめなんだっけ？</a:t>
            </a:r>
            <a:br>
              <a:rPr lang="ja"/>
            </a:b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h411edbbbcdea00d4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h411edbbbcdea00d4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これらって検証ってよりは実験でわかった傾向じゃない？</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h411edbbbcdea00d4_0_1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 name="Google Shape;190;h411edbbbcdea00d4_0_1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h411edbbbcdea00d4_0_1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h411edbbbcdea00d4_0_1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h411edbbbcdea00d4_0_1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h411edbbbcdea00d4_0_1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h411edbbbcdea00d4_0_1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1" name="Google Shape;211;h411edbbbcdea00d4_0_1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ja"/>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M1</a:t>
            </a:r>
            <a:r>
              <a:rPr lang="ja"/>
              <a:t>：画像整形(Gemini API)</a:t>
            </a:r>
            <a:endParaRPr/>
          </a:p>
        </p:txBody>
      </p:sp>
      <p:sp>
        <p:nvSpPr>
          <p:cNvPr id="61" name="Google Shape;61;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ja"/>
              <a:t>・なにをする工程か</a:t>
            </a:r>
            <a:br>
              <a:rPr lang="ja"/>
            </a:br>
            <a:r>
              <a:rPr lang="ja"/>
              <a:t>⇒手描きスケッチを、後の3D化とセグメンテーションで扱いやすい</a:t>
            </a:r>
            <a:br>
              <a:rPr lang="ja"/>
            </a:br>
            <a:r>
              <a:rPr lang="ja"/>
              <a:t>「CAD風スケッチ」の画像に描き直す</a:t>
            </a:r>
            <a:endParaRPr/>
          </a:p>
          <a:p>
            <a:pPr indent="0" lvl="0" marL="0" rtl="0" algn="l">
              <a:spcBef>
                <a:spcPts val="1200"/>
              </a:spcBef>
              <a:spcAft>
                <a:spcPts val="1200"/>
              </a:spcAft>
              <a:buNone/>
            </a:pPr>
            <a:r>
              <a:rPr lang="ja"/>
              <a:t>・入出力</a:t>
            </a:r>
            <a:br>
              <a:rPr lang="ja"/>
            </a:br>
            <a:r>
              <a:rPr lang="ja"/>
              <a:t>入力：手描きスケッチ(png)+固定プロンプト</a:t>
            </a:r>
            <a:br>
              <a:rPr lang="ja"/>
            </a:br>
            <a:r>
              <a:rPr lang="ja"/>
              <a:t>出力：整形済み画像(png)</a:t>
            </a:r>
            <a:endParaRPr/>
          </a:p>
        </p:txBody>
      </p:sp>
      <p:pic>
        <p:nvPicPr>
          <p:cNvPr id="62" name="Google Shape;62;p14"/>
          <p:cNvPicPr preferRelativeResize="0"/>
          <p:nvPr/>
        </p:nvPicPr>
        <p:blipFill>
          <a:blip r:embed="rId3">
            <a:alphaModFix/>
          </a:blip>
          <a:stretch>
            <a:fillRect/>
          </a:stretch>
        </p:blipFill>
        <p:spPr>
          <a:xfrm>
            <a:off x="5250101" y="2632300"/>
            <a:ext cx="3626799" cy="21287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ja"/>
              <a:t>M1：プロンプト</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ja"/>
              <a:t>プロンプトのルール</a:t>
            </a:r>
            <a:br>
              <a:rPr lang="ja"/>
            </a:br>
            <a:r>
              <a:rPr b="1" lang="ja">
                <a:solidFill>
                  <a:srgbClr val="FF0000"/>
                </a:solidFill>
              </a:rPr>
              <a:t>①関節ごとに純マゼンタの球を一個ずつ描かせる</a:t>
            </a:r>
            <a:br>
              <a:rPr b="1" lang="ja">
                <a:solidFill>
                  <a:srgbClr val="FF0000"/>
                </a:solidFill>
              </a:rPr>
            </a:br>
            <a:r>
              <a:rPr b="1" lang="ja">
                <a:solidFill>
                  <a:srgbClr val="FF0000"/>
                </a:solidFill>
              </a:rPr>
              <a:t>②</a:t>
            </a:r>
            <a:r>
              <a:rPr b="1" lang="ja">
                <a:solidFill>
                  <a:srgbClr val="FF0000"/>
                </a:solidFill>
              </a:rPr>
              <a:t>スケッチのリンク長の比を保たせる</a:t>
            </a:r>
            <a:br>
              <a:rPr lang="ja"/>
            </a:br>
            <a:r>
              <a:rPr lang="ja"/>
              <a:t>③各リンクを単色で塗り分ける</a:t>
            </a:r>
            <a:br>
              <a:rPr lang="ja"/>
            </a:br>
            <a:r>
              <a:rPr lang="ja"/>
              <a:t>④関節の場所を言葉で列挙し(台座と上腕の間など)、球の個数を自己点検させる</a:t>
            </a:r>
            <a:br>
              <a:rPr lang="ja"/>
            </a:br>
            <a:r>
              <a:rPr lang="ja"/>
              <a:t>⑤腕がユーザスケッチで寝ている場合でも立てて描かせる</a:t>
            </a:r>
            <a:br>
              <a:rPr lang="ja"/>
            </a:br>
            <a:r>
              <a:rPr lang="ja"/>
              <a:t>⑥画像内に寸法や文字などを入れない</a:t>
            </a:r>
            <a:br>
              <a:rPr lang="ja"/>
            </a:br>
            <a:endParaRPr/>
          </a:p>
        </p:txBody>
      </p:sp>
      <p:pic>
        <p:nvPicPr>
          <p:cNvPr id="69" name="Google Shape;69;p15"/>
          <p:cNvPicPr preferRelativeResize="0"/>
          <p:nvPr/>
        </p:nvPicPr>
        <p:blipFill>
          <a:blip r:embed="rId3">
            <a:alphaModFix/>
          </a:blip>
          <a:stretch>
            <a:fillRect/>
          </a:stretch>
        </p:blipFill>
        <p:spPr>
          <a:xfrm>
            <a:off x="5857325" y="3236300"/>
            <a:ext cx="2847475" cy="16713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ja"/>
              <a:t>M1：検証して確認したこと</a:t>
            </a:r>
            <a:endParaRPr/>
          </a:p>
        </p:txBody>
      </p:sp>
      <p:sp>
        <p:nvSpPr>
          <p:cNvPr id="75" name="Google Shape;75;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ja"/>
              <a:t>・手描き5例全てでマーカー(関節のマゼンタ球)が3個でた</a:t>
            </a:r>
            <a:endParaRPr/>
          </a:p>
          <a:p>
            <a:pPr indent="0" lvl="0" marL="0" rtl="0" algn="l">
              <a:spcBef>
                <a:spcPts val="1200"/>
              </a:spcBef>
              <a:spcAft>
                <a:spcPts val="1200"/>
              </a:spcAft>
              <a:buNone/>
            </a:pPr>
            <a:r>
              <a:rPr lang="ja"/>
              <a:t>・Geminiの温度</a:t>
            </a:r>
            <a:r>
              <a:rPr lang="ja" sz="1600"/>
              <a:t>(モデルが出力するトークンのランダムさを決定する数値)</a:t>
            </a:r>
            <a:r>
              <a:rPr lang="ja"/>
              <a:t>が0でも出力は毎回変わる。同じ入力でリンク比が 1.05〜1.21 倍の範囲で揺れる</a:t>
            </a:r>
            <a:br>
              <a:rPr lang="ja"/>
            </a:b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M2：3D</a:t>
            </a:r>
            <a:r>
              <a:rPr lang="ja"/>
              <a:t>形状生成</a:t>
            </a:r>
            <a:r>
              <a:rPr lang="ja"/>
              <a:t>(Tripo3D API)</a:t>
            </a:r>
            <a:endParaRPr/>
          </a:p>
        </p:txBody>
      </p:sp>
      <p:sp>
        <p:nvSpPr>
          <p:cNvPr id="81" name="Google Shape;81;p1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ja"/>
              <a:t>・なにをする工程か</a:t>
            </a:r>
            <a:br>
              <a:rPr lang="ja"/>
            </a:br>
            <a:r>
              <a:rPr lang="ja"/>
              <a:t>⇒</a:t>
            </a:r>
            <a:r>
              <a:rPr lang="ja"/>
              <a:t>整形済み画像から 3D メッシュを作る（既存のサービスをそのまま使う）</a:t>
            </a:r>
            <a:endParaRPr/>
          </a:p>
          <a:p>
            <a:pPr indent="0" lvl="0" marL="0" rtl="0" algn="l">
              <a:spcBef>
                <a:spcPts val="1200"/>
              </a:spcBef>
              <a:spcAft>
                <a:spcPts val="1200"/>
              </a:spcAft>
              <a:buNone/>
            </a:pPr>
            <a:r>
              <a:rPr lang="ja"/>
              <a:t>・入出力</a:t>
            </a:r>
            <a:br>
              <a:rPr lang="ja"/>
            </a:br>
            <a:r>
              <a:rPr lang="ja"/>
              <a:t>入力：</a:t>
            </a:r>
            <a:r>
              <a:rPr lang="ja"/>
              <a:t>整形済みスケッチ</a:t>
            </a:r>
            <a:r>
              <a:rPr lang="ja"/>
              <a:t>(png)</a:t>
            </a:r>
            <a:br>
              <a:rPr lang="ja"/>
            </a:br>
            <a:r>
              <a:rPr lang="ja"/>
              <a:t>出力：3D</a:t>
            </a:r>
            <a:r>
              <a:rPr lang="ja"/>
              <a:t>モデル(glb,色付き)</a:t>
            </a:r>
            <a:endParaRPr/>
          </a:p>
        </p:txBody>
      </p:sp>
      <p:pic>
        <p:nvPicPr>
          <p:cNvPr id="82" name="Google Shape;82;p17"/>
          <p:cNvPicPr preferRelativeResize="0"/>
          <p:nvPr/>
        </p:nvPicPr>
        <p:blipFill>
          <a:blip r:embed="rId3">
            <a:alphaModFix/>
          </a:blip>
          <a:stretch>
            <a:fillRect/>
          </a:stretch>
        </p:blipFill>
        <p:spPr>
          <a:xfrm>
            <a:off x="5159101" y="2441100"/>
            <a:ext cx="2920050" cy="231362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ja"/>
              <a:t>M2：フローの説明</a:t>
            </a:r>
            <a:endParaRPr/>
          </a:p>
          <a:p>
            <a:pPr indent="0" lvl="0" marL="0" rtl="0" algn="l">
              <a:spcBef>
                <a:spcPts val="0"/>
              </a:spcBef>
              <a:spcAft>
                <a:spcPts val="0"/>
              </a:spcAft>
              <a:buNone/>
            </a:pPr>
            <a:r>
              <a:t/>
            </a:r>
            <a:endParaRPr/>
          </a:p>
        </p:txBody>
      </p:sp>
      <p:sp>
        <p:nvSpPr>
          <p:cNvPr id="88" name="Google Shape;88;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ja"/>
              <a:t>①整形済み画像を Tripo3D に渡す（seed を固定）</a:t>
            </a:r>
            <a:endParaRPr/>
          </a:p>
          <a:p>
            <a:pPr indent="0" lvl="0" marL="0" rtl="0" algn="l">
              <a:spcBef>
                <a:spcPts val="1200"/>
              </a:spcBef>
              <a:spcAft>
                <a:spcPts val="0"/>
              </a:spcAft>
              <a:buNone/>
            </a:pPr>
            <a:r>
              <a:rPr lang="ja"/>
              <a:t>②色付きの glb を受け取る</a:t>
            </a:r>
            <a:endParaRPr/>
          </a:p>
          <a:p>
            <a:pPr indent="0" lvl="0" marL="0" rtl="0" algn="l">
              <a:spcBef>
                <a:spcPts val="1200"/>
              </a:spcBef>
              <a:spcAft>
                <a:spcPts val="0"/>
              </a:spcAft>
              <a:buNone/>
            </a:pPr>
            <a:r>
              <a:rPr lang="ja"/>
              <a:t>③大きさはサービス側が自動で「最も長い辺 ＝ 1 m」にそろえる</a:t>
            </a:r>
            <a:endParaRPr/>
          </a:p>
          <a:p>
            <a:pPr indent="0" lvl="0" marL="0" rtl="0" algn="l">
              <a:spcBef>
                <a:spcPts val="1200"/>
              </a:spcBef>
              <a:spcAft>
                <a:spcPts val="1200"/>
              </a:spcAft>
              <a:buNone/>
            </a:pPr>
            <a:r>
              <a:t/>
            </a:r>
            <a:endParaRPr/>
          </a:p>
        </p:txBody>
      </p:sp>
      <p:pic>
        <p:nvPicPr>
          <p:cNvPr id="89" name="Google Shape;89;p18"/>
          <p:cNvPicPr preferRelativeResize="0"/>
          <p:nvPr/>
        </p:nvPicPr>
        <p:blipFill>
          <a:blip r:embed="rId3">
            <a:alphaModFix/>
          </a:blip>
          <a:stretch>
            <a:fillRect/>
          </a:stretch>
        </p:blipFill>
        <p:spPr>
          <a:xfrm>
            <a:off x="5203701" y="2606800"/>
            <a:ext cx="2920050" cy="23136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M2：</a:t>
            </a:r>
            <a:r>
              <a:rPr lang="ja"/>
              <a:t>検証して確認したこと</a:t>
            </a:r>
            <a:endParaRPr/>
          </a:p>
        </p:txBody>
      </p:sp>
      <p:sp>
        <p:nvSpPr>
          <p:cNvPr id="95" name="Google Shape;95;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ja"/>
              <a:t>・Tripo3Dはseed値を固定すると、入力が同じ画像だと同じ3Dを生成する</a:t>
            </a:r>
            <a:br>
              <a:rPr lang="ja"/>
            </a:br>
            <a:r>
              <a:rPr lang="ja"/>
              <a:t>・</a:t>
            </a:r>
            <a:r>
              <a:rPr lang="ja"/>
              <a:t>真横から描いた絵は4/4で成功したが、同じものを斜めから描いたものだと0/2</a:t>
            </a:r>
            <a:br>
              <a:rPr lang="ja"/>
            </a:br>
            <a:r>
              <a:rPr lang="ja"/>
              <a:t>⇒ここでいう成功失敗はなに？モデルの失敗？元の比が保たれていない？geminiの段階では良かったの？</a:t>
            </a:r>
            <a:br>
              <a:rPr lang="ja"/>
            </a:br>
            <a:br>
              <a:rPr lang="ja"/>
            </a:b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M3</a:t>
            </a:r>
            <a:r>
              <a:rPr lang="ja"/>
              <a:t>：関節検出・リンク分割</a:t>
            </a:r>
            <a:endParaRPr/>
          </a:p>
        </p:txBody>
      </p:sp>
      <p:sp>
        <p:nvSpPr>
          <p:cNvPr id="101" name="Google Shape;101;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ja"/>
              <a:t>・なにをする工程か</a:t>
            </a:r>
            <a:br>
              <a:rPr lang="ja"/>
            </a:br>
            <a:r>
              <a:rPr lang="ja"/>
              <a:t>⇒</a:t>
            </a:r>
            <a:r>
              <a:rPr lang="ja"/>
              <a:t>3D モデルからマゼンタの球を見つけて関節の位置を決め、</a:t>
            </a:r>
            <a:br>
              <a:rPr lang="ja"/>
            </a:br>
            <a:r>
              <a:rPr lang="ja"/>
              <a:t>　メッシュをリンクごとに切り分ける</a:t>
            </a:r>
            <a:endParaRPr/>
          </a:p>
          <a:p>
            <a:pPr indent="0" lvl="0" marL="0" rtl="0" algn="l">
              <a:spcBef>
                <a:spcPts val="1200"/>
              </a:spcBef>
              <a:spcAft>
                <a:spcPts val="0"/>
              </a:spcAft>
              <a:buNone/>
            </a:pPr>
            <a:r>
              <a:rPr lang="ja"/>
              <a:t>入出力</a:t>
            </a:r>
            <a:endParaRPr/>
          </a:p>
          <a:p>
            <a:pPr indent="0" lvl="0" marL="0" rtl="0" algn="l">
              <a:spcBef>
                <a:spcPts val="1200"/>
              </a:spcBef>
              <a:spcAft>
                <a:spcPts val="1200"/>
              </a:spcAft>
              <a:buNone/>
            </a:pPr>
            <a:r>
              <a:rPr lang="ja"/>
              <a:t>・入出力</a:t>
            </a:r>
            <a:br>
              <a:rPr lang="ja"/>
            </a:br>
            <a:r>
              <a:rPr lang="ja"/>
              <a:t>入力：3D</a:t>
            </a:r>
            <a:r>
              <a:rPr lang="ja"/>
              <a:t>形状(glb)</a:t>
            </a:r>
            <a:br>
              <a:rPr lang="ja"/>
            </a:br>
            <a:r>
              <a:rPr lang="ja"/>
              <a:t>出力：</a:t>
            </a:r>
            <a:r>
              <a:rPr lang="ja"/>
              <a:t>リンクごとのSTL,関節の座標</a:t>
            </a:r>
            <a:endParaRPr/>
          </a:p>
        </p:txBody>
      </p:sp>
      <p:pic>
        <p:nvPicPr>
          <p:cNvPr id="102" name="Google Shape;102;p20"/>
          <p:cNvPicPr preferRelativeResize="0"/>
          <p:nvPr/>
        </p:nvPicPr>
        <p:blipFill>
          <a:blip r:embed="rId3">
            <a:alphaModFix/>
          </a:blip>
          <a:stretch>
            <a:fillRect/>
          </a:stretch>
        </p:blipFill>
        <p:spPr>
          <a:xfrm>
            <a:off x="5250101" y="2632300"/>
            <a:ext cx="3626799" cy="21287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M3：フローの説明</a:t>
            </a:r>
            <a:endParaRPr/>
          </a:p>
          <a:p>
            <a:pPr indent="0" lvl="0" marL="0" rtl="0" algn="l">
              <a:spcBef>
                <a:spcPts val="0"/>
              </a:spcBef>
              <a:spcAft>
                <a:spcPts val="0"/>
              </a:spcAft>
              <a:buNone/>
            </a:pPr>
            <a:r>
              <a:t/>
            </a:r>
            <a:endParaRPr/>
          </a:p>
        </p:txBody>
      </p:sp>
      <p:sp>
        <p:nvSpPr>
          <p:cNvPr id="108" name="Google Shape;108;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ja"/>
              <a:t>①</a:t>
            </a:r>
            <a:r>
              <a:rPr lang="ja"/>
              <a:t>テクスチャの色を頂点に移す</a:t>
            </a:r>
            <a:endParaRPr/>
          </a:p>
          <a:p>
            <a:pPr indent="0" lvl="0" marL="0" rtl="0" algn="l">
              <a:spcBef>
                <a:spcPts val="1200"/>
              </a:spcBef>
              <a:spcAft>
                <a:spcPts val="0"/>
              </a:spcAft>
              <a:buNone/>
            </a:pPr>
            <a:r>
              <a:rPr lang="ja"/>
              <a:t>②</a:t>
            </a:r>
            <a:r>
              <a:rPr lang="ja"/>
              <a:t>マゼンタに近い色の頂点を抜き出す</a:t>
            </a:r>
            <a:endParaRPr/>
          </a:p>
          <a:p>
            <a:pPr indent="0" lvl="0" marL="0" rtl="0" algn="l">
              <a:spcBef>
                <a:spcPts val="1200"/>
              </a:spcBef>
              <a:spcAft>
                <a:spcPts val="0"/>
              </a:spcAft>
              <a:buNone/>
            </a:pPr>
            <a:r>
              <a:rPr lang="ja"/>
              <a:t>③</a:t>
            </a:r>
            <a:r>
              <a:rPr lang="ja"/>
              <a:t>抜き出した頂点を3次元でまとまりに分け、各まとまりの重心を関節とする</a:t>
            </a:r>
            <a:endParaRPr/>
          </a:p>
          <a:p>
            <a:pPr indent="0" lvl="0" marL="0" rtl="0" algn="l">
              <a:spcBef>
                <a:spcPts val="1200"/>
              </a:spcBef>
              <a:spcAft>
                <a:spcPts val="0"/>
              </a:spcAft>
              <a:buNone/>
            </a:pPr>
            <a:r>
              <a:rPr lang="ja"/>
              <a:t>④関節の高さ(Z)でメッシュを切る。</a:t>
            </a:r>
            <a:endParaRPr/>
          </a:p>
          <a:p>
            <a:pPr indent="0" lvl="0" marL="0" rtl="0" algn="l">
              <a:spcBef>
                <a:spcPts val="1200"/>
              </a:spcBef>
              <a:spcAft>
                <a:spcPts val="0"/>
              </a:spcAft>
              <a:buNone/>
            </a:pPr>
            <a:r>
              <a:rPr lang="ja"/>
              <a:t>⑤各リンクを自分の座標に移してSTLで出力する。</a:t>
            </a:r>
            <a:endParaRPr/>
          </a:p>
          <a:p>
            <a:pPr indent="0" lvl="0" marL="0" rtl="0" algn="l">
              <a:spcBef>
                <a:spcPts val="1200"/>
              </a:spcBef>
              <a:spcAft>
                <a:spcPts val="120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M3：検証して確認したこと</a:t>
            </a:r>
            <a:endParaRPr/>
          </a:p>
        </p:txBody>
      </p:sp>
      <p:sp>
        <p:nvSpPr>
          <p:cNvPr id="114" name="Google Shape;114;p2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ja"/>
              <a:t>・</a:t>
            </a:r>
            <a:r>
              <a:rPr lang="ja"/>
              <a:t>手描き5例で関節3/3を検出できた</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M4：形態パラメータ抽出</a:t>
            </a:r>
            <a:endParaRPr/>
          </a:p>
        </p:txBody>
      </p:sp>
      <p:sp>
        <p:nvSpPr>
          <p:cNvPr id="120" name="Google Shape;120;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ja"/>
              <a:t>・なにをする工程か</a:t>
            </a:r>
            <a:br>
              <a:rPr lang="ja"/>
            </a:br>
            <a:r>
              <a:rPr lang="ja"/>
              <a:t>⇒切り分けたリンクから、学習で使う設計変数の初期値(長さ・太さ)を求める</a:t>
            </a:r>
            <a:endParaRPr/>
          </a:p>
          <a:p>
            <a:pPr indent="0" lvl="0" marL="0" rtl="0" algn="l">
              <a:spcBef>
                <a:spcPts val="1200"/>
              </a:spcBef>
              <a:spcAft>
                <a:spcPts val="1200"/>
              </a:spcAft>
              <a:buClr>
                <a:schemeClr val="dk1"/>
              </a:buClr>
              <a:buSzPts val="1100"/>
              <a:buFont typeface="Arial"/>
              <a:buNone/>
            </a:pPr>
            <a:r>
              <a:rPr lang="ja"/>
              <a:t>・入出力</a:t>
            </a:r>
            <a:br>
              <a:rPr lang="ja"/>
            </a:br>
            <a:r>
              <a:rPr lang="ja"/>
              <a:t>入力：リンクごとのSTL,関節の座標</a:t>
            </a:r>
            <a:br>
              <a:rPr lang="ja"/>
            </a:br>
            <a:r>
              <a:rPr lang="ja"/>
              <a:t>出力：topology.json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M4：フローの説明</a:t>
            </a:r>
            <a:endParaRPr/>
          </a:p>
          <a:p>
            <a:pPr indent="0" lvl="0" marL="0" rtl="0" algn="l">
              <a:spcBef>
                <a:spcPts val="0"/>
              </a:spcBef>
              <a:spcAft>
                <a:spcPts val="0"/>
              </a:spcAft>
              <a:buNone/>
            </a:pPr>
            <a:r>
              <a:t/>
            </a:r>
            <a:endParaRPr/>
          </a:p>
        </p:txBody>
      </p:sp>
      <p:sp>
        <p:nvSpPr>
          <p:cNvPr id="126" name="Google Shape;126;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ja"/>
              <a:t>①長さと太さを求める</a:t>
            </a:r>
            <a:br>
              <a:rPr lang="ja"/>
            </a:br>
            <a:r>
              <a:rPr lang="ja"/>
              <a:t>長さ ＝ 関節と関節の距離(先端リンクは、最後の関節から最も遠い点まで)</a:t>
            </a:r>
            <a:br>
              <a:rPr lang="ja"/>
            </a:br>
            <a:r>
              <a:rPr lang="ja"/>
              <a:t>太さ ＝ 骨の軸に垂直な断面の幅の平均の半分</a:t>
            </a:r>
            <a:endParaRPr/>
          </a:p>
          <a:p>
            <a:pPr indent="0" lvl="0" marL="0" rtl="0" algn="l">
              <a:spcBef>
                <a:spcPts val="1200"/>
              </a:spcBef>
              <a:spcAft>
                <a:spcPts val="0"/>
              </a:spcAft>
              <a:buNone/>
            </a:pPr>
            <a:r>
              <a:rPr lang="ja"/>
              <a:t>②</a:t>
            </a:r>
            <a:r>
              <a:rPr lang="ja"/>
              <a:t>抜き出した頂点を3次元でまとまりに分け、各まとまりの重心を関節とする</a:t>
            </a:r>
            <a:endParaRPr/>
          </a:p>
          <a:p>
            <a:pPr indent="0" lvl="0" marL="0" rtl="0" algn="l">
              <a:spcBef>
                <a:spcPts val="1200"/>
              </a:spcBef>
              <a:spcAft>
                <a:spcPts val="0"/>
              </a:spcAft>
              <a:buNone/>
            </a:pPr>
            <a:r>
              <a:rPr lang="ja"/>
              <a:t>③</a:t>
            </a:r>
            <a:r>
              <a:rPr lang="ja"/>
              <a:t>形がカプセルからどれだけはみ出すかを計算し、表示と記録をする</a:t>
            </a:r>
            <a:endParaRPr/>
          </a:p>
          <a:p>
            <a:pPr indent="0" lvl="0" marL="0" rtl="0" algn="l">
              <a:spcBef>
                <a:spcPts val="1200"/>
              </a:spcBef>
              <a:spcAft>
                <a:spcPts val="0"/>
              </a:spcAft>
              <a:buNone/>
            </a:pPr>
            <a:r>
              <a:rPr lang="ja"/>
              <a:t>④</a:t>
            </a:r>
            <a:r>
              <a:rPr lang="ja"/>
              <a:t>ギア比・可動域は既定値（100、±90°）を入れる</a:t>
            </a:r>
            <a:endParaRPr/>
          </a:p>
          <a:p>
            <a:pPr indent="0" lvl="0" marL="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2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M4：検証して確認したこと</a:t>
            </a:r>
            <a:endParaRPr/>
          </a:p>
        </p:txBody>
      </p:sp>
      <p:sp>
        <p:nvSpPr>
          <p:cNvPr id="132" name="Google Shape;132;p2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ja"/>
              <a:t>・長さは関節位置と一致した（Bug 27・31 を直した後）</a:t>
            </a:r>
            <a:endParaRPr/>
          </a:p>
          <a:p>
            <a:pPr indent="0" lvl="0" marL="0" rtl="0" algn="l">
              <a:spcBef>
                <a:spcPts val="1200"/>
              </a:spcBef>
              <a:spcAft>
                <a:spcPts val="0"/>
              </a:spcAft>
              <a:buNone/>
            </a:pPr>
            <a:r>
              <a:rPr lang="ja"/>
              <a:t>・太さ: カプセルの外に出る頂点の割合は平均 21.4 %。直方体（OBB）から求める旧方式の 29.7 % より小さく、悪化したリンクは無い（手描き 5 例・20 リンク、系譜 9-75）</a:t>
            </a:r>
            <a:endParaRPr/>
          </a:p>
          <a:p>
            <a:pPr indent="0" lvl="0" marL="0" rtl="0" algn="l">
              <a:spcBef>
                <a:spcPts val="1200"/>
              </a:spcBef>
              <a:spcAft>
                <a:spcPts val="1200"/>
              </a:spcAft>
              <a:buNone/>
            </a:pPr>
            <a:r>
              <a:rPr lang="ja"/>
              <a:t>・⚠ 限界: 平たい手先はカプセルで覆えず、70.9 % はみ出す（系譜 9-75）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M5：</a:t>
            </a:r>
            <a:r>
              <a:rPr lang="ja"/>
              <a:t>シミュレーションモデル作成</a:t>
            </a:r>
            <a:endParaRPr/>
          </a:p>
        </p:txBody>
      </p:sp>
      <p:sp>
        <p:nvSpPr>
          <p:cNvPr id="138" name="Google Shape;138;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ja"/>
              <a:t>・なにをする工程か</a:t>
            </a:r>
            <a:br>
              <a:rPr lang="ja"/>
            </a:br>
            <a:r>
              <a:rPr lang="ja"/>
              <a:t>⇒</a:t>
            </a:r>
            <a:r>
              <a:rPr lang="ja"/>
              <a:t>パラメータから、学習で使えるロボットモデルファイルを作る</a:t>
            </a:r>
            <a:endParaRPr/>
          </a:p>
          <a:p>
            <a:pPr indent="0" lvl="0" marL="0" rtl="0" algn="l">
              <a:spcBef>
                <a:spcPts val="1200"/>
              </a:spcBef>
              <a:spcAft>
                <a:spcPts val="1200"/>
              </a:spcAft>
              <a:buNone/>
            </a:pPr>
            <a:r>
              <a:rPr lang="ja"/>
              <a:t>・入出力</a:t>
            </a:r>
            <a:br>
              <a:rPr lang="ja"/>
            </a:br>
            <a:r>
              <a:rPr lang="ja"/>
              <a:t>入力：topology.json</a:t>
            </a:r>
            <a:br>
              <a:rPr lang="ja"/>
            </a:br>
            <a:r>
              <a:rPr lang="ja"/>
              <a:t>出力：XML(Mujoco</a:t>
            </a:r>
            <a:r>
              <a:rPr lang="ja"/>
              <a:t>互換。choreonoidが読み込むときに変換する</a:t>
            </a:r>
            <a:r>
              <a:rPr lang="ja"/>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M5：フローの説明</a:t>
            </a:r>
            <a:endParaRPr/>
          </a:p>
          <a:p>
            <a:pPr indent="0" lvl="0" marL="0" rtl="0" algn="l">
              <a:spcBef>
                <a:spcPts val="0"/>
              </a:spcBef>
              <a:spcAft>
                <a:spcPts val="0"/>
              </a:spcAft>
              <a:buNone/>
            </a:pPr>
            <a:r>
              <a:t/>
            </a:r>
            <a:endParaRPr/>
          </a:p>
        </p:txBody>
      </p:sp>
      <p:sp>
        <p:nvSpPr>
          <p:cNvPr id="144" name="Google Shape;144;p2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ja"/>
              <a:t>①</a:t>
            </a:r>
            <a:r>
              <a:rPr lang="ja"/>
              <a:t>各リンクをカプセルで近似する</a:t>
            </a:r>
            <a:endParaRPr/>
          </a:p>
          <a:p>
            <a:pPr indent="0" lvl="0" marL="0" rtl="0" algn="l">
              <a:spcBef>
                <a:spcPts val="1200"/>
              </a:spcBef>
              <a:spcAft>
                <a:spcPts val="0"/>
              </a:spcAft>
              <a:buNone/>
            </a:pPr>
            <a:r>
              <a:rPr lang="ja"/>
              <a:t>②</a:t>
            </a:r>
            <a:r>
              <a:rPr lang="ja"/>
              <a:t>子リンクを親リンクの先端に取り付ける</a:t>
            </a:r>
            <a:endParaRPr/>
          </a:p>
          <a:p>
            <a:pPr indent="0" lvl="0" marL="0" rtl="0" algn="l">
              <a:spcBef>
                <a:spcPts val="1200"/>
              </a:spcBef>
              <a:spcAft>
                <a:spcPts val="0"/>
              </a:spcAft>
              <a:buNone/>
            </a:pPr>
            <a:r>
              <a:rPr lang="ja"/>
              <a:t>③</a:t>
            </a:r>
            <a:r>
              <a:rPr lang="ja"/>
              <a:t>関節軸を割り当てる</a:t>
            </a:r>
            <a:br>
              <a:rPr lang="ja"/>
            </a:br>
            <a:r>
              <a:rPr lang="ja"/>
              <a:t>　(既定の縦型: 根元はヨー、それより先はピッチ。関節ごとの指定もできる)</a:t>
            </a:r>
            <a:br>
              <a:rPr lang="ja"/>
            </a:br>
            <a:r>
              <a:rPr lang="ja"/>
              <a:t>　⇒</a:t>
            </a:r>
            <a:r>
              <a:rPr b="1" lang="ja"/>
              <a:t>※関節軸は決め打ちで決定しているということ(研究スコープ外)</a:t>
            </a:r>
            <a:endParaRPr b="1"/>
          </a:p>
          <a:p>
            <a:pPr indent="0" lvl="0" marL="0" rtl="0" algn="l">
              <a:spcBef>
                <a:spcPts val="1200"/>
              </a:spcBef>
              <a:spcAft>
                <a:spcPts val="1200"/>
              </a:spcAft>
              <a:buNone/>
            </a:pPr>
            <a:r>
              <a:rPr lang="ja"/>
              <a:t>④ギア比</a:t>
            </a:r>
            <a:r>
              <a:rPr lang="ja"/>
              <a:t>つきのモーターをつける</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M5：検証して確認したこと</a:t>
            </a:r>
            <a:endParaRPr/>
          </a:p>
        </p:txBody>
      </p:sp>
      <p:sp>
        <p:nvSpPr>
          <p:cNvPr id="150" name="Google Shape;150;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ja"/>
              <a:t>・</a:t>
            </a:r>
            <a:r>
              <a:rPr lang="ja"/>
              <a:t>モデル上のリーチと実際のリーチが一致した</a:t>
            </a:r>
            <a:endParaRPr/>
          </a:p>
          <a:p>
            <a:pPr indent="0" lvl="0" marL="0" rtl="0" algn="l">
              <a:spcBef>
                <a:spcPts val="1200"/>
              </a:spcBef>
              <a:spcAft>
                <a:spcPts val="0"/>
              </a:spcAft>
              <a:buNone/>
            </a:pPr>
            <a:r>
              <a:rPr lang="ja"/>
              <a:t>・</a:t>
            </a:r>
            <a:r>
              <a:rPr lang="ja"/>
              <a:t>関節軸も正しい</a:t>
            </a:r>
            <a:endParaRPr/>
          </a:p>
          <a:p>
            <a:pPr indent="0" lvl="0" marL="0" rtl="0" algn="l">
              <a:spcBef>
                <a:spcPts val="1200"/>
              </a:spcBef>
              <a:spcAft>
                <a:spcPts val="0"/>
              </a:spcAft>
              <a:buNone/>
            </a:pPr>
            <a:r>
              <a:rPr lang="ja"/>
              <a:t>・実行に入れないような不備のあるモデルのときには黙って進まない(もうちょいいい言い方ない？)</a:t>
            </a:r>
            <a:endParaRPr/>
          </a:p>
          <a:p>
            <a:pPr indent="0" lvl="0" marL="0" rtl="0" algn="l">
              <a:spcBef>
                <a:spcPts val="1200"/>
              </a:spcBef>
              <a:spcAft>
                <a:spcPts val="1200"/>
              </a:spcAft>
              <a:buNone/>
            </a:pPr>
            <a:r>
              <a:rPr lang="ja"/>
              <a:t>・</a:t>
            </a:r>
            <a:r>
              <a:rPr lang="ja"/>
              <a:t>自己干渉することを確認した(これはM5の成果なのかM6の成果なのか)</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2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M6：Stackelberg PPO</a:t>
            </a:r>
            <a:r>
              <a:rPr lang="ja"/>
              <a:t>によるロボット評価</a:t>
            </a:r>
            <a:endParaRPr/>
          </a:p>
        </p:txBody>
      </p:sp>
      <p:sp>
        <p:nvSpPr>
          <p:cNvPr id="156" name="Google Shape;156;p2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ja"/>
              <a:t>・なにをする工程か</a:t>
            </a:r>
            <a:br>
              <a:rPr lang="ja"/>
            </a:br>
            <a:r>
              <a:rPr lang="ja"/>
              <a:t>⇒</a:t>
            </a:r>
            <a:r>
              <a:rPr lang="ja"/>
              <a:t>形（設計）と動かし方（制御）を同時に学習させ、</a:t>
            </a:r>
            <a:br>
              <a:rPr lang="ja"/>
            </a:br>
            <a:r>
              <a:rPr lang="ja"/>
              <a:t>　「この形でこのタスクがどこまでできるか」を測る</a:t>
            </a:r>
            <a:endParaRPr/>
          </a:p>
          <a:p>
            <a:pPr indent="0" lvl="0" marL="0" rtl="0" algn="l">
              <a:spcBef>
                <a:spcPts val="1200"/>
              </a:spcBef>
              <a:spcAft>
                <a:spcPts val="1200"/>
              </a:spcAft>
              <a:buNone/>
            </a:pPr>
            <a:r>
              <a:rPr lang="ja"/>
              <a:t>・入出力</a:t>
            </a:r>
            <a:br>
              <a:rPr lang="ja"/>
            </a:br>
            <a:r>
              <a:rPr lang="ja"/>
              <a:t>入力：</a:t>
            </a:r>
            <a:r>
              <a:rPr lang="ja"/>
              <a:t>XML ＋ タスク（到達・押し・目標位置への押し）</a:t>
            </a:r>
            <a:br>
              <a:rPr lang="ja"/>
            </a:br>
            <a:r>
              <a:rPr lang="ja"/>
              <a:t>出力：</a:t>
            </a:r>
            <a:r>
              <a:rPr lang="ja"/>
              <a:t>スコア（学習曲線）・学習後の形(XML?)・方策</a:t>
            </a:r>
            <a:endParaRPr/>
          </a:p>
        </p:txBody>
      </p:sp>
      <p:pic>
        <p:nvPicPr>
          <p:cNvPr id="157" name="Google Shape;157;p29"/>
          <p:cNvPicPr preferRelativeResize="0"/>
          <p:nvPr/>
        </p:nvPicPr>
        <p:blipFill>
          <a:blip r:embed="rId3">
            <a:alphaModFix/>
          </a:blip>
          <a:stretch>
            <a:fillRect/>
          </a:stretch>
        </p:blipFill>
        <p:spPr>
          <a:xfrm>
            <a:off x="2131352" y="3369151"/>
            <a:ext cx="4881300" cy="168395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M6：フローの説明</a:t>
            </a:r>
            <a:endParaRPr/>
          </a:p>
          <a:p>
            <a:pPr indent="0" lvl="0" marL="0" rtl="0" algn="l">
              <a:spcBef>
                <a:spcPts val="0"/>
              </a:spcBef>
              <a:spcAft>
                <a:spcPts val="0"/>
              </a:spcAft>
              <a:buNone/>
            </a:pPr>
            <a:r>
              <a:t/>
            </a:r>
            <a:endParaRPr/>
          </a:p>
        </p:txBody>
      </p:sp>
      <p:sp>
        <p:nvSpPr>
          <p:cNvPr id="163" name="Google Shape;163;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ja"/>
              <a:t>①Leader が形を編集する（長さ・太さ・ギア比。リンクの数は変えない）</a:t>
            </a:r>
            <a:endParaRPr/>
          </a:p>
          <a:p>
            <a:pPr indent="0" lvl="0" marL="0" rtl="0" algn="l">
              <a:spcBef>
                <a:spcPts val="1200"/>
              </a:spcBef>
              <a:spcAft>
                <a:spcPts val="0"/>
              </a:spcAft>
              <a:buNone/>
            </a:pPr>
            <a:r>
              <a:rPr lang="ja"/>
              <a:t>②Follower がその形で最大 1200 ステップ動かす。</a:t>
            </a:r>
            <a:br>
              <a:rPr lang="ja"/>
            </a:br>
            <a:r>
              <a:rPr lang="ja"/>
              <a:t>　報酬 ＝ タスク報酬 − 制御コスト</a:t>
            </a:r>
            <a:endParaRPr/>
          </a:p>
          <a:p>
            <a:pPr indent="0" lvl="0" marL="0" rtl="0" algn="l">
              <a:spcBef>
                <a:spcPts val="1200"/>
              </a:spcBef>
              <a:spcAft>
                <a:spcPts val="0"/>
              </a:spcAft>
              <a:buNone/>
            </a:pPr>
            <a:r>
              <a:rPr lang="ja"/>
              <a:t>③Leader の評価はFollower が得た報酬をそのまま引き継ぐ（設計中の報酬は 0）</a:t>
            </a:r>
            <a:endParaRPr/>
          </a:p>
          <a:p>
            <a:pPr indent="0" lvl="0" marL="0" rtl="0" algn="l">
              <a:spcBef>
                <a:spcPts val="1200"/>
              </a:spcBef>
              <a:spcAft>
                <a:spcPts val="0"/>
              </a:spcAft>
              <a:buNone/>
            </a:pPr>
            <a:r>
              <a:rPr lang="ja"/>
              <a:t>④1 epochごとに 5 万ステップ以上を集めて PPO で更新する（200 epoch）</a:t>
            </a:r>
            <a:endParaRPr/>
          </a:p>
          <a:p>
            <a:pPr indent="0" lvl="0" marL="0" rtl="0" algn="l">
              <a:spcBef>
                <a:spcPts val="1200"/>
              </a:spcBef>
              <a:spcAft>
                <a:spcPts val="1200"/>
              </a:spcAft>
              <a:buNone/>
            </a:pPr>
            <a:r>
              <a:rPr lang="ja"/>
              <a:t>⑤形の候補どうしを学習曲線の順位で比べる</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3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M6：</a:t>
            </a:r>
            <a:r>
              <a:rPr lang="ja"/>
              <a:t>検証して確認したこと</a:t>
            </a:r>
            <a:endParaRPr/>
          </a:p>
        </p:txBody>
      </p:sp>
      <p:sp>
        <p:nvSpPr>
          <p:cNvPr id="169" name="Google Shape;169;p3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ja"/>
              <a:t>・</a:t>
            </a:r>
            <a:r>
              <a:rPr lang="ja"/>
              <a:t>タスクごとに違う形に収束した(3 task × 2 seed)</a:t>
            </a:r>
            <a:endParaRPr/>
          </a:p>
          <a:p>
            <a:pPr indent="0" lvl="0" marL="0" rtl="0" algn="l">
              <a:spcBef>
                <a:spcPts val="1200"/>
              </a:spcBef>
              <a:spcAft>
                <a:spcPts val="0"/>
              </a:spcAft>
              <a:buNone/>
            </a:pPr>
            <a:r>
              <a:rPr lang="ja"/>
              <a:t>・</a:t>
            </a:r>
            <a:r>
              <a:rPr lang="ja"/>
              <a:t>順位がタスクで逆になった(あるタスクでは高スコアだった長いアームロボットが、別のタスクでは低スコアになった。つまり長いロボット=有利という話ではない)</a:t>
            </a:r>
            <a:endParaRPr/>
          </a:p>
          <a:p>
            <a:pPr indent="0" lvl="0" marL="0" rtl="0" algn="l">
              <a:spcBef>
                <a:spcPts val="1200"/>
              </a:spcBef>
              <a:spcAft>
                <a:spcPts val="1200"/>
              </a:spcAft>
              <a:buNone/>
            </a:pPr>
            <a:r>
              <a:rPr lang="ja"/>
              <a:t>・パーツ同士が</a:t>
            </a:r>
            <a:r>
              <a:rPr lang="ja"/>
              <a:t>自己干渉することを確認した</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M7：</a:t>
            </a:r>
            <a:r>
              <a:rPr lang="ja"/>
              <a:t>形態診断</a:t>
            </a:r>
            <a:endParaRPr/>
          </a:p>
        </p:txBody>
      </p:sp>
      <p:sp>
        <p:nvSpPr>
          <p:cNvPr id="175" name="Google Shape;175;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ja"/>
              <a:t>・なにをする工程か</a:t>
            </a:r>
            <a:br>
              <a:rPr lang="ja"/>
            </a:br>
            <a:r>
              <a:rPr lang="ja"/>
              <a:t>⇒「向かない」とだけ返すのではなく、原因と直し方を返す。</a:t>
            </a:r>
            <a:br>
              <a:rPr lang="ja"/>
            </a:br>
            <a:r>
              <a:rPr lang="ja"/>
              <a:t>　生成 AI は使わず、閾値の判定と決まった文面で返す</a:t>
            </a:r>
            <a:r>
              <a:rPr lang="ja"/>
              <a:t>。</a:t>
            </a:r>
            <a:br>
              <a:rPr lang="ja"/>
            </a:br>
            <a:r>
              <a:rPr lang="ja"/>
              <a:t>　（学習を回すまでもなく失敗するとわかっているものを弾くパターンもある）</a:t>
            </a:r>
            <a:endParaRPr/>
          </a:p>
          <a:p>
            <a:pPr indent="0" lvl="0" marL="0" rtl="0" algn="l">
              <a:spcBef>
                <a:spcPts val="1200"/>
              </a:spcBef>
              <a:spcAft>
                <a:spcPts val="1200"/>
              </a:spcAft>
              <a:buNone/>
            </a:pPr>
            <a:r>
              <a:rPr lang="ja"/>
              <a:t>・入出力</a:t>
            </a:r>
            <a:br>
              <a:rPr lang="ja"/>
            </a:br>
            <a:r>
              <a:rPr lang="ja"/>
              <a:t>入力：XML ＋ タスク（到達・押し・目標位置への押し）</a:t>
            </a:r>
            <a:br>
              <a:rPr lang="ja"/>
            </a:br>
            <a:r>
              <a:rPr lang="ja"/>
              <a:t>出力：スコア（学習曲線）・学習後の形(XML?)・方策</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M7：フ</a:t>
            </a:r>
            <a:r>
              <a:rPr lang="ja"/>
              <a:t>ローの説明</a:t>
            </a:r>
            <a:endParaRPr/>
          </a:p>
          <a:p>
            <a:pPr indent="0" lvl="0" marL="0" rtl="0" algn="l">
              <a:spcBef>
                <a:spcPts val="0"/>
              </a:spcBef>
              <a:spcAft>
                <a:spcPts val="0"/>
              </a:spcAft>
              <a:buNone/>
            </a:pPr>
            <a:r>
              <a:t/>
            </a:r>
            <a:endParaRPr/>
          </a:p>
        </p:txBody>
      </p:sp>
      <p:sp>
        <p:nvSpPr>
          <p:cNvPr id="181" name="Google Shape;181;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ja"/>
              <a:t>①</a:t>
            </a:r>
            <a:r>
              <a:rPr lang="ja"/>
              <a:t>第 1 層（学習前・約 1 秒）: 幾何だけで届くかを判定する。届かなければ棄却し「腕を N 倍に」と返す（切り上げ・余裕なし）</a:t>
            </a:r>
            <a:endParaRPr/>
          </a:p>
          <a:p>
            <a:pPr indent="0" lvl="0" marL="0" rtl="0" algn="l">
              <a:spcBef>
                <a:spcPts val="1200"/>
              </a:spcBef>
              <a:spcAft>
                <a:spcPts val="0"/>
              </a:spcAft>
              <a:buNone/>
            </a:pPr>
            <a:r>
              <a:rPr lang="ja"/>
              <a:t>②棄却されたら、N 倍した XML を自動で作ってもう一度判定する</a:t>
            </a:r>
            <a:endParaRPr/>
          </a:p>
          <a:p>
            <a:pPr indent="0" lvl="0" marL="0" rtl="0" algn="l">
              <a:spcBef>
                <a:spcPts val="1200"/>
              </a:spcBef>
              <a:spcAft>
                <a:spcPts val="0"/>
              </a:spcAft>
              <a:buNone/>
            </a:pPr>
            <a:r>
              <a:rPr lang="ja"/>
              <a:t>③</a:t>
            </a:r>
            <a:r>
              <a:rPr lang="ja"/>
              <a:t>第 2 層（学習後）: ギア比・太さが探索範囲の端に張り付いていないかを見る</a:t>
            </a:r>
            <a:endParaRPr/>
          </a:p>
          <a:p>
            <a:pPr indent="0" lvl="0" marL="0" rtl="0" algn="l">
              <a:spcBef>
                <a:spcPts val="1200"/>
              </a:spcBef>
              <a:spcAft>
                <a:spcPts val="0"/>
              </a:spcAft>
              <a:buNone/>
            </a:pPr>
            <a:r>
              <a:rPr lang="ja"/>
              <a:t>④</a:t>
            </a:r>
            <a:r>
              <a:rPr lang="ja"/>
              <a:t>第 3 層（学習後）: 1 話動かし、戦略（一撃で飛ばす・押す・静止など）と、使っていない関節を報告する</a:t>
            </a:r>
            <a:endParaRPr/>
          </a:p>
          <a:p>
            <a:pPr indent="0" lvl="0" marL="0" rtl="0" algn="l">
              <a:spcBef>
                <a:spcPts val="1200"/>
              </a:spcBef>
              <a:spcAft>
                <a:spcPts val="1200"/>
              </a:spcAft>
              <a:buNone/>
            </a:pPr>
            <a:r>
              <a:rPr lang="ja"/>
              <a:t>⑤</a:t>
            </a:r>
            <a:r>
              <a:rPr lang="ja"/>
              <a:t>「この形ではできない」と断定するのは第 1 層だけ。第 2・3 層は報告にとどめる</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M7：検証</a:t>
            </a:r>
            <a:r>
              <a:rPr lang="ja"/>
              <a:t>して確認したこと</a:t>
            </a:r>
            <a:endParaRPr/>
          </a:p>
        </p:txBody>
      </p:sp>
      <p:sp>
        <p:nvSpPr>
          <p:cNvPr id="187" name="Google Shape;187;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ja"/>
              <a:t>・総合判定が実測と 6/6 一致した(</a:t>
            </a:r>
            <a:r>
              <a:rPr lang="ja"/>
              <a:t>どういうこと？</a:t>
            </a:r>
            <a:r>
              <a:rPr lang="ja"/>
              <a:t>)</a:t>
            </a:r>
            <a:endParaRPr/>
          </a:p>
          <a:p>
            <a:pPr indent="0" lvl="0" marL="0" rtl="0" algn="l">
              <a:spcBef>
                <a:spcPts val="1200"/>
              </a:spcBef>
              <a:spcAft>
                <a:spcPts val="0"/>
              </a:spcAft>
              <a:buNone/>
            </a:pPr>
            <a:r>
              <a:rPr lang="ja"/>
              <a:t>・第 1 層の助言（1.99 倍）に従うと、−396.92 → −0.33 / −0.27 に改善した(なんの値？どのタスク？)</a:t>
            </a:r>
            <a:endParaRPr/>
          </a:p>
          <a:p>
            <a:pPr indent="0" lvl="0" marL="0" rtl="0" algn="l">
              <a:spcBef>
                <a:spcPts val="1200"/>
              </a:spcBef>
              <a:spcAft>
                <a:spcPts val="0"/>
              </a:spcAft>
              <a:buNone/>
            </a:pPr>
            <a:r>
              <a:rPr lang="ja"/>
              <a:t>・余裕を上乗せすると成績は単調に悪くなる→ 余裕なしの設計にした根拠(どういうこと？)</a:t>
            </a:r>
            <a:endParaRPr/>
          </a:p>
          <a:p>
            <a:pPr indent="0" lvl="0" marL="0" rtl="0" algn="l">
              <a:spcBef>
                <a:spcPts val="1200"/>
              </a:spcBef>
              <a:spcAft>
                <a:spcPts val="0"/>
              </a:spcAft>
              <a:buNone/>
            </a:pPr>
            <a:r>
              <a:rPr lang="ja"/>
              <a:t>・第 3 層の助言どおりに関節を固定しても成績は落ちない⇒つまり効率化できてよかったねってこと</a:t>
            </a:r>
            <a:endParaRPr/>
          </a:p>
          <a:p>
            <a:pPr indent="0" lvl="0" marL="0" rtl="0" algn="l">
              <a:spcBef>
                <a:spcPts val="1200"/>
              </a:spcBef>
              <a:spcAft>
                <a:spcPts val="0"/>
              </a:spcAft>
              <a:buNone/>
            </a:pPr>
            <a:r>
              <a:rPr lang="ja"/>
              <a:t>⚠ 第 2 層の判定だけでは、良い方にも悪い方にも誤る（系譜 9-10）。閾値は較正していない（系譜 9-70）⇒詳細も知らないし原因も不明</a:t>
            </a:r>
            <a:endParaRPr/>
          </a:p>
          <a:p>
            <a:pPr indent="0" lvl="0" marL="0" rtl="0" algn="l">
              <a:spcBef>
                <a:spcPts val="1200"/>
              </a:spcBef>
              <a:spcAft>
                <a:spcPts val="1200"/>
              </a:spcAft>
              <a:buNone/>
            </a:pPr>
            <a:r>
              <a:rPr lang="ja"/>
              <a:t>⚠ パイプラインが出した不適合な形を、助言で直して学習で達成まで持っていった通しの例はまだ無い⇒これからやる予定かもしれない...（スケジュール的に無理そうだったら、軽微な修正できました！だけにする）</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3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M7:</a:t>
            </a:r>
            <a:r>
              <a:rPr lang="ja"/>
              <a:t>の棄却の判定閾値とアドバイス表</a:t>
            </a:r>
            <a:endParaRPr/>
          </a:p>
        </p:txBody>
      </p:sp>
      <p:sp>
        <p:nvSpPr>
          <p:cNvPr id="193" name="Google Shape;193;p3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94" name="Google Shape;194;p35"/>
          <p:cNvPicPr preferRelativeResize="0"/>
          <p:nvPr/>
        </p:nvPicPr>
        <p:blipFill>
          <a:blip r:embed="rId3">
            <a:alphaModFix/>
          </a:blip>
          <a:stretch>
            <a:fillRect/>
          </a:stretch>
        </p:blipFill>
        <p:spPr>
          <a:xfrm>
            <a:off x="0" y="1456430"/>
            <a:ext cx="9144003" cy="317004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M7</a:t>
            </a:r>
            <a:r>
              <a:rPr lang="ja"/>
              <a:t>：閉ループの概要</a:t>
            </a:r>
            <a:endParaRPr/>
          </a:p>
        </p:txBody>
      </p:sp>
      <p:sp>
        <p:nvSpPr>
          <p:cNvPr id="200" name="Google Shape;200;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201" name="Google Shape;201;p36"/>
          <p:cNvPicPr preferRelativeResize="0"/>
          <p:nvPr/>
        </p:nvPicPr>
        <p:blipFill>
          <a:blip r:embed="rId3">
            <a:alphaModFix/>
          </a:blip>
          <a:stretch>
            <a:fillRect/>
          </a:stretch>
        </p:blipFill>
        <p:spPr>
          <a:xfrm>
            <a:off x="0" y="1855143"/>
            <a:ext cx="9144003" cy="143321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3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M7</a:t>
            </a:r>
            <a:r>
              <a:rPr lang="ja"/>
              <a:t>：第二層学習後の形</a:t>
            </a:r>
            <a:endParaRPr/>
          </a:p>
        </p:txBody>
      </p:sp>
      <p:sp>
        <p:nvSpPr>
          <p:cNvPr id="207" name="Google Shape;207;p3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208" name="Google Shape;208;p37"/>
          <p:cNvPicPr preferRelativeResize="0"/>
          <p:nvPr/>
        </p:nvPicPr>
        <p:blipFill>
          <a:blip r:embed="rId3">
            <a:alphaModFix/>
          </a:blip>
          <a:stretch>
            <a:fillRect/>
          </a:stretch>
        </p:blipFill>
        <p:spPr>
          <a:xfrm>
            <a:off x="0" y="1569393"/>
            <a:ext cx="9144003" cy="200471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ja"/>
              <a:t>M7:</a:t>
            </a:r>
            <a:r>
              <a:rPr lang="ja"/>
              <a:t>第３層</a:t>
            </a:r>
            <a:endParaRPr/>
          </a:p>
        </p:txBody>
      </p:sp>
      <p:sp>
        <p:nvSpPr>
          <p:cNvPr id="214" name="Google Shape;214;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215" name="Google Shape;215;p38"/>
          <p:cNvPicPr preferRelativeResize="0"/>
          <p:nvPr/>
        </p:nvPicPr>
        <p:blipFill>
          <a:blip r:embed="rId3">
            <a:alphaModFix/>
          </a:blip>
          <a:stretch>
            <a:fillRect/>
          </a:stretch>
        </p:blipFill>
        <p:spPr>
          <a:xfrm>
            <a:off x="0" y="1614041"/>
            <a:ext cx="9144003" cy="191541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