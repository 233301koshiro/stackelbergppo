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121FF4-FE36-4DB9-925D-0D478138454B}">
  <a:tblStyle styleId="{68121FF4-FE36-4DB9-925D-0D478138454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f0a30138_2_9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それでは研究発表の方に移らせていただきます。</a:t>
            </a:r>
            <a:endParaRPr/>
          </a:p>
          <a:p>
            <a:pPr indent="0" lvl="0" marL="0" rtl="0" algn="l">
              <a:lnSpc>
                <a:spcPct val="100000"/>
              </a:lnSpc>
              <a:spcBef>
                <a:spcPts val="0"/>
              </a:spcBef>
              <a:spcAft>
                <a:spcPts val="0"/>
              </a:spcAft>
              <a:buSzPts val="1100"/>
              <a:buFont typeface="Arial"/>
              <a:buNone/>
            </a:pPr>
            <a:r>
              <a:rPr lang="ja"/>
              <a:t>手描きスケッチからロボットモデルを</a:t>
            </a:r>
            <a:endParaRPr/>
          </a:p>
          <a:p>
            <a:pPr indent="0" lvl="0" marL="0" rtl="0" algn="l">
              <a:lnSpc>
                <a:spcPct val="100000"/>
              </a:lnSpc>
              <a:spcBef>
                <a:spcPts val="0"/>
              </a:spcBef>
              <a:spcAft>
                <a:spcPts val="0"/>
              </a:spcAft>
              <a:buSzPts val="1100"/>
              <a:buFont typeface="Arial"/>
              <a:buNone/>
            </a:pPr>
            <a:r>
              <a:rPr lang="ja"/>
              <a:t>生成するシステムの開発</a:t>
            </a:r>
            <a:r>
              <a:rPr lang="ja" sz="1100"/>
              <a:t>と題しまして豊橋技術科学大学　情報・ロボットシステム研究室の</a:t>
            </a:r>
            <a:r>
              <a:rPr lang="ja"/>
              <a:t>秋田</a:t>
            </a:r>
            <a:r>
              <a:rPr lang="ja" sz="1100"/>
              <a:t>が発表させていただきます。</a:t>
            </a:r>
            <a:endParaRPr sz="1100"/>
          </a:p>
          <a:p>
            <a:pPr indent="0" lvl="0" marL="0" rtl="0" algn="l">
              <a:lnSpc>
                <a:spcPct val="100000"/>
              </a:lnSpc>
              <a:spcBef>
                <a:spcPts val="0"/>
              </a:spcBef>
              <a:spcAft>
                <a:spcPts val="0"/>
              </a:spcAft>
              <a:buSzPts val="1100"/>
              <a:buFont typeface="Arial"/>
              <a:buNone/>
            </a:pPr>
            <a:r>
              <a:rPr lang="ja"/>
              <a:t>(12)</a:t>
            </a:r>
            <a:endParaRPr/>
          </a:p>
        </p:txBody>
      </p:sp>
      <p:sp>
        <p:nvSpPr>
          <p:cNvPr id="150" name="Google Shape;150;g3f6f0a30138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6f0a30138_2_9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研究背景です。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近年、生成AIやソフトウェア技術の発展により、ロボットのプログラム開発は以前よりも高速化しています。</a:t>
            </a:r>
            <a:br>
              <a:rPr lang="ja">
                <a:solidFill>
                  <a:schemeClr val="dk1"/>
                </a:solidFill>
              </a:rPr>
            </a:br>
            <a:r>
              <a:rPr lang="ja">
                <a:solidFill>
                  <a:schemeClr val="dk1"/>
                </a:solidFill>
              </a:rPr>
              <a:t> 例えば、制御プログラムや認識処理などは、既存のライブラリやAIを活用することで、短時間で実装・検証しやすくなっています。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そして、そのようなプログラムや思いついたアイデアの妥当性試すためには、ロボット本体のモデルが必要になります。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しかし、プログラムの一方でロボットの設計はソフトウェアほど高速化されていないのが現状です。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a:t>
            </a:r>
            <a:br>
              <a:rPr lang="ja">
                <a:solidFill>
                  <a:schemeClr val="dk1"/>
                </a:solidFill>
              </a:rPr>
            </a:br>
            <a:r>
              <a:rPr lang="ja">
                <a:solidFill>
                  <a:schemeClr val="dk1"/>
                </a:solidFill>
              </a:rPr>
              <a:t> </a:t>
            </a:r>
            <a:r>
              <a:rPr b="1" lang="ja">
                <a:solidFill>
                  <a:schemeClr val="dk1"/>
                </a:solidFill>
              </a:rPr>
              <a:t>「ロボットでやりたいアイデアはあるが、それを試すための機体モデルをすぐに用意できない」</a:t>
            </a:r>
            <a:br>
              <a:rPr b="1" lang="ja">
                <a:solidFill>
                  <a:schemeClr val="dk1"/>
                </a:solidFill>
              </a:rPr>
            </a:br>
            <a:r>
              <a:rPr lang="ja">
                <a:solidFill>
                  <a:schemeClr val="dk1"/>
                </a:solidFill>
              </a:rPr>
              <a:t> という点が、ロボット開発の初期段階における課題になっています。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57" name="Google Shape;157;g3f6f0a30138_2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6f0a30138_2_11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solidFill>
                  <a:schemeClr val="dk1"/>
                </a:solidFill>
              </a:rPr>
              <a:t>現在、シミュレーション用のロボットモデルを作る場合、多くはCADなどを用いて機体モデルを設計します。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CADは、寸法や形状を正確に決められるため、実機製作や量産を見据えた設計には非常に有効です。</a:t>
            </a:r>
            <a:br>
              <a:rPr lang="ja">
                <a:solidFill>
                  <a:schemeClr val="dk1"/>
                </a:solidFill>
              </a:rPr>
            </a:br>
            <a:r>
              <a:rPr lang="ja">
                <a:solidFill>
                  <a:schemeClr val="dk1"/>
                </a:solidFill>
              </a:rPr>
              <a:t> しかし、アイデアをまず試したい段階では、関節の可動域、関節軸の方向、強度、質量など、多くの要素を考える必要があり、ユーザーへの負担が大きいという問題があります。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特に、ハードウェアを専門としていないソフトウェアエンジニアにとっては、</a:t>
            </a:r>
            <a:br>
              <a:rPr lang="ja">
                <a:solidFill>
                  <a:schemeClr val="dk1"/>
                </a:solidFill>
              </a:rPr>
            </a:br>
            <a:r>
              <a:rPr lang="ja">
                <a:solidFill>
                  <a:schemeClr val="dk1"/>
                </a:solidFill>
              </a:rPr>
              <a:t> </a:t>
            </a:r>
            <a:r>
              <a:rPr b="1" lang="ja">
                <a:solidFill>
                  <a:schemeClr val="dk1"/>
                </a:solidFill>
              </a:rPr>
              <a:t>「プログラムは作れるが、それを検証するためのロボットモデルを設計するのが難しい」</a:t>
            </a:r>
            <a:br>
              <a:rPr b="1" lang="ja">
                <a:solidFill>
                  <a:schemeClr val="dk1"/>
                </a:solidFill>
              </a:rPr>
            </a:br>
            <a:r>
              <a:rPr lang="ja">
                <a:solidFill>
                  <a:schemeClr val="dk1"/>
                </a:solidFill>
              </a:rPr>
              <a:t> という問題があり、プログラム開発側の「まずは試したい、アイデアの妥当性を見てみたい」という要求をすぐに満たすことができません。</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本研究では、ソフトウェアエンジニアにとっての、この初期検証段階の難易度を下げることを目指しています。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74" name="Google Shape;174;g3f6f0a30138_2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f0a30138_2_13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ロボット設計の難易度を下げるための関連研究として、RobotSketchという研究があります。</a:t>
            </a:r>
            <a:br>
              <a:rPr lang="ja"/>
            </a:br>
            <a:r>
              <a:rPr lang="ja"/>
              <a:t> これは、VR空間上でロボットの形状を3次元的にスケッチし、そのロボットに対して強化学習を用いて歩行動作を獲得させる、という研究です。</a:t>
            </a:r>
            <a:endParaRPr/>
          </a:p>
          <a:p>
            <a:pPr indent="0" lvl="0" marL="0" rtl="0" algn="l">
              <a:lnSpc>
                <a:spcPct val="115000"/>
              </a:lnSpc>
              <a:spcBef>
                <a:spcPts val="1200"/>
              </a:spcBef>
              <a:spcAft>
                <a:spcPts val="0"/>
              </a:spcAft>
              <a:buClr>
                <a:schemeClr val="dk1"/>
              </a:buClr>
              <a:buSzPts val="1100"/>
              <a:buFont typeface="Arial"/>
              <a:buNone/>
            </a:pPr>
            <a:r>
              <a:rPr lang="ja"/>
              <a:t>この研究は、</a:t>
            </a:r>
            <a:r>
              <a:rPr b="1" lang="ja" sz="1400"/>
              <a:t>ロボット設計の初期段階を高速化する</a:t>
            </a:r>
            <a:r>
              <a:rPr lang="ja"/>
              <a:t>という点で、本研究と近い考え方を持っていますが、</a:t>
            </a:r>
            <a:endParaRPr/>
          </a:p>
          <a:p>
            <a:pPr indent="0" lvl="0" marL="0" rtl="0" algn="l">
              <a:lnSpc>
                <a:spcPct val="115000"/>
              </a:lnSpc>
              <a:spcBef>
                <a:spcPts val="1200"/>
              </a:spcBef>
              <a:spcAft>
                <a:spcPts val="0"/>
              </a:spcAft>
              <a:buClr>
                <a:schemeClr val="dk1"/>
              </a:buClr>
              <a:buSzPts val="1100"/>
              <a:buFont typeface="Arial"/>
              <a:buNone/>
            </a:pPr>
            <a:r>
              <a:rPr lang="ja"/>
              <a:t>一方で、VR空間上で3次元的にロボットを描く場合でも、</a:t>
            </a:r>
            <a:r>
              <a:rPr b="1" lang="ja" sz="1200"/>
              <a:t>関節配置や物理的に成立する構造</a:t>
            </a:r>
            <a:r>
              <a:rPr lang="ja"/>
              <a:t>については、ある程度ユーザが考える必要があり、これもやはり専門性が高いものとなっています。</a:t>
            </a:r>
            <a:endParaRPr/>
          </a:p>
          <a:p>
            <a:pPr indent="0" lvl="0" marL="0" rtl="0" algn="l">
              <a:lnSpc>
                <a:spcPct val="100000"/>
              </a:lnSpc>
              <a:spcBef>
                <a:spcPts val="1200"/>
              </a:spcBef>
              <a:spcAft>
                <a:spcPts val="0"/>
              </a:spcAft>
              <a:buSzPts val="1100"/>
              <a:buFont typeface="Arial"/>
              <a:buNone/>
            </a:pPr>
            <a:r>
              <a:rPr lang="ja"/>
              <a:t>(34)</a:t>
            </a:r>
            <a:endParaRPr/>
          </a:p>
        </p:txBody>
      </p:sp>
      <p:sp>
        <p:nvSpPr>
          <p:cNvPr id="192" name="Google Shape;192;g3f6f0a30138_2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f0a30138_2_14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そこで本研究の目的は、ハードウェアの専門知識がない人でも、ロボットに対するアイデアを直感的に形にし、すぐにシミュレーション上で検証できる環境を構築することです。</a:t>
            </a:r>
            <a:endParaRPr/>
          </a:p>
          <a:p>
            <a:pPr indent="0" lvl="0" marL="0" rtl="0" algn="l">
              <a:lnSpc>
                <a:spcPct val="115000"/>
              </a:lnSpc>
              <a:spcBef>
                <a:spcPts val="1200"/>
              </a:spcBef>
              <a:spcAft>
                <a:spcPts val="0"/>
              </a:spcAft>
              <a:buClr>
                <a:schemeClr val="dk1"/>
              </a:buClr>
              <a:buSzPts val="1100"/>
              <a:buFont typeface="Arial"/>
              <a:buNone/>
            </a:pPr>
            <a:r>
              <a:rPr lang="ja"/>
              <a:t>そのための入力手段として、本研究では「手描きスケッチ」を提案します。</a:t>
            </a:r>
            <a:endParaRPr/>
          </a:p>
          <a:p>
            <a:pPr indent="0" lvl="0" marL="0" rtl="0" algn="l">
              <a:lnSpc>
                <a:spcPct val="115000"/>
              </a:lnSpc>
              <a:spcBef>
                <a:spcPts val="1200"/>
              </a:spcBef>
              <a:spcAft>
                <a:spcPts val="0"/>
              </a:spcAft>
              <a:buClr>
                <a:schemeClr val="dk1"/>
              </a:buClr>
              <a:buSzPts val="1100"/>
              <a:buFont typeface="Arial"/>
              <a:buNone/>
            </a:pPr>
            <a:r>
              <a:rPr lang="ja"/>
              <a:t>手描きであれば、CADのような専門的な操作を覚える必要がなく、大まかな形状や構造を直感的に表現できます。</a:t>
            </a:r>
            <a:endParaRPr/>
          </a:p>
          <a:p>
            <a:pPr indent="0" lvl="0" marL="0" rtl="0" algn="l">
              <a:lnSpc>
                <a:spcPct val="115000"/>
              </a:lnSpc>
              <a:spcBef>
                <a:spcPts val="1200"/>
              </a:spcBef>
              <a:spcAft>
                <a:spcPts val="0"/>
              </a:spcAft>
              <a:buClr>
                <a:schemeClr val="dk1"/>
              </a:buClr>
              <a:buSzPts val="1100"/>
              <a:buFont typeface="Arial"/>
              <a:buNone/>
            </a:pPr>
            <a:r>
              <a:rPr lang="ja"/>
              <a:t>最終的には、手描きスケッチを入力として、ロボットモデルを生成し、シミュレータ上で動作検証できるシステムを目指します。</a:t>
            </a:r>
            <a:endParaRPr/>
          </a:p>
          <a:p>
            <a:pPr indent="0" lvl="0" marL="0" rtl="0" algn="l">
              <a:lnSpc>
                <a:spcPct val="115000"/>
              </a:lnSpc>
              <a:spcBef>
                <a:spcPts val="1200"/>
              </a:spcBef>
              <a:spcAft>
                <a:spcPts val="0"/>
              </a:spcAft>
              <a:buClr>
                <a:schemeClr val="dk1"/>
              </a:buClr>
              <a:buSzPts val="1100"/>
              <a:buFont typeface="Arial"/>
              <a:buNone/>
            </a:pPr>
            <a:r>
              <a:rPr lang="ja"/>
              <a:t>(33)</a:t>
            </a:r>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03" name="Google Shape;203;g3f6f0a30138_2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6f0a30138_2_158: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20" name="Google Shape;220;g3f6f0a30138_2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6f0a30138_0_0: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t/>
            </a:r>
            <a:endParaRPr sz="1100"/>
          </a:p>
        </p:txBody>
      </p:sp>
      <p:sp>
        <p:nvSpPr>
          <p:cNvPr id="230" name="Google Shape;230;g3f6f0a3013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6f0a30138_0_2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solidFill>
                  <a:schemeClr val="dk1"/>
                </a:solidFill>
              </a:rPr>
              <a:t>次やること</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APIでサンプリング設定を固定し、プロンプトごとに「仕様の遵守率」を調査</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補助内容</a:t>
            </a:r>
            <a:endParaRPr>
              <a:solidFill>
                <a:schemeClr val="dk1"/>
              </a:solidFill>
            </a:endParaRPr>
          </a:p>
          <a:p>
            <a:pPr indent="0" lvl="0" marL="0" rtl="0" algn="l">
              <a:lnSpc>
                <a:spcPct val="115000"/>
              </a:lnSpc>
              <a:spcBef>
                <a:spcPts val="0"/>
              </a:spcBef>
              <a:spcAft>
                <a:spcPts val="0"/>
              </a:spcAft>
              <a:buNone/>
            </a:pPr>
            <a:r>
              <a:rPr lang="ja" sz="1000">
                <a:solidFill>
                  <a:srgbClr val="CCCCCC"/>
                </a:solidFill>
                <a:highlight>
                  <a:srgbClr val="181818"/>
                </a:highlight>
              </a:rPr>
              <a:t>①「忠実に」とだけ書くと、生成側が「整える」過程で比が動いた</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①の例外腕が寝ると、後段がリンクを</a:t>
            </a:r>
            <a:r>
              <a:rPr b="1" lang="ja" sz="1000">
                <a:solidFill>
                  <a:srgbClr val="CCCCCC"/>
                </a:solidFill>
                <a:highlight>
                  <a:srgbClr val="181818"/>
                </a:highlight>
              </a:rPr>
              <a:t>高さで切る</a:t>
            </a:r>
            <a:r>
              <a:rPr lang="ja" sz="1000">
                <a:solidFill>
                  <a:srgbClr val="CCCCCC"/>
                </a:solidFill>
                <a:highlight>
                  <a:srgbClr val="181818"/>
                </a:highlight>
              </a:rPr>
              <a:t>ので分割できない</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②位置を列挙しないと、先端側の関節を</a:t>
            </a:r>
            <a:r>
              <a:rPr b="1" lang="ja" sz="1000">
                <a:solidFill>
                  <a:srgbClr val="CCCCCC"/>
                </a:solidFill>
                <a:highlight>
                  <a:srgbClr val="181818"/>
                </a:highlight>
              </a:rPr>
              <a:t>金具として描き分けて印が落ちた</a:t>
            </a:r>
            <a:endParaRPr b="1"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③マゼンタを本体色に使われると、後段が本体を関節と誤認する</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④比を数値で指示したら、</a:t>
            </a:r>
            <a:r>
              <a:rPr b="1" lang="ja" sz="1000">
                <a:solidFill>
                  <a:srgbClr val="CCCCCC"/>
                </a:solidFill>
                <a:highlight>
                  <a:srgbClr val="181818"/>
                </a:highlight>
              </a:rPr>
              <a:t>その数値を寸法線として図に描き込まれた</a:t>
            </a:r>
            <a:r>
              <a:rPr lang="ja" sz="1000">
                <a:solidFill>
                  <a:srgbClr val="CCCCCC"/>
                </a:solidFill>
                <a:highlight>
                  <a:srgbClr val="181818"/>
                </a:highlight>
              </a:rPr>
              <a:t>。寸法線は三次元化が立体として拾い、外接寸法が変わって縮尺まで狂う</a:t>
            </a:r>
            <a:endParaRPr sz="1000">
              <a:solidFill>
                <a:srgbClr val="CCCCCC"/>
              </a:solidFill>
              <a:highlight>
                <a:srgbClr val="181818"/>
              </a:highlight>
            </a:endParaRPr>
          </a:p>
          <a:p>
            <a:pPr indent="0" lvl="0" marL="0" rtl="0" algn="l">
              <a:lnSpc>
                <a:spcPct val="100000"/>
              </a:lnSpc>
              <a:spcBef>
                <a:spcPts val="0"/>
              </a:spcBef>
              <a:spcAft>
                <a:spcPts val="0"/>
              </a:spcAft>
              <a:buSzPts val="1100"/>
              <a:buFont typeface="Arial"/>
              <a:buNone/>
            </a:pPr>
            <a:r>
              <a:t/>
            </a:r>
            <a:endParaRPr>
              <a:solidFill>
                <a:schemeClr val="dk1"/>
              </a:solidFill>
            </a:endParaRPr>
          </a:p>
        </p:txBody>
      </p:sp>
      <p:sp>
        <p:nvSpPr>
          <p:cNvPr id="251" name="Google Shape;251;g3f6f0a30138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409ccd5bbe6_0_26: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軸はどうやって定めているの？</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rPr lang="ja"/>
              <a:t>なんでこの内容にしたか</a:t>
            </a:r>
            <a:endParaRPr/>
          </a:p>
          <a:p>
            <a:pPr indent="0" lvl="0" marL="0" rtl="0" algn="l">
              <a:lnSpc>
                <a:spcPct val="115000"/>
              </a:lnSpc>
              <a:spcBef>
                <a:spcPts val="100"/>
              </a:spcBef>
              <a:spcAft>
                <a:spcPts val="0"/>
              </a:spcAft>
              <a:buClr>
                <a:schemeClr val="dk1"/>
              </a:buClr>
              <a:buSzPts val="1100"/>
              <a:buFont typeface="Arial"/>
              <a:buNone/>
            </a:pPr>
            <a:r>
              <a:rPr b="1" lang="ja" sz="1000">
                <a:solidFill>
                  <a:srgbClr val="CCCCCC"/>
                </a:solidFill>
                <a:highlight>
                  <a:srgbClr val="181818"/>
                </a:highlight>
              </a:rPr>
              <a:t>① 絵の中の「比」だけが効きます。</a:t>
            </a:r>
            <a:r>
              <a:rPr lang="ja" sz="1000">
                <a:solidFill>
                  <a:srgbClr val="CCCCCC"/>
                </a:solidFill>
                <a:highlight>
                  <a:srgbClr val="181818"/>
                </a:highlight>
              </a:rPr>
              <a:t> 画素サイズも紙の実寸も効きません。出力は必ず最長辺が 1.0 に正規化されるからです。</a:t>
            </a:r>
            <a:r>
              <a:rPr b="1" lang="ja" sz="1000">
                <a:solidFill>
                  <a:srgbClr val="CCCCCC"/>
                </a:solidFill>
                <a:highlight>
                  <a:srgbClr val="181818"/>
                </a:highlight>
              </a:rPr>
              <a:t>当初は「台座の高さを 1 として」と指示していましたが、基準そのものが誤りでした。</a:t>
            </a:r>
            <a:endParaRPr b="1"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② 指定した純マゼンタは、そのままの色では出てきません。</a:t>
            </a:r>
            <a:r>
              <a:rPr lang="ja" sz="1000">
                <a:solidFill>
                  <a:srgbClr val="CCCCCC"/>
                </a:solidFill>
                <a:highlight>
                  <a:srgbClr val="181818"/>
                </a:highlight>
              </a:rPr>
              <a:t> 最大 86／チャネルずれます。公称色に固定しきい値をかけると 2 メッシュとも検出失敗、しきい値を手で広げると関節位置が最大 12.8 mm ずれる。</a:t>
            </a:r>
            <a:r>
              <a:rPr b="1" lang="ja" sz="1000">
                <a:solidFill>
                  <a:srgbClr val="CCCCCC"/>
                </a:solidFill>
                <a:highlight>
                  <a:srgbClr val="181818"/>
                </a:highlight>
              </a:rPr>
              <a:t>基準色をメッシュごとに推定して、初めて誤差 1 mm 以内</a:t>
            </a:r>
            <a:r>
              <a:rPr lang="ja" sz="1000">
                <a:solidFill>
                  <a:srgbClr val="CCCCCC"/>
                </a:solidFill>
                <a:highlight>
                  <a:srgbClr val="181818"/>
                </a:highlight>
              </a:rPr>
              <a:t>になりました。</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③ 腕が寝ると、関節がほぼ同じ高さに並んで原理的に切れません。</a:t>
            </a:r>
            <a:r>
              <a:rPr lang="ja" sz="1000">
                <a:solidFill>
                  <a:srgbClr val="CCCCCC"/>
                </a:solidFill>
                <a:highlight>
                  <a:srgbClr val="181818"/>
                </a:highlight>
              </a:rPr>
              <a:t> 検知して止まります。</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④ 関節の球がリンクの長さに混入し、総リーチが 14 % 過大</a:t>
            </a:r>
            <a:r>
              <a:rPr lang="ja" sz="1000">
                <a:solidFill>
                  <a:srgbClr val="CCCCCC"/>
                </a:solidFill>
                <a:highlight>
                  <a:srgbClr val="181818"/>
                </a:highlight>
              </a:rPr>
              <a:t>になっていました。以後は測った値が本当にその形で実現するかを</a:t>
            </a:r>
            <a:r>
              <a:rPr b="1" lang="ja" sz="1000">
                <a:solidFill>
                  <a:srgbClr val="CCCCCC"/>
                </a:solidFill>
                <a:highlight>
                  <a:srgbClr val="181818"/>
                </a:highlight>
              </a:rPr>
              <a:t>別経路で毎回検算</a:t>
            </a:r>
            <a:r>
              <a:rPr lang="ja" sz="1000">
                <a:solidFill>
                  <a:srgbClr val="CCCCCC"/>
                </a:solidFill>
                <a:highlight>
                  <a:srgbClr val="181818"/>
                </a:highlight>
              </a:rPr>
              <a:t>しています。</a:t>
            </a:r>
            <a:endParaRPr sz="1000">
              <a:solidFill>
                <a:srgbClr val="CCCCCC"/>
              </a:solidFill>
              <a:highlight>
                <a:srgbClr val="181818"/>
              </a:highlight>
            </a:endParaRPr>
          </a:p>
          <a:p>
            <a:pPr indent="0" lvl="0" marL="0" rtl="0" algn="l">
              <a:lnSpc>
                <a:spcPct val="100000"/>
              </a:lnSpc>
              <a:spcBef>
                <a:spcPts val="200"/>
              </a:spcBef>
              <a:spcAft>
                <a:spcPts val="0"/>
              </a:spcAft>
              <a:buSzPts val="1100"/>
              <a:buFont typeface="Arial"/>
              <a:buNone/>
            </a:pPr>
            <a:r>
              <a:t/>
            </a:r>
            <a:endParaRPr/>
          </a:p>
        </p:txBody>
      </p:sp>
      <p:sp>
        <p:nvSpPr>
          <p:cNvPr id="261" name="Google Shape;261;g409ccd5bbe6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09ccd5bbe6_0_3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t/>
            </a:r>
            <a:endParaRPr sz="1100"/>
          </a:p>
        </p:txBody>
      </p:sp>
      <p:sp>
        <p:nvSpPr>
          <p:cNvPr id="273" name="Google Shape;273;g409ccd5bbe6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409ccd5bbe6_0_6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br>
              <a:rPr lang="ja" sz="1000">
                <a:solidFill>
                  <a:srgbClr val="CCCCCC"/>
                </a:solidFill>
                <a:highlight>
                  <a:srgbClr val="181818"/>
                </a:highlight>
              </a:rPr>
            </a:br>
            <a:br>
              <a:rPr lang="ja" sz="1000">
                <a:solidFill>
                  <a:srgbClr val="CCCCCC"/>
                </a:solidFill>
                <a:highlight>
                  <a:srgbClr val="181818"/>
                </a:highlight>
              </a:rPr>
            </a:br>
            <a:r>
              <a:rPr lang="ja" sz="1000">
                <a:solidFill>
                  <a:srgbClr val="CCCCCC"/>
                </a:solidFill>
                <a:highlight>
                  <a:srgbClr val="181818"/>
                </a:highlight>
              </a:rPr>
              <a:t>注意：リンクは 0.15〜0.40 m なので、</a:t>
            </a:r>
            <a:r>
              <a:rPr b="1" lang="ja" sz="1000">
                <a:solidFill>
                  <a:srgbClr val="CCCCCC"/>
                </a:solidFill>
                <a:highlight>
                  <a:srgbClr val="181818"/>
                </a:highlight>
              </a:rPr>
              <a:t>リンクより広い探索幅だし重さは48gしかないし、関節のトルクはその重さに対して強すぎる。</a:t>
            </a:r>
            <a:br>
              <a:rPr b="1" lang="ja" sz="1000">
                <a:solidFill>
                  <a:srgbClr val="CCCCCC"/>
                </a:solidFill>
                <a:highlight>
                  <a:srgbClr val="181818"/>
                </a:highlight>
              </a:rPr>
            </a:br>
            <a:r>
              <a:rPr b="1" lang="ja" sz="1000">
                <a:solidFill>
                  <a:srgbClr val="CCCCCC"/>
                </a:solidFill>
                <a:highlight>
                  <a:srgbClr val="181818"/>
                </a:highlight>
              </a:rPr>
              <a:t>つまり何もかも適当。先行研究の値を引き継いだだけ。ただすべて同じ物理空間でやっているから主張の逆転などは起こらないが実機などは更に遠くなった。</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15000"/>
              </a:lnSpc>
              <a:spcBef>
                <a:spcPts val="100"/>
              </a:spcBef>
              <a:spcAft>
                <a:spcPts val="0"/>
              </a:spcAft>
              <a:buClr>
                <a:schemeClr val="dk1"/>
              </a:buClr>
              <a:buSzPts val="1100"/>
              <a:buFont typeface="Arial"/>
              <a:buNone/>
            </a:pPr>
            <a:r>
              <a:t/>
            </a:r>
            <a:endParaRPr b="1" sz="1000">
              <a:solidFill>
                <a:srgbClr val="CCCCCC"/>
              </a:solidFill>
              <a:highlight>
                <a:srgbClr val="181818"/>
              </a:highlight>
            </a:endParaRPr>
          </a:p>
          <a:p>
            <a:pPr indent="0" lvl="0" marL="0" rtl="0" algn="l">
              <a:lnSpc>
                <a:spcPct val="100000"/>
              </a:lnSpc>
              <a:spcBef>
                <a:spcPts val="200"/>
              </a:spcBef>
              <a:spcAft>
                <a:spcPts val="0"/>
              </a:spcAft>
              <a:buSzPts val="1100"/>
              <a:buFont typeface="Arial"/>
              <a:buNone/>
            </a:pPr>
            <a:r>
              <a:t/>
            </a:r>
            <a:endParaRPr/>
          </a:p>
        </p:txBody>
      </p:sp>
      <p:sp>
        <p:nvSpPr>
          <p:cNvPr id="283" name="Google Shape;283;g409ccd5bbe6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9ccd5bbe6_0_20: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フィードバックはどうやってだしている？(詳しくはdocs/</a:t>
            </a:r>
            <a:r>
              <a:rPr lang="ja"/>
              <a:t>設計/設計診断</a:t>
            </a:r>
            <a:r>
              <a:rPr lang="ja"/>
              <a:t>.md)</a:t>
            </a:r>
            <a:endParaRPr/>
          </a:p>
          <a:p>
            <a:pPr indent="0" lvl="0" marL="0" rtl="0" algn="l">
              <a:lnSpc>
                <a:spcPct val="100000"/>
              </a:lnSpc>
              <a:spcBef>
                <a:spcPts val="0"/>
              </a:spcBef>
              <a:spcAft>
                <a:spcPts val="0"/>
              </a:spcAft>
              <a:buSzPts val="1100"/>
              <a:buFont typeface="Arial"/>
              <a:buNone/>
            </a:pPr>
            <a:r>
              <a:rPr lang="ja"/>
              <a:t>二層は形状の指摘</a:t>
            </a:r>
            <a:endParaRPr/>
          </a:p>
          <a:p>
            <a:pPr indent="0" lvl="0" marL="0" rtl="0" algn="l">
              <a:lnSpc>
                <a:spcPct val="100000"/>
              </a:lnSpc>
              <a:spcBef>
                <a:spcPts val="0"/>
              </a:spcBef>
              <a:spcAft>
                <a:spcPts val="0"/>
              </a:spcAft>
              <a:buSzPts val="1100"/>
              <a:buFont typeface="Arial"/>
              <a:buNone/>
            </a:pPr>
            <a:r>
              <a:rPr lang="ja"/>
              <a:t>太さとギア比をifで深刻度別にアドバイス</a:t>
            </a:r>
            <a:endParaRPr/>
          </a:p>
          <a:p>
            <a:pPr indent="0" lvl="0" marL="0" rtl="0" algn="l">
              <a:lnSpc>
                <a:spcPct val="100000"/>
              </a:lnSpc>
              <a:spcBef>
                <a:spcPts val="0"/>
              </a:spcBef>
              <a:spcAft>
                <a:spcPts val="0"/>
              </a:spcAft>
              <a:buSzPts val="1100"/>
              <a:buFont typeface="Arial"/>
              <a:buNone/>
            </a:pPr>
            <a:r>
              <a:rPr lang="ja">
                <a:solidFill>
                  <a:schemeClr val="dk1"/>
                </a:solidFill>
              </a:rPr>
              <a:t>例えば</a:t>
            </a:r>
            <a:r>
              <a:rPr lang="ja" sz="1000">
                <a:solidFill>
                  <a:schemeClr val="dk1"/>
                </a:solidFill>
              </a:rPr>
              <a:t>ギア比も太さも下限 かつ 押しタスクだと深刻度;fatalで「強い出力が有利なはずなのに最弱を選んでいます。何をどう調整しても成績が上がらない兆候です。形そのものを変えてください」となる。</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三層は制御の指摘</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結</a:t>
            </a:r>
            <a:r>
              <a:rPr lang="ja">
                <a:solidFill>
                  <a:schemeClr val="dk1"/>
                </a:solidFill>
              </a:rPr>
              <a:t>果でアドバイス</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例えばpusherで移動量&lt;1mmのときは</a:t>
            </a:r>
            <a:r>
              <a:rPr lang="ja" sz="1000">
                <a:solidFill>
                  <a:schemeClr val="dk1"/>
                </a:solidFill>
              </a:rPr>
              <a:t>「対象がまったく動いていません（触れられていない可能性）」</a:t>
            </a:r>
            <a:endParaRPr sz="1000">
              <a:solidFill>
                <a:schemeClr val="dk1"/>
              </a:solidFill>
            </a:endParaRPr>
          </a:p>
          <a:p>
            <a:pPr indent="0" lvl="0" marL="0" rtl="0" algn="l">
              <a:lnSpc>
                <a:spcPct val="100000"/>
              </a:lnSpc>
              <a:spcBef>
                <a:spcPts val="0"/>
              </a:spcBef>
              <a:spcAft>
                <a:spcPts val="0"/>
              </a:spcAft>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ちなみにif文の閾値に根拠はないよ〜</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rgbClr val="CCCCCC"/>
                </a:solidFill>
                <a:highlight>
                  <a:srgbClr val="181818"/>
                </a:highlight>
              </a:rPr>
              <a:t>いちおう2seedでやったけど根拠と言えるとこまでできてない</a:t>
            </a:r>
            <a:endParaRPr sz="1000">
              <a:solidFill>
                <a:srgbClr val="CCCCCC"/>
              </a:solidFill>
              <a:highlight>
                <a:srgbClr val="181818"/>
              </a:highlight>
            </a:endParaRPr>
          </a:p>
        </p:txBody>
      </p:sp>
      <p:sp>
        <p:nvSpPr>
          <p:cNvPr id="294" name="Google Shape;294;g409ccd5bbe6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6f0a30138_0_3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303" name="Google Shape;303;g3f6f0a30138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6f0a30138_0_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310" name="Google Shape;310;g3f6f0a30138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8" name="Shape 58"/>
        <p:cNvGrpSpPr/>
        <p:nvPr/>
      </p:nvGrpSpPr>
      <p:grpSpPr>
        <a:xfrm>
          <a:off x="0" y="0"/>
          <a:ext cx="0" cy="0"/>
          <a:chOff x="0" y="0"/>
          <a:chExt cx="0" cy="0"/>
        </a:xfrm>
      </p:grpSpPr>
      <p:sp>
        <p:nvSpPr>
          <p:cNvPr id="59" name="Google Shape;59;p1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2" name="Shape 62"/>
        <p:cNvGrpSpPr/>
        <p:nvPr/>
      </p:nvGrpSpPr>
      <p:grpSpPr>
        <a:xfrm>
          <a:off x="0" y="0"/>
          <a:ext cx="0" cy="0"/>
          <a:chOff x="0" y="0"/>
          <a:chExt cx="0" cy="0"/>
        </a:xfrm>
      </p:grpSpPr>
      <p:sp>
        <p:nvSpPr>
          <p:cNvPr id="63" name="Google Shape;63;p1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subTitle"/>
          </p:nvPr>
        </p:nvSpPr>
        <p:spPr>
          <a:xfrm>
            <a:off x="685800" y="1275210"/>
            <a:ext cx="7772100" cy="308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7" name="Google Shape;67;p1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85800" y="1275210"/>
            <a:ext cx="77721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1" name="Google Shape;71;p16"/>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73" name="Google Shape;73;p16"/>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7" name="Google Shape;77;p17"/>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8" name="Google Shape;78;p17"/>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0" name="Google Shape;80;p17"/>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5" name="Google Shape;85;p18"/>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6" name="Shape 86"/>
        <p:cNvGrpSpPr/>
        <p:nvPr/>
      </p:nvGrpSpPr>
      <p:grpSpPr>
        <a:xfrm>
          <a:off x="0" y="0"/>
          <a:ext cx="0" cy="0"/>
          <a:chOff x="0" y="0"/>
          <a:chExt cx="0" cy="0"/>
        </a:xfrm>
      </p:grpSpPr>
      <p:sp>
        <p:nvSpPr>
          <p:cNvPr id="87" name="Google Shape;87;p19"/>
          <p:cNvSpPr txBox="1"/>
          <p:nvPr>
            <p:ph idx="1" type="subTitle"/>
          </p:nvPr>
        </p:nvSpPr>
        <p:spPr>
          <a:xfrm>
            <a:off x="468180" y="33210"/>
            <a:ext cx="7272000" cy="311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9"/>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0" name="Google Shape;90;p19"/>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1" name="Shape 91"/>
        <p:cNvGrpSpPr/>
        <p:nvPr/>
      </p:nvGrpSpPr>
      <p:grpSpPr>
        <a:xfrm>
          <a:off x="0" y="0"/>
          <a:ext cx="0" cy="0"/>
          <a:chOff x="0" y="0"/>
          <a:chExt cx="0" cy="0"/>
        </a:xfrm>
      </p:grpSpPr>
      <p:sp>
        <p:nvSpPr>
          <p:cNvPr id="92" name="Google Shape;92;p20"/>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20"/>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4" name="Google Shape;94;p20"/>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5" name="Google Shape;95;p20"/>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6" name="Google Shape;96;p20"/>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8" name="Google Shape;98;p20"/>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9" name="Shape 99"/>
        <p:cNvGrpSpPr/>
        <p:nvPr/>
      </p:nvGrpSpPr>
      <p:grpSpPr>
        <a:xfrm>
          <a:off x="0" y="0"/>
          <a:ext cx="0" cy="0"/>
          <a:chOff x="0" y="0"/>
          <a:chExt cx="0" cy="0"/>
        </a:xfrm>
      </p:grpSpPr>
      <p:sp>
        <p:nvSpPr>
          <p:cNvPr id="100" name="Google Shape;100;p21"/>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2" name="Google Shape;102;p21"/>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3" name="Google Shape;103;p21"/>
          <p:cNvSpPr txBox="1"/>
          <p:nvPr>
            <p:ph idx="3"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06" name="Google Shape;106;p21"/>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7" name="Shape 107"/>
        <p:cNvGrpSpPr/>
        <p:nvPr/>
      </p:nvGrpSpPr>
      <p:grpSpPr>
        <a:xfrm>
          <a:off x="0" y="0"/>
          <a:ext cx="0" cy="0"/>
          <a:chOff x="0" y="0"/>
          <a:chExt cx="0" cy="0"/>
        </a:xfrm>
      </p:grpSpPr>
      <p:sp>
        <p:nvSpPr>
          <p:cNvPr id="108" name="Google Shape;108;p22"/>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22"/>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0" name="Google Shape;110;p22"/>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1" name="Google Shape;111;p22"/>
          <p:cNvSpPr txBox="1"/>
          <p:nvPr>
            <p:ph idx="3"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2" name="Google Shape;112;p22"/>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2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14" name="Google Shape;114;p22"/>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 type="body"/>
          </p:nvPr>
        </p:nvSpPr>
        <p:spPr>
          <a:xfrm>
            <a:off x="685800" y="12752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8" name="Google Shape;118;p23"/>
          <p:cNvSpPr txBox="1"/>
          <p:nvPr>
            <p:ph idx="2"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9" name="Google Shape;119;p2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21" name="Google Shape;121;p2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2" name="Shape 122"/>
        <p:cNvGrpSpPr/>
        <p:nvPr/>
      </p:nvGrpSpPr>
      <p:grpSpPr>
        <a:xfrm>
          <a:off x="0" y="0"/>
          <a:ext cx="0" cy="0"/>
          <a:chOff x="0" y="0"/>
          <a:chExt cx="0" cy="0"/>
        </a:xfrm>
      </p:grpSpPr>
      <p:sp>
        <p:nvSpPr>
          <p:cNvPr id="123" name="Google Shape;123;p24"/>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5" name="Google Shape;125;p24"/>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6" name="Google Shape;126;p24"/>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24"/>
          <p:cNvSpPr txBox="1"/>
          <p:nvPr>
            <p:ph idx="4"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8" name="Google Shape;128;p2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2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30" name="Google Shape;130;p2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31" name="Shape 131"/>
        <p:cNvGrpSpPr/>
        <p:nvPr/>
      </p:nvGrpSpPr>
      <p:grpSpPr>
        <a:xfrm>
          <a:off x="0" y="0"/>
          <a:ext cx="0" cy="0"/>
          <a:chOff x="0" y="0"/>
          <a:chExt cx="0" cy="0"/>
        </a:xfrm>
      </p:grpSpPr>
      <p:sp>
        <p:nvSpPr>
          <p:cNvPr id="132" name="Google Shape;132;p2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5"/>
          <p:cNvSpPr txBox="1"/>
          <p:nvPr>
            <p:ph idx="1" type="body"/>
          </p:nvPr>
        </p:nvSpPr>
        <p:spPr>
          <a:xfrm>
            <a:off x="68580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4" name="Google Shape;134;p25"/>
          <p:cNvSpPr txBox="1"/>
          <p:nvPr>
            <p:ph idx="2" type="body"/>
          </p:nvPr>
        </p:nvSpPr>
        <p:spPr>
          <a:xfrm>
            <a:off x="331344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5" name="Google Shape;135;p25"/>
          <p:cNvSpPr txBox="1"/>
          <p:nvPr>
            <p:ph idx="3" type="body"/>
          </p:nvPr>
        </p:nvSpPr>
        <p:spPr>
          <a:xfrm>
            <a:off x="594135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6" name="Google Shape;136;p25"/>
          <p:cNvSpPr txBox="1"/>
          <p:nvPr>
            <p:ph idx="4" type="body"/>
          </p:nvPr>
        </p:nvSpPr>
        <p:spPr>
          <a:xfrm>
            <a:off x="68580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7" name="Google Shape;137;p25"/>
          <p:cNvSpPr txBox="1"/>
          <p:nvPr>
            <p:ph idx="5" type="body"/>
          </p:nvPr>
        </p:nvSpPr>
        <p:spPr>
          <a:xfrm>
            <a:off x="331344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8" name="Google Shape;138;p25"/>
          <p:cNvSpPr txBox="1"/>
          <p:nvPr>
            <p:ph idx="6" type="body"/>
          </p:nvPr>
        </p:nvSpPr>
        <p:spPr>
          <a:xfrm>
            <a:off x="594135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9" name="Google Shape;139;p2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2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41" name="Google Shape;141;p2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7.png"/><Relationship Id="rId2" Type="http://schemas.openxmlformats.org/officeDocument/2006/relationships/image" Target="../media/image15.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theme" Target="../theme/theme2.xml"/><Relationship Id="rId14" Type="http://schemas.openxmlformats.org/officeDocument/2006/relationships/slideLayout" Target="../slideLayouts/slideLayout2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1620" y="1080"/>
            <a:ext cx="6856650" cy="748710"/>
          </a:xfrm>
          <a:prstGeom prst="rect">
            <a:avLst/>
          </a:prstGeom>
          <a:noFill/>
          <a:ln>
            <a:noFill/>
          </a:ln>
        </p:spPr>
      </p:pic>
      <p:pic>
        <p:nvPicPr>
          <p:cNvPr id="52" name="Google Shape;52;p13"/>
          <p:cNvPicPr preferRelativeResize="0"/>
          <p:nvPr/>
        </p:nvPicPr>
        <p:blipFill rotWithShape="1">
          <a:blip r:embed="rId2">
            <a:alphaModFix/>
          </a:blip>
          <a:srcRect b="0" l="0" r="0" t="0"/>
          <a:stretch/>
        </p:blipFill>
        <p:spPr>
          <a:xfrm>
            <a:off x="7362090" y="443880"/>
            <a:ext cx="1241459" cy="303210"/>
          </a:xfrm>
          <a:prstGeom prst="rect">
            <a:avLst/>
          </a:prstGeom>
          <a:noFill/>
          <a:ln>
            <a:noFill/>
          </a:ln>
        </p:spPr>
      </p:pic>
      <p:sp>
        <p:nvSpPr>
          <p:cNvPr id="53" name="Google Shape;53;p13"/>
          <p:cNvSpPr txBox="1"/>
          <p:nvPr>
            <p:ph type="title"/>
          </p:nvPr>
        </p:nvSpPr>
        <p:spPr>
          <a:xfrm>
            <a:off x="1142910" y="841860"/>
            <a:ext cx="6857700" cy="1790700"/>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3"/>
          <p:cNvSpPr txBox="1"/>
          <p:nvPr>
            <p:ph idx="1" type="body"/>
          </p:nvPr>
        </p:nvSpPr>
        <p:spPr>
          <a:xfrm>
            <a:off x="457110" y="1203390"/>
            <a:ext cx="8229300" cy="2983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増沢さんゼミ_0911</a:t>
            </a:r>
            <a:endParaRPr/>
          </a:p>
        </p:txBody>
      </p:sp>
      <p:sp>
        <p:nvSpPr>
          <p:cNvPr id="147" name="Google Shape;147;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秋田光志朗</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134156" y="168557"/>
            <a:ext cx="8924100" cy="2670600"/>
          </a:xfrm>
          <a:prstGeom prst="rect">
            <a:avLst/>
          </a:prstGeom>
          <a:noFill/>
          <a:ln>
            <a:noFill/>
          </a:ln>
        </p:spPr>
        <p:txBody>
          <a:bodyPr anchorCtr="0" anchor="b" bIns="0" lIns="0" spcFirstLastPara="1" rIns="0" wrap="square" tIns="0">
            <a:normAutofit/>
          </a:bodyPr>
          <a:lstStyle/>
          <a:p>
            <a:pPr indent="0" lvl="0" marL="0" rtl="0" algn="ctr">
              <a:lnSpc>
                <a:spcPct val="90000"/>
              </a:lnSpc>
              <a:spcBef>
                <a:spcPts val="0"/>
              </a:spcBef>
              <a:spcAft>
                <a:spcPts val="0"/>
              </a:spcAft>
              <a:buClr>
                <a:srgbClr val="000000"/>
              </a:buClr>
              <a:buSzPts val="4100"/>
              <a:buFont typeface="Arial"/>
              <a:buNone/>
            </a:pPr>
            <a:r>
              <a:rPr lang="ja" sz="3200"/>
              <a:t>手描きスケッチからロボットモデルを</a:t>
            </a:r>
            <a:br>
              <a:rPr lang="ja" sz="3200"/>
            </a:br>
            <a:r>
              <a:rPr lang="ja" sz="3200"/>
              <a:t>生成するシステムの開発</a:t>
            </a:r>
            <a:endParaRPr sz="3200"/>
          </a:p>
        </p:txBody>
      </p:sp>
      <p:sp>
        <p:nvSpPr>
          <p:cNvPr id="153" name="Google Shape;153;p27"/>
          <p:cNvSpPr txBox="1"/>
          <p:nvPr>
            <p:ph idx="1" type="subTitle"/>
          </p:nvPr>
        </p:nvSpPr>
        <p:spPr>
          <a:xfrm>
            <a:off x="2125350" y="3902569"/>
            <a:ext cx="6944100" cy="1957200"/>
          </a:xfrm>
          <a:prstGeom prst="rect">
            <a:avLst/>
          </a:prstGeom>
          <a:noFill/>
          <a:ln>
            <a:noFill/>
          </a:ln>
        </p:spPr>
        <p:txBody>
          <a:bodyPr anchorCtr="0" anchor="t" bIns="0" lIns="0" spcFirstLastPara="1" rIns="0" wrap="square" tIns="0">
            <a:normAutofit/>
          </a:bodyPr>
          <a:lstStyle/>
          <a:p>
            <a:pPr indent="0" lvl="0" marL="0" marR="0" rtl="0" algn="r">
              <a:lnSpc>
                <a:spcPct val="90000"/>
              </a:lnSpc>
              <a:spcBef>
                <a:spcPts val="0"/>
              </a:spcBef>
              <a:spcAft>
                <a:spcPts val="0"/>
              </a:spcAft>
              <a:buClr>
                <a:srgbClr val="000000"/>
              </a:buClr>
              <a:buSzPts val="1800"/>
              <a:buFont typeface="Arial"/>
              <a:buNone/>
            </a:pPr>
            <a:r>
              <a:rPr lang="ja" sz="1800"/>
              <a:t>豊橋技術科学大学</a:t>
            </a:r>
            <a:endParaRPr sz="1800"/>
          </a:p>
          <a:p>
            <a:pPr indent="0" lvl="0" marL="0" marR="0" rtl="0" algn="r">
              <a:lnSpc>
                <a:spcPct val="90000"/>
              </a:lnSpc>
              <a:spcBef>
                <a:spcPts val="0"/>
              </a:spcBef>
              <a:spcAft>
                <a:spcPts val="0"/>
              </a:spcAft>
              <a:buClr>
                <a:srgbClr val="000000"/>
              </a:buClr>
              <a:buSzPts val="1800"/>
              <a:buFont typeface="Arial"/>
              <a:buNone/>
            </a:pPr>
            <a:r>
              <a:rPr b="0" i="0" lang="ja" sz="1800" u="none" cap="none" strike="noStrike">
                <a:solidFill>
                  <a:srgbClr val="000000"/>
                </a:solidFill>
                <a:latin typeface="Arial"/>
                <a:ea typeface="Arial"/>
                <a:cs typeface="Arial"/>
                <a:sym typeface="Arial"/>
              </a:rPr>
              <a:t>情報・ロボットシステム研究室</a:t>
            </a:r>
            <a:endParaRPr sz="1800"/>
          </a:p>
          <a:p>
            <a:pPr indent="0" lvl="0" marL="0" marR="0" rtl="0" algn="r">
              <a:lnSpc>
                <a:spcPct val="90000"/>
              </a:lnSpc>
              <a:spcBef>
                <a:spcPts val="0"/>
              </a:spcBef>
              <a:spcAft>
                <a:spcPts val="0"/>
              </a:spcAft>
              <a:buClr>
                <a:srgbClr val="000000"/>
              </a:buClr>
              <a:buSzPts val="1800"/>
              <a:buFont typeface="Arial"/>
              <a:buNone/>
            </a:pPr>
            <a:r>
              <a:rPr lang="ja" sz="1800"/>
              <a:t>秋田光志朗,</a:t>
            </a:r>
            <a:r>
              <a:rPr b="0" i="0" lang="ja" sz="1800" u="none" cap="none" strike="noStrike">
                <a:solidFill>
                  <a:srgbClr val="000000"/>
                </a:solidFill>
                <a:latin typeface="Arial"/>
                <a:ea typeface="Arial"/>
                <a:cs typeface="Arial"/>
                <a:sym typeface="Arial"/>
              </a:rPr>
              <a:t>垣内洋平</a:t>
            </a:r>
            <a:endParaRPr sz="1800"/>
          </a:p>
          <a:p>
            <a:pPr indent="0" lvl="0" marL="0" marR="0" rtl="0" algn="r">
              <a:lnSpc>
                <a:spcPct val="90000"/>
              </a:lnSpc>
              <a:spcBef>
                <a:spcPts val="800"/>
              </a:spcBef>
              <a:spcAft>
                <a:spcPts val="0"/>
              </a:spcAft>
              <a:buClr>
                <a:srgbClr val="000000"/>
              </a:buClr>
              <a:buSzPts val="1800"/>
              <a:buFont typeface="Arial"/>
              <a:buNone/>
            </a:pPr>
            <a:r>
              <a:t/>
            </a:r>
            <a:endParaRPr sz="1800"/>
          </a:p>
        </p:txBody>
      </p:sp>
      <p:sp>
        <p:nvSpPr>
          <p:cNvPr id="154" name="Google Shape;154;p27"/>
          <p:cNvSpPr txBox="1"/>
          <p:nvPr>
            <p:ph idx="12" type="sldNum"/>
          </p:nvPr>
        </p:nvSpPr>
        <p:spPr>
          <a:xfrm>
            <a:off x="8680579" y="4943423"/>
            <a:ext cx="402300" cy="1320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8"/>
          <p:cNvPicPr preferRelativeResize="0"/>
          <p:nvPr/>
        </p:nvPicPr>
        <p:blipFill rotWithShape="1">
          <a:blip r:embed="rId3">
            <a:alphaModFix/>
          </a:blip>
          <a:srcRect b="0" l="0" r="0" t="0"/>
          <a:stretch/>
        </p:blipFill>
        <p:spPr>
          <a:xfrm>
            <a:off x="911450" y="2571748"/>
            <a:ext cx="1600599" cy="1597875"/>
          </a:xfrm>
          <a:prstGeom prst="rect">
            <a:avLst/>
          </a:prstGeom>
          <a:noFill/>
          <a:ln>
            <a:noFill/>
          </a:ln>
        </p:spPr>
      </p:pic>
      <p:sp>
        <p:nvSpPr>
          <p:cNvPr id="160" name="Google Shape;160;p28"/>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b="0" i="0" lang="ja" sz="3000" u="none" cap="none" strike="noStrike">
                <a:solidFill>
                  <a:srgbClr val="000000"/>
                </a:solidFill>
                <a:latin typeface="Arial"/>
                <a:ea typeface="Arial"/>
                <a:cs typeface="Arial"/>
                <a:sym typeface="Arial"/>
              </a:rPr>
              <a:t>研究背景</a:t>
            </a:r>
            <a:endParaRPr b="0" i="0" sz="3000" u="none" cap="none" strike="noStrike">
              <a:solidFill>
                <a:srgbClr val="000000"/>
              </a:solidFill>
              <a:latin typeface="Arial"/>
              <a:ea typeface="Arial"/>
              <a:cs typeface="Arial"/>
              <a:sym typeface="Arial"/>
            </a:endParaRPr>
          </a:p>
        </p:txBody>
      </p:sp>
      <p:sp>
        <p:nvSpPr>
          <p:cNvPr id="161" name="Google Shape;161;p28"/>
          <p:cNvSpPr txBox="1"/>
          <p:nvPr>
            <p:ph idx="4294967295" type="body"/>
          </p:nvPr>
        </p:nvSpPr>
        <p:spPr>
          <a:xfrm>
            <a:off x="164767" y="813845"/>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ロボティクスではAIによるプログラム開発の高速化が進む一方，検証に必要な機体モデル設計は依然として専門性が高い領域である</a:t>
            </a:r>
            <a:endParaRPr sz="1800"/>
          </a:p>
          <a:p>
            <a:pPr indent="0" lvl="0" marL="0" marR="0" rtl="0" algn="l">
              <a:lnSpc>
                <a:spcPct val="115000"/>
              </a:lnSpc>
              <a:spcBef>
                <a:spcPts val="800"/>
              </a:spcBef>
              <a:spcAft>
                <a:spcPts val="0"/>
              </a:spcAft>
              <a:buSzPts val="1100"/>
              <a:buNone/>
            </a:pPr>
            <a:r>
              <a:t/>
            </a:r>
            <a:endParaRPr sz="1800"/>
          </a:p>
        </p:txBody>
      </p:sp>
      <p:sp>
        <p:nvSpPr>
          <p:cNvPr id="162" name="Google Shape;162;p28"/>
          <p:cNvSpPr/>
          <p:nvPr/>
        </p:nvSpPr>
        <p:spPr>
          <a:xfrm>
            <a:off x="509900" y="1715350"/>
            <a:ext cx="2829900" cy="637500"/>
          </a:xfrm>
          <a:prstGeom prst="wedgeEllipseCallout">
            <a:avLst>
              <a:gd fmla="val -20833" name="adj1"/>
              <a:gd fmla="val 625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ロボットを使って</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やりたいアイデア</a:t>
            </a:r>
            <a:endParaRPr b="0" i="0" sz="1400" u="none" cap="none" strike="noStrike">
              <a:solidFill>
                <a:srgbClr val="000000"/>
              </a:solidFill>
              <a:latin typeface="Arial"/>
              <a:ea typeface="Arial"/>
              <a:cs typeface="Arial"/>
              <a:sym typeface="Arial"/>
            </a:endParaRPr>
          </a:p>
        </p:txBody>
      </p:sp>
      <p:sp>
        <p:nvSpPr>
          <p:cNvPr id="163" name="Google Shape;163;p28"/>
          <p:cNvSpPr/>
          <p:nvPr/>
        </p:nvSpPr>
        <p:spPr>
          <a:xfrm rot="-1459700">
            <a:off x="3185431" y="2367646"/>
            <a:ext cx="1168789" cy="48457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8"/>
          <p:cNvSpPr/>
          <p:nvPr/>
        </p:nvSpPr>
        <p:spPr>
          <a:xfrm rot="1661850">
            <a:off x="3199483" y="3377452"/>
            <a:ext cx="1154036" cy="48456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p28"/>
          <p:cNvPicPr preferRelativeResize="0"/>
          <p:nvPr/>
        </p:nvPicPr>
        <p:blipFill rotWithShape="1">
          <a:blip r:embed="rId4">
            <a:alphaModFix/>
          </a:blip>
          <a:srcRect b="0" l="0" r="0" t="0"/>
          <a:stretch/>
        </p:blipFill>
        <p:spPr>
          <a:xfrm>
            <a:off x="4794950" y="1643825"/>
            <a:ext cx="1251000" cy="1251000"/>
          </a:xfrm>
          <a:prstGeom prst="rect">
            <a:avLst/>
          </a:prstGeom>
          <a:noFill/>
          <a:ln>
            <a:noFill/>
          </a:ln>
        </p:spPr>
      </p:pic>
      <p:sp>
        <p:nvSpPr>
          <p:cNvPr id="166" name="Google Shape;166;p28"/>
          <p:cNvSpPr txBox="1"/>
          <p:nvPr/>
        </p:nvSpPr>
        <p:spPr>
          <a:xfrm>
            <a:off x="4321300" y="2894825"/>
            <a:ext cx="43341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AIにより高速化されたロボットプログラミング</a:t>
            </a:r>
            <a:endParaRPr b="0" i="0" sz="1400" u="none" cap="none" strike="noStrike">
              <a:solidFill>
                <a:srgbClr val="000000"/>
              </a:solidFill>
              <a:latin typeface="Arial"/>
              <a:ea typeface="Arial"/>
              <a:cs typeface="Arial"/>
              <a:sym typeface="Arial"/>
            </a:endParaRPr>
          </a:p>
        </p:txBody>
      </p:sp>
      <p:pic>
        <p:nvPicPr>
          <p:cNvPr id="167" name="Google Shape;167;p28"/>
          <p:cNvPicPr preferRelativeResize="0"/>
          <p:nvPr/>
        </p:nvPicPr>
        <p:blipFill rotWithShape="1">
          <a:blip r:embed="rId5">
            <a:alphaModFix/>
          </a:blip>
          <a:srcRect b="0" l="0" r="0" t="0"/>
          <a:stretch/>
        </p:blipFill>
        <p:spPr>
          <a:xfrm>
            <a:off x="4794950" y="3308475"/>
            <a:ext cx="1539000" cy="1539000"/>
          </a:xfrm>
          <a:prstGeom prst="rect">
            <a:avLst/>
          </a:prstGeom>
          <a:noFill/>
          <a:ln>
            <a:noFill/>
          </a:ln>
        </p:spPr>
      </p:pic>
      <p:sp>
        <p:nvSpPr>
          <p:cNvPr id="168" name="Google Shape;168;p28"/>
          <p:cNvSpPr txBox="1"/>
          <p:nvPr/>
        </p:nvSpPr>
        <p:spPr>
          <a:xfrm>
            <a:off x="4747750" y="4722550"/>
            <a:ext cx="32124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プログラムを試す機体モデルの設計</a:t>
            </a:r>
            <a:endParaRPr b="0" i="0" sz="1400" u="none" cap="none" strike="noStrike">
              <a:solidFill>
                <a:srgbClr val="000000"/>
              </a:solidFill>
              <a:latin typeface="Arial"/>
              <a:ea typeface="Arial"/>
              <a:cs typeface="Arial"/>
              <a:sym typeface="Arial"/>
            </a:endParaRPr>
          </a:p>
        </p:txBody>
      </p:sp>
      <p:sp>
        <p:nvSpPr>
          <p:cNvPr id="169" name="Google Shape;169;p28"/>
          <p:cNvSpPr/>
          <p:nvPr/>
        </p:nvSpPr>
        <p:spPr>
          <a:xfrm>
            <a:off x="6045950" y="1637116"/>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アイデアをすぐに</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形にできる！</a:t>
            </a:r>
            <a:endParaRPr b="0" i="0" sz="1400" u="none" cap="none" strike="noStrike">
              <a:solidFill>
                <a:srgbClr val="000000"/>
              </a:solidFill>
              <a:latin typeface="Arial"/>
              <a:ea typeface="Arial"/>
              <a:cs typeface="Arial"/>
              <a:sym typeface="Arial"/>
            </a:endParaRPr>
          </a:p>
        </p:txBody>
      </p:sp>
      <p:sp>
        <p:nvSpPr>
          <p:cNvPr id="170" name="Google Shape;170;p28"/>
          <p:cNvSpPr/>
          <p:nvPr/>
        </p:nvSpPr>
        <p:spPr>
          <a:xfrm>
            <a:off x="6218075" y="3319814"/>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でも、試すロボットのモデルが作れない…</a:t>
            </a:r>
            <a:endParaRPr b="0" i="0" sz="1400" u="none" cap="none" strike="noStrike">
              <a:solidFill>
                <a:srgbClr val="000000"/>
              </a:solidFill>
              <a:latin typeface="Arial"/>
              <a:ea typeface="Arial"/>
              <a:cs typeface="Arial"/>
              <a:sym typeface="Arial"/>
            </a:endParaRPr>
          </a:p>
        </p:txBody>
      </p:sp>
      <p:sp>
        <p:nvSpPr>
          <p:cNvPr id="171" name="Google Shape;171;p2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現状の課題</a:t>
            </a:r>
            <a:endParaRPr b="0" i="0" sz="3000" u="none" cap="none" strike="noStrike">
              <a:solidFill>
                <a:srgbClr val="000000"/>
              </a:solidFill>
              <a:latin typeface="Arial"/>
              <a:ea typeface="Arial"/>
              <a:cs typeface="Arial"/>
              <a:sym typeface="Arial"/>
            </a:endParaRPr>
          </a:p>
        </p:txBody>
      </p:sp>
      <p:sp>
        <p:nvSpPr>
          <p:cNvPr id="177" name="Google Shape;177;p29"/>
          <p:cNvSpPr txBox="1"/>
          <p:nvPr>
            <p:ph idx="4294967295" type="body"/>
          </p:nvPr>
        </p:nvSpPr>
        <p:spPr>
          <a:xfrm>
            <a:off x="164775" y="813848"/>
            <a:ext cx="8786700" cy="9522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000"/>
              <a:t>プログラム検証用の機体モデル作成(CAD)には機械工学の高度な専門知識が求められ、ハード非専門のソフトエンジニアにとって大きな壁となっている</a:t>
            </a:r>
            <a:endParaRPr sz="2000"/>
          </a:p>
        </p:txBody>
      </p:sp>
      <p:pic>
        <p:nvPicPr>
          <p:cNvPr id="178" name="Google Shape;178;p29"/>
          <p:cNvPicPr preferRelativeResize="0"/>
          <p:nvPr/>
        </p:nvPicPr>
        <p:blipFill rotWithShape="1">
          <a:blip r:embed="rId3">
            <a:alphaModFix/>
          </a:blip>
          <a:srcRect b="0" l="0" r="0" t="0"/>
          <a:stretch/>
        </p:blipFill>
        <p:spPr>
          <a:xfrm>
            <a:off x="961978" y="2844816"/>
            <a:ext cx="2466575" cy="1939375"/>
          </a:xfrm>
          <a:prstGeom prst="rect">
            <a:avLst/>
          </a:prstGeom>
          <a:noFill/>
          <a:ln cap="flat" cmpd="sng" w="28575">
            <a:solidFill>
              <a:srgbClr val="000000"/>
            </a:solidFill>
            <a:prstDash val="solid"/>
            <a:round/>
            <a:headEnd len="sm" w="sm" type="none"/>
            <a:tailEnd len="sm" w="sm" type="none"/>
          </a:ln>
        </p:spPr>
      </p:pic>
      <p:sp>
        <p:nvSpPr>
          <p:cNvPr id="179" name="Google Shape;179;p29"/>
          <p:cNvSpPr/>
          <p:nvPr/>
        </p:nvSpPr>
        <p:spPr>
          <a:xfrm>
            <a:off x="24103" y="2524666"/>
            <a:ext cx="1676400" cy="671100"/>
          </a:xfrm>
          <a:prstGeom prst="wedgeEllipseCallout">
            <a:avLst>
              <a:gd fmla="val 38587" name="adj1"/>
              <a:gd fmla="val 58076"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関節可動域?</a:t>
            </a:r>
            <a:endParaRPr b="1" i="0" sz="1400" u="none" cap="none" strike="noStrike">
              <a:solidFill>
                <a:srgbClr val="000000"/>
              </a:solidFill>
              <a:latin typeface="Arial"/>
              <a:ea typeface="Arial"/>
              <a:cs typeface="Arial"/>
              <a:sym typeface="Arial"/>
            </a:endParaRPr>
          </a:p>
        </p:txBody>
      </p:sp>
      <p:sp>
        <p:nvSpPr>
          <p:cNvPr id="180" name="Google Shape;180;p29"/>
          <p:cNvSpPr/>
          <p:nvPr/>
        </p:nvSpPr>
        <p:spPr>
          <a:xfrm>
            <a:off x="2754928" y="2482563"/>
            <a:ext cx="1676400" cy="671100"/>
          </a:xfrm>
          <a:prstGeom prst="wedgeEllipseCallout">
            <a:avLst>
              <a:gd fmla="val -44266" name="adj1"/>
              <a:gd fmla="val 52462"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関節軸方向?</a:t>
            </a:r>
            <a:endParaRPr b="1" i="0" sz="1400" u="none" cap="none" strike="noStrike">
              <a:solidFill>
                <a:srgbClr val="000000"/>
              </a:solidFill>
              <a:latin typeface="Arial"/>
              <a:ea typeface="Arial"/>
              <a:cs typeface="Arial"/>
              <a:sym typeface="Arial"/>
            </a:endParaRPr>
          </a:p>
        </p:txBody>
      </p:sp>
      <p:sp>
        <p:nvSpPr>
          <p:cNvPr id="181" name="Google Shape;181;p29"/>
          <p:cNvSpPr/>
          <p:nvPr/>
        </p:nvSpPr>
        <p:spPr>
          <a:xfrm>
            <a:off x="24103" y="3743916"/>
            <a:ext cx="1465850" cy="671100"/>
          </a:xfrm>
          <a:prstGeom prst="wedgeEllipseCallout">
            <a:avLst>
              <a:gd fmla="val 57285" name="adj1"/>
              <a:gd fmla="val -45641"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強度設計?</a:t>
            </a:r>
            <a:endParaRPr b="1" i="0" sz="1400" u="none" cap="none" strike="noStrike">
              <a:solidFill>
                <a:srgbClr val="000000"/>
              </a:solidFill>
              <a:latin typeface="Arial"/>
              <a:ea typeface="Arial"/>
              <a:cs typeface="Arial"/>
              <a:sym typeface="Arial"/>
            </a:endParaRPr>
          </a:p>
        </p:txBody>
      </p:sp>
      <p:sp>
        <p:nvSpPr>
          <p:cNvPr id="182" name="Google Shape;182;p29"/>
          <p:cNvSpPr txBox="1"/>
          <p:nvPr/>
        </p:nvSpPr>
        <p:spPr>
          <a:xfrm>
            <a:off x="777586" y="1876000"/>
            <a:ext cx="32760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CAD設計に求められる専門知識</a:t>
            </a:r>
            <a:endParaRPr b="0" i="0" sz="1700" u="none" cap="none" strike="noStrike">
              <a:solidFill>
                <a:srgbClr val="000000"/>
              </a:solidFill>
              <a:latin typeface="Arial"/>
              <a:ea typeface="Arial"/>
              <a:cs typeface="Arial"/>
              <a:sym typeface="Arial"/>
            </a:endParaRPr>
          </a:p>
        </p:txBody>
      </p:sp>
      <p:pic>
        <p:nvPicPr>
          <p:cNvPr id="183" name="Google Shape;183;p29"/>
          <p:cNvPicPr preferRelativeResize="0"/>
          <p:nvPr/>
        </p:nvPicPr>
        <p:blipFill rotWithShape="1">
          <a:blip r:embed="rId4">
            <a:alphaModFix/>
          </a:blip>
          <a:srcRect b="7042" l="4742" r="4597" t="8726"/>
          <a:stretch/>
        </p:blipFill>
        <p:spPr>
          <a:xfrm>
            <a:off x="4639538" y="2811758"/>
            <a:ext cx="3746952" cy="1968449"/>
          </a:xfrm>
          <a:prstGeom prst="rect">
            <a:avLst/>
          </a:prstGeom>
          <a:noFill/>
          <a:ln>
            <a:noFill/>
          </a:ln>
        </p:spPr>
      </p:pic>
      <p:sp>
        <p:nvSpPr>
          <p:cNvPr id="184" name="Google Shape;184;p29"/>
          <p:cNvSpPr/>
          <p:nvPr/>
        </p:nvSpPr>
        <p:spPr>
          <a:xfrm>
            <a:off x="4252130" y="2275378"/>
            <a:ext cx="2388600" cy="536400"/>
          </a:xfrm>
          <a:prstGeom prst="wedgeEllipseCallout">
            <a:avLst>
              <a:gd fmla="val 17184" name="adj1"/>
              <a:gd fmla="val 71696"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すぐ検証したい!</a:t>
            </a:r>
            <a:endParaRPr b="1" i="0" sz="1400" u="none" cap="none" strike="noStrike">
              <a:solidFill>
                <a:srgbClr val="000000"/>
              </a:solidFill>
              <a:latin typeface="Arial"/>
              <a:ea typeface="Arial"/>
              <a:cs typeface="Arial"/>
              <a:sym typeface="Arial"/>
            </a:endParaRPr>
          </a:p>
        </p:txBody>
      </p:sp>
      <p:sp>
        <p:nvSpPr>
          <p:cNvPr id="185" name="Google Shape;185;p29"/>
          <p:cNvSpPr/>
          <p:nvPr/>
        </p:nvSpPr>
        <p:spPr>
          <a:xfrm>
            <a:off x="6590680" y="2485552"/>
            <a:ext cx="2176800" cy="471900"/>
          </a:xfrm>
          <a:prstGeom prst="wedgeEllipseCallout">
            <a:avLst>
              <a:gd fmla="val -44266" name="adj1"/>
              <a:gd fmla="val 52462"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まずは試したい!</a:t>
            </a:r>
            <a:endParaRPr b="1" i="0" sz="1400" u="none" cap="none" strike="noStrike">
              <a:solidFill>
                <a:srgbClr val="000000"/>
              </a:solidFill>
              <a:latin typeface="Arial"/>
              <a:ea typeface="Arial"/>
              <a:cs typeface="Arial"/>
              <a:sym typeface="Arial"/>
            </a:endParaRPr>
          </a:p>
        </p:txBody>
      </p:sp>
      <p:sp>
        <p:nvSpPr>
          <p:cNvPr id="186" name="Google Shape;186;p29"/>
          <p:cNvSpPr txBox="1"/>
          <p:nvPr/>
        </p:nvSpPr>
        <p:spPr>
          <a:xfrm>
            <a:off x="5448900" y="1876000"/>
            <a:ext cx="28686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プログラム開発側のニーズ</a:t>
            </a:r>
            <a:endParaRPr b="0" i="0" sz="1700" u="none" cap="none" strike="noStrike">
              <a:solidFill>
                <a:srgbClr val="000000"/>
              </a:solidFill>
              <a:latin typeface="Arial"/>
              <a:ea typeface="Arial"/>
              <a:cs typeface="Arial"/>
              <a:sym typeface="Arial"/>
            </a:endParaRPr>
          </a:p>
        </p:txBody>
      </p:sp>
      <p:pic>
        <p:nvPicPr>
          <p:cNvPr id="187" name="Google Shape;187;p29"/>
          <p:cNvPicPr preferRelativeResize="0"/>
          <p:nvPr/>
        </p:nvPicPr>
        <p:blipFill rotWithShape="1">
          <a:blip r:embed="rId5">
            <a:alphaModFix/>
          </a:blip>
          <a:srcRect b="0" l="0" r="0" t="0"/>
          <a:stretch/>
        </p:blipFill>
        <p:spPr>
          <a:xfrm>
            <a:off x="3463353" y="3970750"/>
            <a:ext cx="641800" cy="851950"/>
          </a:xfrm>
          <a:prstGeom prst="rect">
            <a:avLst/>
          </a:prstGeom>
          <a:noFill/>
          <a:ln>
            <a:noFill/>
          </a:ln>
        </p:spPr>
      </p:pic>
      <p:pic>
        <p:nvPicPr>
          <p:cNvPr id="188" name="Google Shape;188;p29"/>
          <p:cNvPicPr preferRelativeResize="0"/>
          <p:nvPr/>
        </p:nvPicPr>
        <p:blipFill rotWithShape="1">
          <a:blip r:embed="rId6">
            <a:alphaModFix/>
          </a:blip>
          <a:srcRect b="0" l="0" r="0" t="0"/>
          <a:stretch/>
        </p:blipFill>
        <p:spPr>
          <a:xfrm>
            <a:off x="8386478" y="3898039"/>
            <a:ext cx="588100" cy="882161"/>
          </a:xfrm>
          <a:prstGeom prst="rect">
            <a:avLst/>
          </a:prstGeom>
          <a:noFill/>
          <a:ln>
            <a:noFill/>
          </a:ln>
        </p:spPr>
      </p:pic>
      <p:sp>
        <p:nvSpPr>
          <p:cNvPr id="189" name="Google Shape;189;p2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Arial"/>
              <a:buNone/>
            </a:pPr>
            <a:r>
              <a:rPr lang="ja" sz="3000"/>
              <a:t>関連研究</a:t>
            </a:r>
            <a:endParaRPr sz="3000"/>
          </a:p>
        </p:txBody>
      </p:sp>
      <p:sp>
        <p:nvSpPr>
          <p:cNvPr id="195" name="Google Shape;195;p30"/>
          <p:cNvSpPr txBox="1"/>
          <p:nvPr>
            <p:ph idx="4294967295" type="body"/>
          </p:nvPr>
        </p:nvSpPr>
        <p:spPr>
          <a:xfrm>
            <a:off x="162244" y="812175"/>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RobotSketch: </a:t>
            </a:r>
            <a:endParaRPr sz="2100"/>
          </a:p>
          <a:p>
            <a:pPr indent="0" lvl="0" marL="0" marR="0" rtl="0" algn="l">
              <a:lnSpc>
                <a:spcPct val="95000"/>
              </a:lnSpc>
              <a:spcBef>
                <a:spcPts val="800"/>
              </a:spcBef>
              <a:spcAft>
                <a:spcPts val="0"/>
              </a:spcAft>
              <a:buSzPts val="1100"/>
              <a:buNone/>
            </a:pPr>
            <a:r>
              <a:rPr lang="ja" sz="2100"/>
              <a:t>An Interactive Showcase of Superfast Design of Legged Robots</a:t>
            </a:r>
            <a:endParaRPr sz="2100"/>
          </a:p>
          <a:p>
            <a:pPr indent="0" lvl="0" marL="0" marR="0" rtl="0" algn="l">
              <a:lnSpc>
                <a:spcPct val="95000"/>
              </a:lnSpc>
              <a:spcBef>
                <a:spcPts val="800"/>
              </a:spcBef>
              <a:spcAft>
                <a:spcPts val="0"/>
              </a:spcAft>
              <a:buSzPts val="1100"/>
              <a:buNone/>
            </a:pPr>
            <a:r>
              <a:rPr lang="ja" sz="2100"/>
              <a:t>⇒VR(Virtual Reality)で3Dロボットスケッチを行い、ロボットは強化学習で最適な歩行動作を行う</a:t>
            </a:r>
            <a:endParaRPr sz="2100"/>
          </a:p>
        </p:txBody>
      </p:sp>
      <p:pic>
        <p:nvPicPr>
          <p:cNvPr id="196" name="Google Shape;196;p30"/>
          <p:cNvPicPr preferRelativeResize="0"/>
          <p:nvPr/>
        </p:nvPicPr>
        <p:blipFill rotWithShape="1">
          <a:blip r:embed="rId3">
            <a:alphaModFix/>
          </a:blip>
          <a:srcRect b="0" l="0" r="0" t="0"/>
          <a:stretch/>
        </p:blipFill>
        <p:spPr>
          <a:xfrm>
            <a:off x="162253" y="2387164"/>
            <a:ext cx="8756305" cy="1362949"/>
          </a:xfrm>
          <a:prstGeom prst="rect">
            <a:avLst/>
          </a:prstGeom>
          <a:noFill/>
          <a:ln>
            <a:noFill/>
          </a:ln>
        </p:spPr>
      </p:pic>
      <p:sp>
        <p:nvSpPr>
          <p:cNvPr id="197" name="Google Shape;197;p30"/>
          <p:cNvSpPr txBox="1"/>
          <p:nvPr/>
        </p:nvSpPr>
        <p:spPr>
          <a:xfrm>
            <a:off x="162244" y="3718736"/>
            <a:ext cx="8629500" cy="4581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chemeClr val="dk1"/>
              </a:buClr>
              <a:buSzPts val="800"/>
              <a:buFont typeface="Arial"/>
              <a:buNone/>
            </a:pPr>
            <a:r>
              <a:rPr b="0" i="0" lang="ja" sz="600" u="none" cap="none" strike="noStrike">
                <a:solidFill>
                  <a:srgbClr val="000000"/>
                </a:solidFill>
                <a:latin typeface="Arial"/>
                <a:ea typeface="Arial"/>
                <a:cs typeface="Arial"/>
                <a:sym typeface="Arial"/>
              </a:rPr>
              <a:t>RobotSketch: An Interactive Showcase of Superfast Design of Legged Robots　Joon Hyub Lee, Hyunsik Oh, Junwoo Yoon, Seung-Jun Lee, Taegyu Jin, Jemin Hwangbo, Seok-Hyung Bae　KAIST（韓国科学技術院）SIGGRAPH Emerging Technologies ’24, July 27–August 01, 2024, Denver, CO, USA　ACM ISBN: 979-8-4007-0524-3/24/07</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98" name="Google Shape;198;p30"/>
          <p:cNvSpPr txBox="1"/>
          <p:nvPr>
            <p:ph idx="4294967295" type="body"/>
          </p:nvPr>
        </p:nvSpPr>
        <p:spPr>
          <a:xfrm>
            <a:off x="578282" y="4203853"/>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関節配置など「物理的整合性」は人間が考える必要があり、</a:t>
            </a:r>
            <a:br>
              <a:rPr lang="ja" sz="2100"/>
            </a:br>
            <a:r>
              <a:rPr lang="ja" sz="2100"/>
              <a:t>依然としてハードウェアの専門知識が必須</a:t>
            </a:r>
            <a:endParaRPr sz="2100"/>
          </a:p>
        </p:txBody>
      </p:sp>
      <p:sp>
        <p:nvSpPr>
          <p:cNvPr id="199" name="Google Shape;199;p30"/>
          <p:cNvSpPr/>
          <p:nvPr/>
        </p:nvSpPr>
        <p:spPr>
          <a:xfrm>
            <a:off x="242584" y="4333370"/>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0" name="Google Shape;200;p3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目的</a:t>
            </a:r>
            <a:endParaRPr b="0" i="0" sz="3000" u="none" cap="none" strike="noStrike">
              <a:solidFill>
                <a:srgbClr val="000000"/>
              </a:solidFill>
              <a:latin typeface="Arial"/>
              <a:ea typeface="Arial"/>
              <a:cs typeface="Arial"/>
              <a:sym typeface="Arial"/>
            </a:endParaRPr>
          </a:p>
        </p:txBody>
      </p:sp>
      <p:sp>
        <p:nvSpPr>
          <p:cNvPr id="206" name="Google Shape;206;p31"/>
          <p:cNvSpPr txBox="1"/>
          <p:nvPr>
            <p:ph idx="4294967295" type="body"/>
          </p:nvPr>
        </p:nvSpPr>
        <p:spPr>
          <a:xfrm>
            <a:off x="164775" y="813847"/>
            <a:ext cx="8786700" cy="830700"/>
          </a:xfrm>
          <a:prstGeom prst="rect">
            <a:avLst/>
          </a:prstGeom>
          <a:noFill/>
          <a:ln>
            <a:noFill/>
          </a:ln>
        </p:spPr>
        <p:txBody>
          <a:bodyPr anchorCtr="0" anchor="t" bIns="34275" lIns="68575" spcFirstLastPara="1" rIns="68575" wrap="square" tIns="34275">
            <a:normAutofit fontScale="92500" lnSpcReduction="10000"/>
          </a:bodyPr>
          <a:lstStyle/>
          <a:p>
            <a:pPr indent="0" lvl="0" marL="0" marR="0" rtl="0" algn="l">
              <a:lnSpc>
                <a:spcPct val="115000"/>
              </a:lnSpc>
              <a:spcBef>
                <a:spcPts val="800"/>
              </a:spcBef>
              <a:spcAft>
                <a:spcPts val="0"/>
              </a:spcAft>
              <a:buSzPct val="56628"/>
              <a:buNone/>
            </a:pPr>
            <a:r>
              <a:rPr lang="ja" sz="2100"/>
              <a:t>ハードウェアの知識がない人でも、直感的にロボットを設計し、</a:t>
            </a:r>
            <a:br>
              <a:rPr lang="ja" sz="2100"/>
            </a:br>
            <a:r>
              <a:rPr lang="ja" sz="2100"/>
              <a:t>即座にアイデアをシミュレーション検証できる環境を構築する</a:t>
            </a:r>
            <a:endParaRPr sz="1800"/>
          </a:p>
        </p:txBody>
      </p:sp>
      <p:sp>
        <p:nvSpPr>
          <p:cNvPr id="207" name="Google Shape;207;p31"/>
          <p:cNvSpPr/>
          <p:nvPr/>
        </p:nvSpPr>
        <p:spPr>
          <a:xfrm>
            <a:off x="209081" y="1797039"/>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8" name="Google Shape;208;p31"/>
          <p:cNvSpPr txBox="1"/>
          <p:nvPr>
            <p:ph idx="4294967295" type="body"/>
          </p:nvPr>
        </p:nvSpPr>
        <p:spPr>
          <a:xfrm>
            <a:off x="544767" y="1622746"/>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本研究では直感的なロボット設計の手法として</a:t>
            </a:r>
            <a:r>
              <a:rPr b="1" lang="ja" sz="2100">
                <a:solidFill>
                  <a:srgbClr val="FF0000"/>
                </a:solidFill>
              </a:rPr>
              <a:t>「手描き」</a:t>
            </a:r>
            <a:r>
              <a:rPr lang="ja" sz="2100"/>
              <a:t>を提案</a:t>
            </a:r>
            <a:endParaRPr sz="1800"/>
          </a:p>
          <a:p>
            <a:pPr indent="0" lvl="0" marL="0" marR="0" rtl="0" algn="l">
              <a:lnSpc>
                <a:spcPct val="115000"/>
              </a:lnSpc>
              <a:spcBef>
                <a:spcPts val="800"/>
              </a:spcBef>
              <a:spcAft>
                <a:spcPts val="0"/>
              </a:spcAft>
              <a:buSzPts val="1100"/>
              <a:buNone/>
            </a:pPr>
            <a:r>
              <a:t/>
            </a:r>
            <a:endParaRPr sz="1800"/>
          </a:p>
        </p:txBody>
      </p:sp>
      <p:pic>
        <p:nvPicPr>
          <p:cNvPr id="209" name="Google Shape;209;p31" title="IMG_5367.jpg"/>
          <p:cNvPicPr preferRelativeResize="0"/>
          <p:nvPr/>
        </p:nvPicPr>
        <p:blipFill rotWithShape="1">
          <a:blip r:embed="rId3">
            <a:alphaModFix/>
          </a:blip>
          <a:srcRect b="30192" l="19616" r="33790" t="33171"/>
          <a:stretch/>
        </p:blipFill>
        <p:spPr>
          <a:xfrm>
            <a:off x="387925" y="2529300"/>
            <a:ext cx="1813375" cy="1900974"/>
          </a:xfrm>
          <a:prstGeom prst="rect">
            <a:avLst/>
          </a:prstGeom>
          <a:noFill/>
          <a:ln>
            <a:noFill/>
          </a:ln>
        </p:spPr>
      </p:pic>
      <p:pic>
        <p:nvPicPr>
          <p:cNvPr id="210" name="Google Shape;210;p31" title="修士システム図_粒度2.drawio.png"/>
          <p:cNvPicPr preferRelativeResize="0"/>
          <p:nvPr/>
        </p:nvPicPr>
        <p:blipFill rotWithShape="1">
          <a:blip r:embed="rId4">
            <a:alphaModFix/>
          </a:blip>
          <a:srcRect b="0" l="0" r="0" t="0"/>
          <a:stretch/>
        </p:blipFill>
        <p:spPr>
          <a:xfrm>
            <a:off x="2891570" y="2558677"/>
            <a:ext cx="3021785" cy="1842225"/>
          </a:xfrm>
          <a:prstGeom prst="rect">
            <a:avLst/>
          </a:prstGeom>
          <a:noFill/>
          <a:ln cap="flat" cmpd="sng" w="28575">
            <a:solidFill>
              <a:srgbClr val="000000"/>
            </a:solidFill>
            <a:prstDash val="solid"/>
            <a:round/>
            <a:headEnd len="sm" w="sm" type="none"/>
            <a:tailEnd len="sm" w="sm" type="none"/>
          </a:ln>
        </p:spPr>
      </p:pic>
      <p:pic>
        <p:nvPicPr>
          <p:cNvPr id="211" name="Google Shape;211;p31"/>
          <p:cNvPicPr preferRelativeResize="0"/>
          <p:nvPr/>
        </p:nvPicPr>
        <p:blipFill rotWithShape="1">
          <a:blip r:embed="rId5">
            <a:alphaModFix/>
          </a:blip>
          <a:srcRect b="0" l="0" r="0" t="0"/>
          <a:stretch/>
        </p:blipFill>
        <p:spPr>
          <a:xfrm>
            <a:off x="6678655" y="2558674"/>
            <a:ext cx="2156370" cy="1842225"/>
          </a:xfrm>
          <a:prstGeom prst="rect">
            <a:avLst/>
          </a:prstGeom>
          <a:noFill/>
          <a:ln>
            <a:noFill/>
          </a:ln>
        </p:spPr>
      </p:pic>
      <p:cxnSp>
        <p:nvCxnSpPr>
          <p:cNvPr id="212" name="Google Shape;212;p31"/>
          <p:cNvCxnSpPr>
            <a:stCxn id="209" idx="3"/>
            <a:endCxn id="210" idx="1"/>
          </p:cNvCxnSpPr>
          <p:nvPr/>
        </p:nvCxnSpPr>
        <p:spPr>
          <a:xfrm>
            <a:off x="2201300" y="3479787"/>
            <a:ext cx="690300" cy="0"/>
          </a:xfrm>
          <a:prstGeom prst="straightConnector1">
            <a:avLst/>
          </a:prstGeom>
          <a:noFill/>
          <a:ln cap="flat" cmpd="sng" w="28575">
            <a:solidFill>
              <a:srgbClr val="000000"/>
            </a:solidFill>
            <a:prstDash val="solid"/>
            <a:round/>
            <a:headEnd len="sm" w="sm" type="none"/>
            <a:tailEnd len="med" w="med" type="triangle"/>
          </a:ln>
        </p:spPr>
      </p:cxnSp>
      <p:cxnSp>
        <p:nvCxnSpPr>
          <p:cNvPr id="213" name="Google Shape;213;p31"/>
          <p:cNvCxnSpPr>
            <a:stCxn id="210" idx="3"/>
            <a:endCxn id="211" idx="1"/>
          </p:cNvCxnSpPr>
          <p:nvPr/>
        </p:nvCxnSpPr>
        <p:spPr>
          <a:xfrm>
            <a:off x="5913355" y="3479789"/>
            <a:ext cx="765300" cy="0"/>
          </a:xfrm>
          <a:prstGeom prst="straightConnector1">
            <a:avLst/>
          </a:prstGeom>
          <a:noFill/>
          <a:ln cap="flat" cmpd="sng" w="28575">
            <a:solidFill>
              <a:srgbClr val="000000"/>
            </a:solidFill>
            <a:prstDash val="solid"/>
            <a:round/>
            <a:headEnd len="sm" w="sm" type="none"/>
            <a:tailEnd len="med" w="med" type="triangle"/>
          </a:ln>
        </p:spPr>
      </p:cxnSp>
      <p:sp>
        <p:nvSpPr>
          <p:cNvPr id="214" name="Google Shape;214;p31"/>
          <p:cNvSpPr txBox="1"/>
          <p:nvPr/>
        </p:nvSpPr>
        <p:spPr>
          <a:xfrm>
            <a:off x="2861750" y="2529950"/>
            <a:ext cx="3091200" cy="1901100"/>
          </a:xfrm>
          <a:prstGeom prst="rect">
            <a:avLst/>
          </a:prstGeom>
          <a:solidFill>
            <a:schemeClr val="lt1"/>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ja" sz="3200" u="none" cap="none" strike="noStrike">
                <a:solidFill>
                  <a:srgbClr val="000000"/>
                </a:solidFill>
                <a:latin typeface="Arial"/>
                <a:ea typeface="Arial"/>
                <a:cs typeface="Arial"/>
                <a:sym typeface="Arial"/>
              </a:rPr>
              <a:t>提案システム</a:t>
            </a:r>
            <a:endParaRPr b="0" i="0" sz="3200" u="none" cap="none" strike="noStrike">
              <a:solidFill>
                <a:srgbClr val="000000"/>
              </a:solidFill>
              <a:latin typeface="Arial"/>
              <a:ea typeface="Arial"/>
              <a:cs typeface="Arial"/>
              <a:sym typeface="Arial"/>
            </a:endParaRPr>
          </a:p>
        </p:txBody>
      </p:sp>
      <p:sp>
        <p:nvSpPr>
          <p:cNvPr id="215" name="Google Shape;215;p31"/>
          <p:cNvSpPr txBox="1"/>
          <p:nvPr/>
        </p:nvSpPr>
        <p:spPr>
          <a:xfrm>
            <a:off x="474413" y="4431050"/>
            <a:ext cx="16404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手描きのスケッチ</a:t>
            </a:r>
            <a:endParaRPr b="0" i="0" sz="1400" u="none" cap="none" strike="noStrike">
              <a:solidFill>
                <a:srgbClr val="000000"/>
              </a:solidFill>
              <a:latin typeface="Arial"/>
              <a:ea typeface="Arial"/>
              <a:cs typeface="Arial"/>
              <a:sym typeface="Arial"/>
            </a:endParaRPr>
          </a:p>
        </p:txBody>
      </p:sp>
      <p:sp>
        <p:nvSpPr>
          <p:cNvPr id="216" name="Google Shape;216;p31"/>
          <p:cNvSpPr txBox="1"/>
          <p:nvPr/>
        </p:nvSpPr>
        <p:spPr>
          <a:xfrm>
            <a:off x="6905738" y="4431050"/>
            <a:ext cx="1702200" cy="283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シミュレーション</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ロボットモデル</a:t>
            </a:r>
            <a:endParaRPr b="0" i="0" sz="1400" u="none" cap="none" strike="noStrike">
              <a:solidFill>
                <a:srgbClr val="000000"/>
              </a:solidFill>
              <a:latin typeface="Arial"/>
              <a:ea typeface="Arial"/>
              <a:cs typeface="Arial"/>
              <a:sym typeface="Arial"/>
            </a:endParaRPr>
          </a:p>
        </p:txBody>
      </p:sp>
      <p:sp>
        <p:nvSpPr>
          <p:cNvPr id="217" name="Google Shape;217;p3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2" title="研究の位置づけ.drawio.png"/>
          <p:cNvPicPr preferRelativeResize="0"/>
          <p:nvPr/>
        </p:nvPicPr>
        <p:blipFill rotWithShape="1">
          <a:blip r:embed="rId3">
            <a:alphaModFix/>
          </a:blip>
          <a:srcRect b="0" l="0" r="0" t="16757"/>
          <a:stretch/>
        </p:blipFill>
        <p:spPr>
          <a:xfrm>
            <a:off x="205201" y="792775"/>
            <a:ext cx="8733599" cy="4256750"/>
          </a:xfrm>
          <a:prstGeom prst="rect">
            <a:avLst/>
          </a:prstGeom>
          <a:noFill/>
          <a:ln>
            <a:noFill/>
          </a:ln>
        </p:spPr>
      </p:pic>
      <p:sp>
        <p:nvSpPr>
          <p:cNvPr id="223" name="Google Shape;223;p32"/>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ロボット設計における位置づけ</a:t>
            </a:r>
            <a:endParaRPr b="0" i="0" sz="3000" u="none" cap="none" strike="noStrike">
              <a:solidFill>
                <a:srgbClr val="000000"/>
              </a:solidFill>
              <a:latin typeface="Arial"/>
              <a:ea typeface="Arial"/>
              <a:cs typeface="Arial"/>
              <a:sym typeface="Arial"/>
            </a:endParaRPr>
          </a:p>
        </p:txBody>
      </p:sp>
      <p:sp>
        <p:nvSpPr>
          <p:cNvPr id="224" name="Google Shape;224;p32"/>
          <p:cNvSpPr/>
          <p:nvPr/>
        </p:nvSpPr>
        <p:spPr>
          <a:xfrm flipH="1">
            <a:off x="2481650" y="1704350"/>
            <a:ext cx="1408200" cy="603000"/>
          </a:xfrm>
          <a:prstGeom prst="wedgeRectCallout">
            <a:avLst>
              <a:gd fmla="val 43046" name="adj1"/>
              <a:gd fmla="val -73254"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000000"/>
                </a:solidFill>
                <a:latin typeface="Arial"/>
                <a:ea typeface="Arial"/>
                <a:cs typeface="Arial"/>
                <a:sym typeface="Arial"/>
              </a:rPr>
              <a:t>時間はかかるが</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量産を見据えた</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精密な設計</a:t>
            </a:r>
            <a:endParaRPr b="1" i="0" sz="1200" u="none" cap="none" strike="noStrike">
              <a:solidFill>
                <a:srgbClr val="000000"/>
              </a:solidFill>
              <a:latin typeface="Arial"/>
              <a:ea typeface="Arial"/>
              <a:cs typeface="Arial"/>
              <a:sym typeface="Arial"/>
            </a:endParaRPr>
          </a:p>
        </p:txBody>
      </p:sp>
      <p:sp>
        <p:nvSpPr>
          <p:cNvPr id="225" name="Google Shape;225;p32"/>
          <p:cNvSpPr/>
          <p:nvPr/>
        </p:nvSpPr>
        <p:spPr>
          <a:xfrm flipH="1">
            <a:off x="5685700" y="1470300"/>
            <a:ext cx="1564200" cy="442800"/>
          </a:xfrm>
          <a:prstGeom prst="wedgeRectCallout">
            <a:avLst>
              <a:gd fmla="val 59059" name="adj1"/>
              <a:gd fmla="val 95828"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chemeClr val="dk1"/>
                </a:solidFill>
                <a:latin typeface="Arial"/>
                <a:ea typeface="Arial"/>
                <a:cs typeface="Arial"/>
                <a:sym typeface="Arial"/>
              </a:rPr>
              <a:t>立体的に設計する</a:t>
            </a:r>
            <a:br>
              <a:rPr b="1" i="0" lang="ja" sz="1200" u="none" cap="none" strike="noStrike">
                <a:solidFill>
                  <a:schemeClr val="dk1"/>
                </a:solidFill>
                <a:latin typeface="Arial"/>
                <a:ea typeface="Arial"/>
                <a:cs typeface="Arial"/>
                <a:sym typeface="Arial"/>
              </a:rPr>
            </a:br>
            <a:r>
              <a:rPr b="1" i="0" lang="ja" sz="1200" u="none" cap="none" strike="noStrike">
                <a:solidFill>
                  <a:schemeClr val="dk1"/>
                </a:solidFill>
                <a:latin typeface="Arial"/>
                <a:ea typeface="Arial"/>
                <a:cs typeface="Arial"/>
                <a:sym typeface="Arial"/>
              </a:rPr>
              <a:t>ことで直感的に操作</a:t>
            </a:r>
            <a:endParaRPr b="0" i="0" sz="1400" u="none" cap="none" strike="noStrike">
              <a:solidFill>
                <a:srgbClr val="000000"/>
              </a:solidFill>
              <a:latin typeface="Arial"/>
              <a:ea typeface="Arial"/>
              <a:cs typeface="Arial"/>
              <a:sym typeface="Arial"/>
            </a:endParaRPr>
          </a:p>
        </p:txBody>
      </p:sp>
      <p:sp>
        <p:nvSpPr>
          <p:cNvPr id="226" name="Google Shape;226;p32"/>
          <p:cNvSpPr/>
          <p:nvPr/>
        </p:nvSpPr>
        <p:spPr>
          <a:xfrm flipH="1">
            <a:off x="7112975" y="2300775"/>
            <a:ext cx="1950300" cy="603000"/>
          </a:xfrm>
          <a:prstGeom prst="wedgeRectCallout">
            <a:avLst>
              <a:gd fmla="val 41039" name="adj1"/>
              <a:gd fmla="val 91898"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ja" sz="1200" u="none" cap="none" strike="noStrike">
                <a:solidFill>
                  <a:schemeClr val="dk1"/>
                </a:solidFill>
                <a:latin typeface="Arial"/>
                <a:ea typeface="Arial"/>
                <a:cs typeface="Arial"/>
                <a:sym typeface="Arial"/>
              </a:rPr>
              <a:t>スケッチを用いて数分でアイデアを即時検証</a:t>
            </a:r>
            <a:br>
              <a:rPr b="1" i="0" lang="ja" sz="1200" u="none" cap="none" strike="noStrike">
                <a:solidFill>
                  <a:schemeClr val="dk1"/>
                </a:solidFill>
                <a:latin typeface="Arial"/>
                <a:ea typeface="Arial"/>
                <a:cs typeface="Arial"/>
                <a:sym typeface="Arial"/>
              </a:rPr>
            </a:br>
            <a:r>
              <a:rPr b="1" i="0" lang="ja" sz="1200" u="none" cap="none" strike="noStrike">
                <a:solidFill>
                  <a:srgbClr val="FF0000"/>
                </a:solidFill>
                <a:latin typeface="Arial"/>
                <a:ea typeface="Arial"/>
                <a:cs typeface="Arial"/>
                <a:sym typeface="Arial"/>
              </a:rPr>
              <a:t>(フェーズ０)</a:t>
            </a:r>
            <a:endParaRPr b="1" i="0" sz="1400" u="none" cap="none" strike="noStrike">
              <a:solidFill>
                <a:srgbClr val="FF0000"/>
              </a:solidFill>
              <a:latin typeface="Arial"/>
              <a:ea typeface="Arial"/>
              <a:cs typeface="Arial"/>
              <a:sym typeface="Arial"/>
            </a:endParaRPr>
          </a:p>
        </p:txBody>
      </p:sp>
      <p:sp>
        <p:nvSpPr>
          <p:cNvPr id="227" name="Google Shape;227;p3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システムフロー概要</a:t>
            </a:r>
            <a:endParaRPr b="0" i="0" sz="3000" u="none" cap="none" strike="noStrike">
              <a:solidFill>
                <a:srgbClr val="000000"/>
              </a:solidFill>
              <a:latin typeface="Arial"/>
              <a:ea typeface="Arial"/>
              <a:cs typeface="Arial"/>
              <a:sym typeface="Arial"/>
            </a:endParaRPr>
          </a:p>
        </p:txBody>
      </p:sp>
      <p:sp>
        <p:nvSpPr>
          <p:cNvPr id="233" name="Google Shape;233;p3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34" name="Google Shape;234;p33"/>
          <p:cNvSpPr txBox="1"/>
          <p:nvPr/>
        </p:nvSpPr>
        <p:spPr>
          <a:xfrm>
            <a:off x="-89200" y="3446950"/>
            <a:ext cx="17151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a:t>ユーザースケッチ</a:t>
            </a:r>
            <a:endParaRPr/>
          </a:p>
        </p:txBody>
      </p:sp>
      <p:sp>
        <p:nvSpPr>
          <p:cNvPr id="235" name="Google Shape;235;p33"/>
          <p:cNvSpPr txBox="1"/>
          <p:nvPr/>
        </p:nvSpPr>
        <p:spPr>
          <a:xfrm>
            <a:off x="2659375" y="4718975"/>
            <a:ext cx="28896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④フィードバックを返す</a:t>
            </a:r>
            <a:endParaRPr b="1"/>
          </a:p>
        </p:txBody>
      </p:sp>
      <p:pic>
        <p:nvPicPr>
          <p:cNvPr id="236" name="Google Shape;236;p33"/>
          <p:cNvPicPr preferRelativeResize="0"/>
          <p:nvPr/>
        </p:nvPicPr>
        <p:blipFill rotWithShape="1">
          <a:blip r:embed="rId3">
            <a:alphaModFix/>
          </a:blip>
          <a:srcRect b="17641" l="16271" r="28422" t="0"/>
          <a:stretch/>
        </p:blipFill>
        <p:spPr>
          <a:xfrm>
            <a:off x="99550" y="991925"/>
            <a:ext cx="1262600" cy="2490475"/>
          </a:xfrm>
          <a:prstGeom prst="rect">
            <a:avLst/>
          </a:prstGeom>
          <a:noFill/>
          <a:ln cap="flat" cmpd="sng" w="19050">
            <a:solidFill>
              <a:schemeClr val="dk2"/>
            </a:solidFill>
            <a:prstDash val="solid"/>
            <a:round/>
            <a:headEnd len="sm" w="sm" type="none"/>
            <a:tailEnd len="sm" w="sm" type="none"/>
          </a:ln>
        </p:spPr>
      </p:pic>
      <p:pic>
        <p:nvPicPr>
          <p:cNvPr id="237" name="Google Shape;237;p33"/>
          <p:cNvPicPr preferRelativeResize="0"/>
          <p:nvPr/>
        </p:nvPicPr>
        <p:blipFill rotWithShape="1">
          <a:blip r:embed="rId4">
            <a:alphaModFix/>
          </a:blip>
          <a:srcRect b="0" l="25354" r="31255" t="0"/>
          <a:stretch/>
        </p:blipFill>
        <p:spPr>
          <a:xfrm>
            <a:off x="4154390" y="991925"/>
            <a:ext cx="1046493" cy="2443448"/>
          </a:xfrm>
          <a:prstGeom prst="rect">
            <a:avLst/>
          </a:prstGeom>
          <a:noFill/>
          <a:ln cap="flat" cmpd="sng" w="19050">
            <a:solidFill>
              <a:schemeClr val="dk2"/>
            </a:solidFill>
            <a:prstDash val="solid"/>
            <a:round/>
            <a:headEnd len="sm" w="sm" type="none"/>
            <a:tailEnd len="sm" w="sm" type="none"/>
          </a:ln>
        </p:spPr>
      </p:pic>
      <p:pic>
        <p:nvPicPr>
          <p:cNvPr id="238" name="Google Shape;238;p33"/>
          <p:cNvPicPr preferRelativeResize="0"/>
          <p:nvPr/>
        </p:nvPicPr>
        <p:blipFill rotWithShape="1">
          <a:blip r:embed="rId5">
            <a:alphaModFix/>
          </a:blip>
          <a:srcRect b="9819" l="27036" r="23647" t="25835"/>
          <a:stretch/>
        </p:blipFill>
        <p:spPr>
          <a:xfrm>
            <a:off x="6035296" y="956475"/>
            <a:ext cx="3017277" cy="2525925"/>
          </a:xfrm>
          <a:prstGeom prst="rect">
            <a:avLst/>
          </a:prstGeom>
          <a:noFill/>
          <a:ln cap="flat" cmpd="sng" w="19050">
            <a:solidFill>
              <a:schemeClr val="dk2"/>
            </a:solidFill>
            <a:prstDash val="solid"/>
            <a:round/>
            <a:headEnd len="sm" w="sm" type="none"/>
            <a:tailEnd len="sm" w="sm" type="none"/>
          </a:ln>
        </p:spPr>
      </p:pic>
      <p:sp>
        <p:nvSpPr>
          <p:cNvPr id="239" name="Google Shape;239;p33"/>
          <p:cNvSpPr txBox="1"/>
          <p:nvPr/>
        </p:nvSpPr>
        <p:spPr>
          <a:xfrm>
            <a:off x="1946501" y="3435375"/>
            <a:ext cx="14871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①スケッチ整形</a:t>
            </a:r>
            <a:endParaRPr b="1"/>
          </a:p>
        </p:txBody>
      </p:sp>
      <p:pic>
        <p:nvPicPr>
          <p:cNvPr id="240" name="Google Shape;240;p33"/>
          <p:cNvPicPr preferRelativeResize="0"/>
          <p:nvPr/>
        </p:nvPicPr>
        <p:blipFill rotWithShape="1">
          <a:blip r:embed="rId6">
            <a:alphaModFix/>
          </a:blip>
          <a:srcRect b="0" l="17676" r="14729" t="0"/>
          <a:stretch/>
        </p:blipFill>
        <p:spPr>
          <a:xfrm>
            <a:off x="2106730" y="991925"/>
            <a:ext cx="1262600" cy="2490476"/>
          </a:xfrm>
          <a:prstGeom prst="rect">
            <a:avLst/>
          </a:prstGeom>
          <a:noFill/>
          <a:ln cap="flat" cmpd="sng" w="19050">
            <a:solidFill>
              <a:schemeClr val="dk2"/>
            </a:solidFill>
            <a:prstDash val="solid"/>
            <a:round/>
            <a:headEnd len="sm" w="sm" type="none"/>
            <a:tailEnd len="sm" w="sm" type="none"/>
          </a:ln>
        </p:spPr>
      </p:pic>
      <p:sp>
        <p:nvSpPr>
          <p:cNvPr id="241" name="Google Shape;241;p33"/>
          <p:cNvSpPr txBox="1"/>
          <p:nvPr/>
        </p:nvSpPr>
        <p:spPr>
          <a:xfrm>
            <a:off x="4088306" y="3435375"/>
            <a:ext cx="11880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②形にする</a:t>
            </a:r>
            <a:endParaRPr b="1"/>
          </a:p>
        </p:txBody>
      </p:sp>
      <p:sp>
        <p:nvSpPr>
          <p:cNvPr id="242" name="Google Shape;242;p33"/>
          <p:cNvSpPr txBox="1"/>
          <p:nvPr/>
        </p:nvSpPr>
        <p:spPr>
          <a:xfrm>
            <a:off x="6035233" y="3435375"/>
            <a:ext cx="30174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③タスクに向くか調べる</a:t>
            </a:r>
            <a:endParaRPr b="1"/>
          </a:p>
        </p:txBody>
      </p:sp>
      <p:sp>
        <p:nvSpPr>
          <p:cNvPr id="243" name="Google Shape;243;p33"/>
          <p:cNvSpPr/>
          <p:nvPr/>
        </p:nvSpPr>
        <p:spPr>
          <a:xfrm>
            <a:off x="2675913" y="3991525"/>
            <a:ext cx="2726700" cy="671100"/>
          </a:xfrm>
          <a:prstGeom prst="wedgeRoundRectCallout">
            <a:avLst>
              <a:gd fmla="val -20833" name="adj1"/>
              <a:gd fmla="val 62500" name="adj2"/>
              <a:gd fmla="val 0" name="adj3"/>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関節3が動いていません</a:t>
            </a:r>
            <a:endParaRPr/>
          </a:p>
        </p:txBody>
      </p:sp>
      <p:sp>
        <p:nvSpPr>
          <p:cNvPr id="244" name="Google Shape;244;p33"/>
          <p:cNvSpPr/>
          <p:nvPr/>
        </p:nvSpPr>
        <p:spPr>
          <a:xfrm>
            <a:off x="1544388" y="2067963"/>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5" name="Google Shape;245;p33"/>
          <p:cNvSpPr/>
          <p:nvPr/>
        </p:nvSpPr>
        <p:spPr>
          <a:xfrm>
            <a:off x="3551538" y="2044438"/>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6" name="Google Shape;246;p33"/>
          <p:cNvSpPr/>
          <p:nvPr/>
        </p:nvSpPr>
        <p:spPr>
          <a:xfrm>
            <a:off x="5456038" y="2044438"/>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7" name="Google Shape;247;p33"/>
          <p:cNvSpPr/>
          <p:nvPr/>
        </p:nvSpPr>
        <p:spPr>
          <a:xfrm rot="9143616">
            <a:off x="5519661" y="4007141"/>
            <a:ext cx="989221" cy="338552"/>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8" name="Google Shape;248;p33"/>
          <p:cNvSpPr/>
          <p:nvPr/>
        </p:nvSpPr>
        <p:spPr>
          <a:xfrm rot="-4545856">
            <a:off x="2048320" y="3969629"/>
            <a:ext cx="480660" cy="481095"/>
          </a:xfrm>
          <a:prstGeom prst="bentArrow">
            <a:avLst>
              <a:gd fmla="val 25000" name="adj1"/>
              <a:gd fmla="val 25000" name="adj2"/>
              <a:gd fmla="val 25000" name="adj3"/>
              <a:gd fmla="val 43750" name="adj4"/>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①スケッチ整形</a:t>
            </a:r>
            <a:endParaRPr sz="3000"/>
          </a:p>
        </p:txBody>
      </p:sp>
      <p:sp>
        <p:nvSpPr>
          <p:cNvPr id="254" name="Google Shape;254;p3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55" name="Google Shape;255;p34"/>
          <p:cNvSpPr txBox="1"/>
          <p:nvPr/>
        </p:nvSpPr>
        <p:spPr>
          <a:xfrm>
            <a:off x="0" y="748025"/>
            <a:ext cx="6712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やっていること：Geminiに後段が読める絵へ描き直させる</a:t>
            </a:r>
            <a:endParaRPr sz="1800"/>
          </a:p>
        </p:txBody>
      </p:sp>
      <p:pic>
        <p:nvPicPr>
          <p:cNvPr id="256" name="Google Shape;256;p34"/>
          <p:cNvPicPr preferRelativeResize="0"/>
          <p:nvPr/>
        </p:nvPicPr>
        <p:blipFill>
          <a:blip r:embed="rId3">
            <a:alphaModFix/>
          </a:blip>
          <a:stretch>
            <a:fillRect/>
          </a:stretch>
        </p:blipFill>
        <p:spPr>
          <a:xfrm>
            <a:off x="7137150" y="800250"/>
            <a:ext cx="1958425" cy="1702351"/>
          </a:xfrm>
          <a:prstGeom prst="rect">
            <a:avLst/>
          </a:prstGeom>
          <a:noFill/>
          <a:ln>
            <a:noFill/>
          </a:ln>
        </p:spPr>
      </p:pic>
      <p:sp>
        <p:nvSpPr>
          <p:cNvPr id="257" name="Google Shape;257;p34"/>
          <p:cNvSpPr txBox="1"/>
          <p:nvPr/>
        </p:nvSpPr>
        <p:spPr>
          <a:xfrm>
            <a:off x="56250" y="1437425"/>
            <a:ext cx="5631000" cy="268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①構造はスケッチどおりに</a:t>
            </a:r>
            <a:endParaRPr b="1" sz="1800"/>
          </a:p>
          <a:p>
            <a:pPr indent="0" lvl="0" marL="0" rtl="0" algn="l">
              <a:spcBef>
                <a:spcPts val="0"/>
              </a:spcBef>
              <a:spcAft>
                <a:spcPts val="0"/>
              </a:spcAft>
              <a:buNone/>
            </a:pPr>
            <a:r>
              <a:rPr lang="ja" sz="1800"/>
              <a:t>　リンクの本数や長さの比は変えない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②関節に印をつけさせる</a:t>
            </a:r>
            <a:br>
              <a:rPr lang="ja" sz="1800"/>
            </a:br>
            <a:r>
              <a:rPr lang="ja" sz="1800"/>
              <a:t>　接続部全てに純マゼンタの球をつける</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③後段が読める色と形にする</a:t>
            </a:r>
            <a:br>
              <a:rPr lang="ja" sz="1800"/>
            </a:br>
            <a:r>
              <a:rPr lang="ja" sz="1800"/>
              <a:t>　リンクごとに単色で塗り分ける</a:t>
            </a:r>
            <a:endParaRPr sz="1800"/>
          </a:p>
          <a:p>
            <a:pPr indent="0" lvl="0" marL="0" rtl="0" algn="l">
              <a:spcBef>
                <a:spcPts val="0"/>
              </a:spcBef>
              <a:spcAft>
                <a:spcPts val="0"/>
              </a:spcAft>
              <a:buNone/>
            </a:pPr>
            <a:r>
              <a:t/>
            </a:r>
            <a:endParaRPr sz="800"/>
          </a:p>
          <a:p>
            <a:pPr indent="0" lvl="0" marL="0" rtl="0" algn="l">
              <a:spcBef>
                <a:spcPts val="0"/>
              </a:spcBef>
              <a:spcAft>
                <a:spcPts val="0"/>
              </a:spcAft>
              <a:buNone/>
            </a:pPr>
            <a:r>
              <a:rPr b="1" lang="ja" sz="1800"/>
              <a:t>④描いてはいけないものを列挙する</a:t>
            </a:r>
            <a:br>
              <a:rPr lang="ja" sz="1800"/>
            </a:br>
            <a:r>
              <a:rPr lang="ja" sz="1800"/>
              <a:t>　寸法線や数字等</a:t>
            </a:r>
            <a:endParaRPr sz="1800"/>
          </a:p>
        </p:txBody>
      </p:sp>
      <p:sp>
        <p:nvSpPr>
          <p:cNvPr id="258" name="Google Shape;258;p34"/>
          <p:cNvSpPr txBox="1"/>
          <p:nvPr/>
        </p:nvSpPr>
        <p:spPr>
          <a:xfrm>
            <a:off x="56254"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プロンプト</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②形にする</a:t>
            </a:r>
            <a:endParaRPr sz="3000"/>
          </a:p>
        </p:txBody>
      </p:sp>
      <p:sp>
        <p:nvSpPr>
          <p:cNvPr id="264" name="Google Shape;264;p3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65" name="Google Shape;265;p3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66" name="Google Shape;266;p35"/>
          <p:cNvSpPr txBox="1"/>
          <p:nvPr/>
        </p:nvSpPr>
        <p:spPr>
          <a:xfrm>
            <a:off x="0" y="748025"/>
            <a:ext cx="6907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a:t>
            </a:r>
            <a:r>
              <a:rPr lang="ja" sz="1800"/>
              <a:t>整形した絵をシミュレータで動くモデルにする</a:t>
            </a:r>
            <a:endParaRPr sz="1800"/>
          </a:p>
        </p:txBody>
      </p:sp>
      <p:pic>
        <p:nvPicPr>
          <p:cNvPr id="267" name="Google Shape;267;p35"/>
          <p:cNvPicPr preferRelativeResize="0"/>
          <p:nvPr/>
        </p:nvPicPr>
        <p:blipFill>
          <a:blip r:embed="rId3">
            <a:alphaModFix/>
          </a:blip>
          <a:stretch>
            <a:fillRect/>
          </a:stretch>
        </p:blipFill>
        <p:spPr>
          <a:xfrm>
            <a:off x="7137150" y="800250"/>
            <a:ext cx="1958425" cy="1702351"/>
          </a:xfrm>
          <a:prstGeom prst="rect">
            <a:avLst/>
          </a:prstGeom>
          <a:noFill/>
          <a:ln>
            <a:noFill/>
          </a:ln>
        </p:spPr>
      </p:pic>
      <p:sp>
        <p:nvSpPr>
          <p:cNvPr id="268" name="Google Shape;268;p35"/>
          <p:cNvSpPr txBox="1"/>
          <p:nvPr/>
        </p:nvSpPr>
        <p:spPr>
          <a:xfrm>
            <a:off x="56250" y="1437425"/>
            <a:ext cx="5631000" cy="268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立体にする</a:t>
            </a:r>
            <a:endParaRPr b="1" sz="1800"/>
          </a:p>
          <a:p>
            <a:pPr indent="0" lvl="0" marL="0" rtl="0" algn="l">
              <a:spcBef>
                <a:spcPts val="0"/>
              </a:spcBef>
              <a:spcAft>
                <a:spcPts val="0"/>
              </a:spcAft>
              <a:buNone/>
            </a:pPr>
            <a:r>
              <a:rPr lang="ja" sz="1800"/>
              <a:t>　Tripo</a:t>
            </a:r>
            <a:r>
              <a:rPr lang="ja" sz="1800"/>
              <a:t>という既存サービスを用いて立体化</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②関節</a:t>
            </a:r>
            <a:r>
              <a:rPr b="1" lang="ja" sz="1800"/>
              <a:t>を見つける</a:t>
            </a:r>
            <a:br>
              <a:rPr lang="ja" sz="1800"/>
            </a:br>
            <a:r>
              <a:rPr lang="ja" sz="1800"/>
              <a:t>　</a:t>
            </a:r>
            <a:r>
              <a:rPr lang="ja" sz="1800"/>
              <a:t>マゼンタの球を色で探す</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③</a:t>
            </a:r>
            <a:r>
              <a:rPr b="1" lang="ja" sz="1800"/>
              <a:t>リンクに切り分ける</a:t>
            </a:r>
            <a:br>
              <a:rPr lang="ja" sz="1800"/>
            </a:br>
            <a:r>
              <a:rPr lang="ja" sz="1800"/>
              <a:t>　</a:t>
            </a:r>
            <a:r>
              <a:rPr lang="ja" sz="1800"/>
              <a:t>関節の高さを境界にメッシュを切る</a:t>
            </a:r>
            <a:endParaRPr sz="1800"/>
          </a:p>
          <a:p>
            <a:pPr indent="0" lvl="0" marL="0" rtl="0" algn="l">
              <a:spcBef>
                <a:spcPts val="0"/>
              </a:spcBef>
              <a:spcAft>
                <a:spcPts val="0"/>
              </a:spcAft>
              <a:buNone/>
            </a:pPr>
            <a:r>
              <a:t/>
            </a:r>
            <a:endParaRPr sz="800"/>
          </a:p>
          <a:p>
            <a:pPr indent="0" lvl="0" marL="0" rtl="0" algn="l">
              <a:spcBef>
                <a:spcPts val="0"/>
              </a:spcBef>
              <a:spcAft>
                <a:spcPts val="0"/>
              </a:spcAft>
              <a:buNone/>
            </a:pPr>
            <a:r>
              <a:rPr b="1" lang="ja" sz="1800"/>
              <a:t>④</a:t>
            </a:r>
            <a:r>
              <a:rPr b="1" lang="ja" sz="1800"/>
              <a:t>寸法を測ってモデルにする</a:t>
            </a:r>
            <a:br>
              <a:rPr lang="ja" sz="1800"/>
            </a:br>
            <a:r>
              <a:rPr lang="ja" sz="1800"/>
              <a:t>　</a:t>
            </a:r>
            <a:r>
              <a:rPr lang="ja" sz="1800"/>
              <a:t>各リンクを直方体で囲み、長さと太さを取る</a:t>
            </a:r>
            <a:endParaRPr sz="1800"/>
          </a:p>
        </p:txBody>
      </p:sp>
      <p:sp>
        <p:nvSpPr>
          <p:cNvPr id="269" name="Google Shape;269;p35"/>
          <p:cNvSpPr txBox="1"/>
          <p:nvPr/>
        </p:nvSpPr>
        <p:spPr>
          <a:xfrm>
            <a:off x="56254"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フロー</a:t>
            </a:r>
            <a:endParaRPr sz="1800">
              <a:solidFill>
                <a:schemeClr val="dk1"/>
              </a:solidFill>
            </a:endParaRPr>
          </a:p>
        </p:txBody>
      </p:sp>
      <p:pic>
        <p:nvPicPr>
          <p:cNvPr id="270" name="Google Shape;270;p35"/>
          <p:cNvPicPr preferRelativeResize="0"/>
          <p:nvPr/>
        </p:nvPicPr>
        <p:blipFill>
          <a:blip r:embed="rId4">
            <a:alphaModFix/>
          </a:blip>
          <a:stretch>
            <a:fillRect/>
          </a:stretch>
        </p:blipFill>
        <p:spPr>
          <a:xfrm>
            <a:off x="7175750" y="800250"/>
            <a:ext cx="1881234" cy="1702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t>③タスクに向くか調べる</a:t>
            </a:r>
            <a:endParaRPr sz="3000"/>
          </a:p>
        </p:txBody>
      </p:sp>
      <p:sp>
        <p:nvSpPr>
          <p:cNvPr id="276" name="Google Shape;276;p3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77" name="Google Shape;277;p36"/>
          <p:cNvSpPr txBox="1"/>
          <p:nvPr/>
        </p:nvSpPr>
        <p:spPr>
          <a:xfrm>
            <a:off x="0" y="748025"/>
            <a:ext cx="32811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関連研究:Stackelberg PPO</a:t>
            </a:r>
            <a:endParaRPr b="1" sz="1800"/>
          </a:p>
        </p:txBody>
      </p:sp>
      <p:sp>
        <p:nvSpPr>
          <p:cNvPr id="278" name="Google Shape;278;p36"/>
          <p:cNvSpPr txBox="1"/>
          <p:nvPr/>
        </p:nvSpPr>
        <p:spPr>
          <a:xfrm>
            <a:off x="89575" y="1157021"/>
            <a:ext cx="8029200" cy="2471100"/>
          </a:xfrm>
          <a:prstGeom prst="rect">
            <a:avLst/>
          </a:prstGeom>
          <a:noFill/>
          <a:ln>
            <a:noFill/>
          </a:ln>
        </p:spPr>
        <p:txBody>
          <a:bodyPr anchorCtr="0" anchor="t" bIns="86150" lIns="86150" spcFirstLastPara="1" rIns="86150" wrap="square" tIns="86150">
            <a:normAutofit/>
          </a:bodyPr>
          <a:lstStyle/>
          <a:p>
            <a:pPr indent="0" lvl="0" marL="0" rtl="0" algn="l">
              <a:lnSpc>
                <a:spcPct val="115000"/>
              </a:lnSpc>
              <a:spcBef>
                <a:spcPts val="0"/>
              </a:spcBef>
              <a:spcAft>
                <a:spcPts val="0"/>
              </a:spcAft>
              <a:buNone/>
            </a:pPr>
            <a:r>
              <a:rPr b="1" lang="ja" sz="1696">
                <a:solidFill>
                  <a:srgbClr val="4285F4"/>
                </a:solidFill>
              </a:rPr>
              <a:t>①形態設計フェーズ(リーダー：先手)</a:t>
            </a:r>
            <a:br>
              <a:rPr lang="ja" sz="1696">
                <a:solidFill>
                  <a:srgbClr val="000000"/>
                </a:solidFill>
              </a:rPr>
            </a:br>
            <a:r>
              <a:rPr lang="ja" sz="1696">
                <a:solidFill>
                  <a:srgbClr val="000000"/>
                </a:solidFill>
              </a:rPr>
              <a:t>関節追加やリンク長調整などの編集をステップごとに繰り返し、最終的な「体」を完成させる。(関節数を変化させるのに5ステップ、リンク長変更に1ステップ)</a:t>
            </a:r>
            <a:endParaRPr sz="1696">
              <a:solidFill>
                <a:srgbClr val="000000"/>
              </a:solidFill>
            </a:endParaRPr>
          </a:p>
          <a:p>
            <a:pPr indent="0" lvl="0" marL="0" rtl="0" algn="l">
              <a:lnSpc>
                <a:spcPct val="115000"/>
              </a:lnSpc>
              <a:spcBef>
                <a:spcPts val="1131"/>
              </a:spcBef>
              <a:spcAft>
                <a:spcPts val="1131"/>
              </a:spcAft>
              <a:buNone/>
            </a:pPr>
            <a:r>
              <a:rPr b="1" lang="ja" sz="1696">
                <a:solidFill>
                  <a:srgbClr val="6AA84F"/>
                </a:solidFill>
              </a:rPr>
              <a:t>②制御学習フェーズ(フォロワー：後手)</a:t>
            </a:r>
            <a:br>
              <a:rPr lang="ja" sz="1696">
                <a:solidFill>
                  <a:srgbClr val="6AA84F"/>
                </a:solidFill>
              </a:rPr>
            </a:br>
            <a:r>
              <a:rPr lang="ja" sz="1696">
                <a:solidFill>
                  <a:srgbClr val="000000"/>
                </a:solidFill>
              </a:rPr>
              <a:t>完成した体でタスクを最大効率でこなす制御方策を学習する。</a:t>
            </a:r>
            <a:endParaRPr sz="1696">
              <a:solidFill>
                <a:srgbClr val="000000"/>
              </a:solidFill>
            </a:endParaRPr>
          </a:p>
        </p:txBody>
      </p:sp>
      <p:sp>
        <p:nvSpPr>
          <p:cNvPr id="279" name="Google Shape;279;p36"/>
          <p:cNvSpPr txBox="1"/>
          <p:nvPr/>
        </p:nvSpPr>
        <p:spPr>
          <a:xfrm>
            <a:off x="1467719" y="3494463"/>
            <a:ext cx="132900" cy="166200"/>
          </a:xfrm>
          <a:prstGeom prst="rect">
            <a:avLst/>
          </a:prstGeom>
          <a:noFill/>
          <a:ln>
            <a:noFill/>
          </a:ln>
        </p:spPr>
        <p:txBody>
          <a:bodyPr anchorCtr="0" anchor="t" bIns="86150" lIns="86150" spcFirstLastPara="1" rIns="86150" wrap="square" tIns="86150">
            <a:noAutofit/>
          </a:bodyPr>
          <a:lstStyle/>
          <a:p>
            <a:pPr indent="0" lvl="0" marL="0" rtl="0" algn="l">
              <a:spcBef>
                <a:spcPts val="0"/>
              </a:spcBef>
              <a:spcAft>
                <a:spcPts val="0"/>
              </a:spcAft>
              <a:buNone/>
            </a:pPr>
            <a:r>
              <a:t/>
            </a:r>
            <a:endParaRPr sz="1696">
              <a:solidFill>
                <a:srgbClr val="595959"/>
              </a:solidFill>
            </a:endParaRPr>
          </a:p>
        </p:txBody>
      </p:sp>
      <p:pic>
        <p:nvPicPr>
          <p:cNvPr id="280" name="Google Shape;280;p36"/>
          <p:cNvPicPr preferRelativeResize="0"/>
          <p:nvPr/>
        </p:nvPicPr>
        <p:blipFill>
          <a:blip r:embed="rId3">
            <a:alphaModFix/>
          </a:blip>
          <a:stretch>
            <a:fillRect/>
          </a:stretch>
        </p:blipFill>
        <p:spPr>
          <a:xfrm>
            <a:off x="1566494" y="2954543"/>
            <a:ext cx="6011016" cy="20736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各フロー詳細と進捗</a:t>
            </a:r>
            <a:r>
              <a:rPr b="1" lang="ja" sz="1800"/>
              <a:t>③タスクに向くか調べる</a:t>
            </a:r>
            <a:endParaRPr sz="3000"/>
          </a:p>
        </p:txBody>
      </p:sp>
      <p:sp>
        <p:nvSpPr>
          <p:cNvPr id="286" name="Google Shape;286;p3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87" name="Google Shape;287;p37"/>
          <p:cNvSpPr txBox="1"/>
          <p:nvPr/>
        </p:nvSpPr>
        <p:spPr>
          <a:xfrm>
            <a:off x="0" y="748025"/>
            <a:ext cx="66411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やっていること：2段階でロボット評価を行う</a:t>
            </a:r>
            <a:endParaRPr sz="1800"/>
          </a:p>
        </p:txBody>
      </p:sp>
      <p:pic>
        <p:nvPicPr>
          <p:cNvPr id="288" name="Google Shape;288;p37"/>
          <p:cNvPicPr preferRelativeResize="0"/>
          <p:nvPr/>
        </p:nvPicPr>
        <p:blipFill>
          <a:blip r:embed="rId3">
            <a:alphaModFix/>
          </a:blip>
          <a:stretch>
            <a:fillRect/>
          </a:stretch>
        </p:blipFill>
        <p:spPr>
          <a:xfrm>
            <a:off x="6698642" y="778372"/>
            <a:ext cx="2376500" cy="2167800"/>
          </a:xfrm>
          <a:prstGeom prst="rect">
            <a:avLst/>
          </a:prstGeom>
          <a:noFill/>
          <a:ln>
            <a:noFill/>
          </a:ln>
        </p:spPr>
      </p:pic>
      <p:sp>
        <p:nvSpPr>
          <p:cNvPr id="289" name="Google Shape;289;p37"/>
          <p:cNvSpPr txBox="1"/>
          <p:nvPr/>
        </p:nvSpPr>
        <p:spPr>
          <a:xfrm>
            <a:off x="56250" y="1437425"/>
            <a:ext cx="6641100" cy="3410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学習せずに棄却</a:t>
            </a:r>
            <a:endParaRPr b="1" sz="1800"/>
          </a:p>
          <a:p>
            <a:pPr indent="0" lvl="0" marL="0" rtl="0" algn="l">
              <a:spcBef>
                <a:spcPts val="0"/>
              </a:spcBef>
              <a:spcAft>
                <a:spcPts val="0"/>
              </a:spcAft>
              <a:buNone/>
            </a:pPr>
            <a:r>
              <a:rPr lang="ja" sz="1800"/>
              <a:t>　</a:t>
            </a:r>
            <a:r>
              <a:rPr lang="ja" sz="1800"/>
              <a:t>関節軸の設定上IK</a:t>
            </a:r>
            <a:r>
              <a:rPr lang="ja" sz="1800"/>
              <a:t>では</a:t>
            </a:r>
            <a:r>
              <a:rPr lang="ja" sz="1800"/>
              <a:t>到達しない</a:t>
            </a:r>
            <a:r>
              <a:rPr lang="ja" sz="1600"/>
              <a:t>or</a:t>
            </a:r>
            <a:r>
              <a:rPr lang="ja" sz="1800"/>
              <a:t>最適化しても到達しない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a:t>
            </a:r>
            <a:r>
              <a:rPr b="1" lang="ja" sz="1800"/>
              <a:t>学習して検証を行う</a:t>
            </a:r>
            <a:br>
              <a:rPr lang="ja" sz="1800"/>
            </a:br>
            <a:r>
              <a:rPr lang="ja" sz="1800"/>
              <a:t>　</a:t>
            </a:r>
            <a:r>
              <a:rPr lang="ja" sz="1800"/>
              <a:t>形を動かし方を同時に最適化し、そのタスクでの成績を出す</a:t>
            </a:r>
            <a:br>
              <a:rPr lang="ja" sz="1800"/>
            </a:br>
            <a:r>
              <a:rPr lang="ja" sz="1800"/>
              <a:t>　形状の最適化対象</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1800"/>
          </a:p>
        </p:txBody>
      </p:sp>
      <p:sp>
        <p:nvSpPr>
          <p:cNvPr id="290" name="Google Shape;290;p37"/>
          <p:cNvSpPr txBox="1"/>
          <p:nvPr/>
        </p:nvSpPr>
        <p:spPr>
          <a:xfrm>
            <a:off x="56254"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フロー</a:t>
            </a:r>
            <a:endParaRPr sz="1800">
              <a:solidFill>
                <a:schemeClr val="dk1"/>
              </a:solidFill>
            </a:endParaRPr>
          </a:p>
        </p:txBody>
      </p:sp>
      <p:graphicFrame>
        <p:nvGraphicFramePr>
          <p:cNvPr id="291" name="Google Shape;291;p37"/>
          <p:cNvGraphicFramePr/>
          <p:nvPr/>
        </p:nvGraphicFramePr>
        <p:xfrm>
          <a:off x="131500" y="3110403"/>
          <a:ext cx="3000000" cy="3000000"/>
        </p:xfrm>
        <a:graphic>
          <a:graphicData uri="http://schemas.openxmlformats.org/drawingml/2006/table">
            <a:tbl>
              <a:tblPr>
                <a:noFill/>
                <a:tableStyleId>{68121FF4-FE36-4DB9-925D-0D478138454B}</a:tableStyleId>
              </a:tblPr>
              <a:tblGrid>
                <a:gridCol w="1934425"/>
                <a:gridCol w="4575175"/>
              </a:tblGrid>
              <a:tr h="381000">
                <a:tc>
                  <a:txBody>
                    <a:bodyPr/>
                    <a:lstStyle/>
                    <a:p>
                      <a:pPr indent="0" lvl="0" marL="0" rtl="0" algn="ctr">
                        <a:spcBef>
                          <a:spcPts val="0"/>
                        </a:spcBef>
                        <a:spcAft>
                          <a:spcPts val="0"/>
                        </a:spcAft>
                        <a:buNone/>
                      </a:pPr>
                      <a:r>
                        <a:rPr lang="ja" sz="1500"/>
                        <a:t>リンクの長さと向き</a:t>
                      </a:r>
                      <a:endParaRPr sz="1500"/>
                    </a:p>
                  </a:txBody>
                  <a:tcPr marT="91425" marB="91425" marR="91425" marL="91425"/>
                </a:tc>
                <a:tc>
                  <a:txBody>
                    <a:bodyPr/>
                    <a:lstStyle/>
                    <a:p>
                      <a:pPr indent="0" lvl="0" marL="0" rtl="0" algn="l">
                        <a:spcBef>
                          <a:spcPts val="0"/>
                        </a:spcBef>
                        <a:spcAft>
                          <a:spcPts val="0"/>
                        </a:spcAft>
                        <a:buNone/>
                      </a:pPr>
                      <a:r>
                        <a:rPr lang="ja" sz="1500"/>
                        <a:t>もとの値から±0.5m</a:t>
                      </a:r>
                      <a:endParaRPr sz="1500"/>
                    </a:p>
                  </a:txBody>
                  <a:tcPr marT="91425" marB="91425" marR="91425" marL="91425"/>
                </a:tc>
              </a:tr>
              <a:tr h="381000">
                <a:tc>
                  <a:txBody>
                    <a:bodyPr/>
                    <a:lstStyle/>
                    <a:p>
                      <a:pPr indent="0" lvl="0" marL="0" rtl="0" algn="ctr">
                        <a:spcBef>
                          <a:spcPts val="0"/>
                        </a:spcBef>
                        <a:spcAft>
                          <a:spcPts val="0"/>
                        </a:spcAft>
                        <a:buNone/>
                      </a:pPr>
                      <a:r>
                        <a:rPr lang="ja" sz="1500"/>
                        <a:t>リンクの太さ</a:t>
                      </a:r>
                      <a:endParaRPr sz="1500"/>
                    </a:p>
                  </a:txBody>
                  <a:tcPr marT="91425" marB="91425" marR="91425" marL="91425"/>
                </a:tc>
                <a:tc>
                  <a:txBody>
                    <a:bodyPr/>
                    <a:lstStyle/>
                    <a:p>
                      <a:pPr indent="0" lvl="0" marL="0" rtl="0" algn="l">
                        <a:spcBef>
                          <a:spcPts val="0"/>
                        </a:spcBef>
                        <a:spcAft>
                          <a:spcPts val="0"/>
                        </a:spcAft>
                        <a:buNone/>
                      </a:pPr>
                      <a:r>
                        <a:rPr lang="ja" sz="1500"/>
                        <a:t>半径0.03~0.10m</a:t>
                      </a:r>
                      <a:endParaRPr sz="1500"/>
                    </a:p>
                  </a:txBody>
                  <a:tcPr marT="91425" marB="91425" marR="91425" marL="91425"/>
                </a:tc>
              </a:tr>
              <a:tr h="381000">
                <a:tc>
                  <a:txBody>
                    <a:bodyPr/>
                    <a:lstStyle/>
                    <a:p>
                      <a:pPr indent="0" lvl="0" marL="0" rtl="0" algn="ctr">
                        <a:spcBef>
                          <a:spcPts val="0"/>
                        </a:spcBef>
                        <a:spcAft>
                          <a:spcPts val="0"/>
                        </a:spcAft>
                        <a:buNone/>
                      </a:pPr>
                      <a:r>
                        <a:rPr lang="ja" sz="1500"/>
                        <a:t>関節の力強さ</a:t>
                      </a:r>
                      <a:endParaRPr sz="1500"/>
                    </a:p>
                  </a:txBody>
                  <a:tcPr marT="91425" marB="91425" marR="91425" marL="91425"/>
                </a:tc>
                <a:tc>
                  <a:txBody>
                    <a:bodyPr/>
                    <a:lstStyle/>
                    <a:p>
                      <a:pPr indent="0" lvl="0" marL="0" rtl="0" algn="l">
                        <a:spcBef>
                          <a:spcPts val="0"/>
                        </a:spcBef>
                        <a:spcAft>
                          <a:spcPts val="0"/>
                        </a:spcAft>
                        <a:buNone/>
                      </a:pPr>
                      <a:r>
                        <a:rPr lang="ja" sz="1500"/>
                        <a:t>20~400(</a:t>
                      </a:r>
                      <a:r>
                        <a:rPr lang="ja" sz="1500"/>
                        <a:t>初期値100</a:t>
                      </a:r>
                      <a:r>
                        <a:rPr lang="ja" sz="1500"/>
                        <a:t>)</a:t>
                      </a:r>
                      <a:endParaRPr sz="1500"/>
                    </a:p>
                  </a:txBody>
                  <a:tcPr marT="91425" marB="91425" marR="91425" marL="91425"/>
                </a:tc>
              </a:tr>
              <a:tr h="381000">
                <a:tc>
                  <a:txBody>
                    <a:bodyPr/>
                    <a:lstStyle/>
                    <a:p>
                      <a:pPr indent="0" lvl="0" marL="0" rtl="0" algn="ctr">
                        <a:spcBef>
                          <a:spcPts val="0"/>
                        </a:spcBef>
                        <a:spcAft>
                          <a:spcPts val="0"/>
                        </a:spcAft>
                        <a:buNone/>
                      </a:pPr>
                      <a:r>
                        <a:rPr lang="ja" sz="1500"/>
                        <a:t>関節の数と繋がり</a:t>
                      </a:r>
                      <a:endParaRPr sz="1500"/>
                    </a:p>
                  </a:txBody>
                  <a:tcPr marT="91425" marB="91425" marR="91425" marL="91425"/>
                </a:tc>
                <a:tc>
                  <a:txBody>
                    <a:bodyPr/>
                    <a:lstStyle/>
                    <a:p>
                      <a:pPr indent="0" lvl="0" marL="0" rtl="0" algn="l">
                        <a:spcBef>
                          <a:spcPts val="0"/>
                        </a:spcBef>
                        <a:spcAft>
                          <a:spcPts val="0"/>
                        </a:spcAft>
                        <a:buNone/>
                      </a:pPr>
                      <a:r>
                        <a:rPr lang="ja" sz="1500">
                          <a:solidFill>
                            <a:srgbClr val="FF0000"/>
                          </a:solidFill>
                        </a:rPr>
                        <a:t>固定</a:t>
                      </a:r>
                      <a:r>
                        <a:rPr lang="ja" sz="1500"/>
                        <a:t>(本研究ではユーザの入力した構造を評価する)</a:t>
                      </a:r>
                      <a:endParaRPr sz="15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④フィードバックを返す</a:t>
            </a:r>
            <a:endParaRPr sz="3000"/>
          </a:p>
        </p:txBody>
      </p:sp>
      <p:sp>
        <p:nvSpPr>
          <p:cNvPr id="297" name="Google Shape;297;p3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98" name="Google Shape;298;p38"/>
          <p:cNvSpPr txBox="1"/>
          <p:nvPr/>
        </p:nvSpPr>
        <p:spPr>
          <a:xfrm>
            <a:off x="0" y="748025"/>
            <a:ext cx="71727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a:t>
            </a:r>
            <a:r>
              <a:rPr lang="ja" sz="1800"/>
              <a:t>学習結果から数値を測り,閾値と比べて指摘を返す</a:t>
            </a:r>
            <a:endParaRPr sz="1800"/>
          </a:p>
        </p:txBody>
      </p:sp>
      <p:sp>
        <p:nvSpPr>
          <p:cNvPr id="299" name="Google Shape;299;p38"/>
          <p:cNvSpPr txBox="1"/>
          <p:nvPr/>
        </p:nvSpPr>
        <p:spPr>
          <a:xfrm>
            <a:off x="56250" y="1437425"/>
            <a:ext cx="6986100" cy="3410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収束した形から</a:t>
            </a:r>
            <a:endParaRPr b="1" sz="1800"/>
          </a:p>
          <a:p>
            <a:pPr indent="0" lvl="0" marL="0" rtl="0" algn="l">
              <a:spcBef>
                <a:spcPts val="0"/>
              </a:spcBef>
              <a:spcAft>
                <a:spcPts val="0"/>
              </a:spcAft>
              <a:buNone/>
            </a:pPr>
            <a:r>
              <a:rPr lang="ja" sz="1800"/>
              <a:t>　</a:t>
            </a:r>
            <a:r>
              <a:rPr lang="ja" sz="1800"/>
              <a:t>「関節の力が上限に張り付いている＝出力が足りていない」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a:t>
            </a:r>
            <a:r>
              <a:rPr b="1" lang="ja" sz="1800"/>
              <a:t>動かし方から</a:t>
            </a:r>
            <a:br>
              <a:rPr lang="ja" sz="1800"/>
            </a:br>
            <a:r>
              <a:rPr lang="ja" sz="1800"/>
              <a:t>　「この関節は可動域の7%しか使っていない。固定してよい」</a:t>
            </a:r>
            <a:endParaRPr sz="1800"/>
          </a:p>
          <a:p>
            <a:pPr indent="0" lvl="0" marL="0" rtl="0" algn="l">
              <a:spcBef>
                <a:spcPts val="0"/>
              </a:spcBef>
              <a:spcAft>
                <a:spcPts val="0"/>
              </a:spcAft>
              <a:buNone/>
            </a:pPr>
            <a:r>
              <a:rPr lang="ja" sz="1800"/>
              <a:t>　「一撃で吹き飛ばしてい</a:t>
            </a:r>
            <a:r>
              <a:rPr lang="ja" sz="1800"/>
              <a:t>ます</a:t>
            </a:r>
            <a:r>
              <a:rPr lang="ja" sz="1800"/>
              <a:t>。</a:t>
            </a:r>
            <a:br>
              <a:rPr lang="ja" sz="1800"/>
            </a:br>
            <a:r>
              <a:rPr lang="ja" sz="1800"/>
              <a:t>　　狙った位置に止めたいならタスクを変えてください」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1800"/>
          </a:p>
        </p:txBody>
      </p:sp>
      <p:sp>
        <p:nvSpPr>
          <p:cNvPr id="300" name="Google Shape;300;p38"/>
          <p:cNvSpPr txBox="1"/>
          <p:nvPr/>
        </p:nvSpPr>
        <p:spPr>
          <a:xfrm>
            <a:off x="56248" y="1046100"/>
            <a:ext cx="409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二層からなるフィードバック</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ゴール</a:t>
            </a:r>
            <a:endParaRPr b="0" i="0" sz="3000" u="none" cap="none" strike="noStrike">
              <a:solidFill>
                <a:srgbClr val="000000"/>
              </a:solidFill>
              <a:latin typeface="Arial"/>
              <a:ea typeface="Arial"/>
              <a:cs typeface="Arial"/>
              <a:sym typeface="Arial"/>
            </a:endParaRPr>
          </a:p>
        </p:txBody>
      </p:sp>
      <p:sp>
        <p:nvSpPr>
          <p:cNvPr id="306" name="Google Shape;306;p3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307" name="Google Shape;307;p39"/>
          <p:cNvSpPr txBox="1"/>
          <p:nvPr/>
        </p:nvSpPr>
        <p:spPr>
          <a:xfrm>
            <a:off x="1660525" y="1270950"/>
            <a:ext cx="4887300" cy="1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修論で何をコンクルージョンとして書くために残りの期間でどんなことをするか</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補助資料</a:t>
            </a:r>
            <a:endParaRPr b="0" i="0" sz="3000" u="none" cap="none" strike="noStrike">
              <a:solidFill>
                <a:srgbClr val="000000"/>
              </a:solidFill>
              <a:latin typeface="Arial"/>
              <a:ea typeface="Arial"/>
              <a:cs typeface="Arial"/>
              <a:sym typeface="Arial"/>
            </a:endParaRPr>
          </a:p>
        </p:txBody>
      </p:sp>
      <p:sp>
        <p:nvSpPr>
          <p:cNvPr id="313" name="Google Shape;313;p4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314" name="Google Shape;314;p40"/>
          <p:cNvSpPr txBox="1"/>
          <p:nvPr/>
        </p:nvSpPr>
        <p:spPr>
          <a:xfrm>
            <a:off x="1660525" y="1270950"/>
            <a:ext cx="4887300" cy="1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これからスライドを作っていく上で説明が足りないと思ったところを色々用意する</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